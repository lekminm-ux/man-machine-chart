
<file path=[Content_Types].xml><?xml version="1.0" encoding="utf-8"?>
<Types xmlns="http://schemas.openxmlformats.org/package/2006/content-types">
  <Override PartName="/ppt/theme/theme5.xml" ContentType="application/vnd.openxmlformats-officedocument.theme+xml"/>
  <Override PartName="/ppt/slideLayouts/slideLayout307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s/slide2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55.xml" ContentType="application/vnd.openxmlformats-officedocument.presentationml.slideLayout+xml"/>
  <Default Extension="xml" ContentType="application/xml"/>
  <Override PartName="/ppt/slideLayouts/slideLayout24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310.xml" ContentType="application/vnd.openxmlformats-officedocument.presentationml.slideLayout+xml"/>
  <Override PartName="/ppt/theme/theme29.xml" ContentType="application/vnd.openxmlformats-officedocument.theme+xml"/>
  <Override PartName="/ppt/slideMasters/slideMaster33.xml" ContentType="application/vnd.openxmlformats-officedocument.presentationml.slideMaster+xml"/>
  <Override PartName="/ppt/slideLayouts/slideLayout10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225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95.xml" ContentType="application/vnd.openxmlformats-officedocument.presentationml.slideLayout+xml"/>
  <Override PartName="/ppt/theme/theme32.xml" ContentType="application/vnd.openxmlformats-officedocument.theme+xml"/>
  <Override PartName="/ppt/slideLayouts/slideLayout87.xml" ContentType="application/vnd.openxmlformats-officedocument.presentationml.slideLayout+xml"/>
  <Override PartName="/ppt/theme/theme10.xml" ContentType="application/vnd.openxmlformats-officedocument.theme+xml"/>
  <Override PartName="/ppt/slideLayouts/slideLayout187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118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512.xml" ContentType="application/vnd.openxmlformats-officedocument.presentationml.slideLayout+xml"/>
  <Default Extension="png" ContentType="image/png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Masters/slideMaster27.xml" ContentType="application/vnd.openxmlformats-officedocument.presentationml.slideMaster+xml"/>
  <Override PartName="/ppt/slides/slide44.xml" ContentType="application/vnd.openxmlformats-officedocument.presentationml.slide+xml"/>
  <Override PartName="/ppt/slideLayouts/slideLayout43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74.xml" ContentType="application/vnd.openxmlformats-officedocument.presentationml.slideLayout+xml"/>
  <Default Extension="emf" ContentType="image/x-emf"/>
  <Override PartName="/ppt/slides/slide22.xml" ContentType="application/vnd.openxmlformats-officedocument.presentationml.slide+xml"/>
  <Override PartName="/ppt/slideLayouts/slideLayout219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26.xml" ContentType="application/vnd.openxmlformats-officedocument.theme+xml"/>
  <Override PartName="/ppt/slideLayouts/slideLayout389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Masters/slideMaster30.xml" ContentType="application/vnd.openxmlformats-officedocument.presentationml.slideMaster+xml"/>
  <Override PartName="/ppt/slideLayouts/slideLayout244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59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92.xml" ContentType="application/vnd.openxmlformats-officedocument.presentationml.slideLayout+xml"/>
  <Override PartName="/ppt/notesSlides/notesSlide4.xml" ContentType="application/vnd.openxmlformats-officedocument.presentationml.notesSlide+xml"/>
  <Override PartName="/ppt/slides/slide38.xml" ContentType="application/vnd.openxmlformats-officedocument.presentationml.slide+xml"/>
  <Override PartName="/ppt/slideLayouts/slideLayout137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s/slide41.xml" ContentType="application/vnd.openxmlformats-officedocument.presentationml.slide+xml"/>
  <Override PartName="/ppt/slideLayouts/slideLayout140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Masters/slideMaster24.xml" ContentType="application/vnd.openxmlformats-officedocument.presentationml.slideMaster+xml"/>
  <Override PartName="/ppt/slideLayouts/slideLayout40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63.xml" ContentType="application/vnd.openxmlformats-officedocument.presentationml.slideLayout+xml"/>
  <Override PartName="/ppt/theme/theme23.xml" ContentType="application/vnd.openxmlformats-officedocument.theme+xml"/>
  <Override PartName="/ppt/slideLayouts/slideLayout402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109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5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56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Masters/slideMaster18.xml" ContentType="application/vnd.openxmlformats-officedocument.presentationml.slideMaster+xml"/>
  <Override PartName="/ppt/slides/slide35.xml" ContentType="application/vnd.openxmlformats-officedocument.presentationml.slide+xml"/>
  <Override PartName="/ppt/slideLayouts/slideLayout34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65.xml" ContentType="application/vnd.openxmlformats-officedocument.presentationml.slideLayout+xml"/>
  <Override PartName="/ppt/theme/theme39.xml" ContentType="application/vnd.openxmlformats-officedocument.theme+xml"/>
  <Override PartName="/ppt/slides/slide13.xml" ContentType="application/vnd.openxmlformats-officedocument.presentationml.slide+xml"/>
  <Override PartName="/ppt/slideLayouts/slideLayout112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35.xml" ContentType="application/vnd.openxmlformats-officedocument.presentationml.slideLayout+xml"/>
  <Override PartName="/ppt/theme/theme17.xml" ContentType="application/vnd.openxmlformats-officedocument.theme+xml"/>
  <Override PartName="/ppt/slideLayouts/slideLayout443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Masters/slideMaster21.xml" ContentType="application/vnd.openxmlformats-officedocument.presentationml.slideMaster+xml"/>
  <Override PartName="/ppt/slideLayouts/slideLayout282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519.xml" ContentType="application/vnd.openxmlformats-officedocument.presentationml.slideLayout+xml"/>
  <Override PartName="/ppt/theme/theme9.xml" ContentType="application/vnd.openxmlformats-officedocument.theme+xml"/>
  <Override PartName="/ppt/slideLayouts/slideLayout213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197.xml" ContentType="application/vnd.openxmlformats-officedocument.presentationml.slideLayout+xml"/>
  <Override PartName="/ppt/theme/theme20.xml" ContentType="application/vnd.openxmlformats-officedocument.theme+xml"/>
  <Override PartName="/ppt/slideLayouts/slideLayout336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s/slide29.xml" ContentType="application/vnd.openxmlformats-officedocument.presentationml.slide+xml"/>
  <Override PartName="/ppt/slideLayouts/slideLayout128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Masters/slideMaster37.xml" ContentType="application/vnd.openxmlformats-officedocument.presentationml.slideMaster+xml"/>
  <Override PartName="/ppt/slideLayouts/slideLayout53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s/slide32.xml" ContentType="application/vnd.openxmlformats-officedocument.presentationml.slide+xml"/>
  <Override PartName="/ppt/slideLayouts/slideLayout131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Masters/slideMaster15.xml" ContentType="application/vnd.openxmlformats-officedocument.presentationml.slideMaster+xml"/>
  <Override PartName="/ppt/slides/slide10.xml" ContentType="application/vnd.openxmlformats-officedocument.presentationml.slide+xml"/>
  <Override PartName="/ppt/slideLayouts/slideLayout31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399.xml" ContentType="application/vnd.openxmlformats-officedocument.presentationml.slideLayout+xml"/>
  <Override PartName="/ppt/theme/theme36.xml" ContentType="application/vnd.openxmlformats-officedocument.theme+xml"/>
  <Override PartName="/ppt/slideMasters/slideMaster40.xml" ContentType="application/vnd.openxmlformats-officedocument.presentationml.slideMaster+xml"/>
  <Override PartName="/ppt/theme/theme14.xml" ContentType="application/vnd.openxmlformats-officedocument.theme+xml"/>
  <Override PartName="/ppt/slideLayouts/slideLayout440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16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s/slide26.xml" ContentType="application/vnd.openxmlformats-officedocument.presentationml.slide+xml"/>
  <Override PartName="/ppt/slideLayouts/slideLayout47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Masters/slideMaster34.xml" ContentType="application/vnd.openxmlformats-officedocument.presentationml.slideMaster+xml"/>
  <Override PartName="/ppt/slideLayouts/slideLayout103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349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412.xml" ContentType="application/vnd.openxmlformats-officedocument.presentationml.slideLayout+xml"/>
  <Override PartName="/ppt/theme/theme33.xml" ContentType="application/vnd.openxmlformats-officedocument.theme+xml"/>
  <Override PartName="/ppt/slideLayouts/slideLayout188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11.xml" ContentType="application/vnd.openxmlformats-officedocument.theme+xml"/>
  <Override PartName="/ppt/slideLayouts/slideLayout327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s/slide45.xml" ContentType="application/vnd.openxmlformats-officedocument.presentationml.slide+xml"/>
  <Override PartName="/ppt/theme/theme3.xml" ContentType="application/vnd.openxmlformats-officedocument.theme+xml"/>
  <Override PartName="/ppt/slideLayouts/slideLayout289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Masters/slideMaster28.xml" ContentType="application/vnd.openxmlformats-officedocument.presentationml.slideMaster+xml"/>
  <Override PartName="/ppt/slideLayouts/slideLayout44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s/slide2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92.xml" ContentType="application/vnd.openxmlformats-officedocument.presentationml.slideLayout+xml"/>
  <Override PartName="/ppt/theme/theme27.xml" ContentType="application/vnd.openxmlformats-officedocument.theme+xml"/>
  <Override PartName="/ppt/slideLayouts/slideLayout529.xml" ContentType="application/vnd.openxmlformats-officedocument.presentationml.slideLayout+xml"/>
  <Override PartName="/ppt/slideMasters/slideMaster31.xml" ContentType="application/vnd.openxmlformats-officedocument.presentationml.slideMaster+xml"/>
  <Override PartName="/ppt/slideLayouts/slideLayout100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Masters/slideMaster20.xml" ContentType="application/vnd.openxmlformats-officedocument.presentationml.slideMaster+xml"/>
  <Override PartName="/ppt/theme/theme8.xml" ContentType="application/vnd.openxmlformats-officedocument.theme+xml"/>
  <Override PartName="/ppt/slideLayouts/slideLayout223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54.xml" ContentType="application/vnd.openxmlformats-officedocument.presentationml.slideLayout+xml"/>
  <Override PartName="/ppt/theme/theme41.xml" ContentType="application/vnd.openxmlformats-officedocument.theme+xml"/>
  <Override PartName="/ppt/slideLayouts/slideLayout149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93.xml" ContentType="application/vnd.openxmlformats-officedocument.presentationml.slideLayout+xml"/>
  <Override PartName="/ppt/theme/theme30.xml" ContentType="application/vnd.openxmlformats-officedocument.theme+xml"/>
  <Override PartName="/ppt/slideLayouts/slideLayout53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94.xml" ContentType="application/vnd.openxmlformats-officedocument.presentationml.slideLayout+xml"/>
  <Default Extension="jpeg" ContentType="image/jpeg"/>
  <Override PartName="/ppt/slideMasters/slideMaster2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s/slide20.xml" ContentType="application/vnd.openxmlformats-officedocument.presentationml.slide+xml"/>
  <Override PartName="/ppt/slideLayouts/slideLayout3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61.xml" ContentType="application/vnd.openxmlformats-officedocument.presentationml.slideLayout+xml"/>
  <Override PartName="/ppt/theme/theme35.xml" ContentType="application/vnd.openxmlformats-officedocument.theme+xml"/>
  <Override PartName="/ppt/slideLayouts/slideLayout548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53.xml" ContentType="application/vnd.openxmlformats-officedocument.presentationml.slideLayout+xml"/>
  <Override PartName="/ppt/theme/theme24.xml" ContentType="application/vnd.openxmlformats-officedocument.theme+xml"/>
  <Override PartName="/ppt/slideLayouts/slideLayout38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179.xml" ContentType="application/vnd.openxmlformats-officedocument.presentationml.slideLayout+xml"/>
  <Override PartName="/ppt/theme/theme13.xml" ContentType="application/vnd.openxmlformats-officedocument.theme+xml"/>
  <Override PartName="/ppt/slideLayouts/slideLayout23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57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48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36.xml" ContentType="application/vnd.openxmlformats-officedocument.presentationml.slide+xml"/>
  <Override PartName="/ppt/slideLayouts/slideLayout135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Masters/slideMaster19.xml" ContentType="application/vnd.openxmlformats-officedocument.presentationml.slideMaster+xml"/>
  <Override PartName="/ppt/slideLayouts/slideLayout35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60.xml" ContentType="application/vnd.openxmlformats-officedocument.presentationml.slideLayout+xml"/>
  <Override PartName="/ppt/theme/theme18.xml" ContentType="application/vnd.openxmlformats-officedocument.theme+xml"/>
  <Override PartName="/ppt/slideLayouts/slideLayout444.xml" ContentType="application/vnd.openxmlformats-officedocument.presentationml.slideLayout+xml"/>
  <Override PartName="/ppt/slideLayouts/slideLayout491.xml" ContentType="application/vnd.openxmlformats-officedocument.presentationml.slideLayout+xml"/>
  <Override PartName="/ppt/tableStyles.xml" ContentType="application/vnd.openxmlformats-officedocument.presentationml.tableStyles+xml"/>
  <Override PartName="/ppt/slideLayouts/slideLayout236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Masters/slideMaster22.xml" ContentType="application/vnd.openxmlformats-officedocument.presentationml.slideMaster+xml"/>
  <Override PartName="/ppt/slideLayouts/slideLayout359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61.xml" ContentType="application/vnd.openxmlformats-officedocument.presentationml.slideLayout+xml"/>
  <Override PartName="/ppt/theme/theme21.xml" ContentType="application/vnd.openxmlformats-officedocument.theme+xml"/>
  <Override PartName="/ppt/slideLayouts/slideLayout400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Masters/slideMaster38.xml" ContentType="application/vnd.openxmlformats-officedocument.presentationml.slideMaster+xml"/>
  <Override PartName="/ppt/slides/slide33.xml" ContentType="application/vnd.openxmlformats-officedocument.presentationml.slide+xml"/>
  <Override PartName="/ppt/slideLayouts/slideLayout54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340.xml" ContentType="application/vnd.openxmlformats-officedocument.presentationml.slideLayout+xml"/>
  <Override PartName="/ppt/presentation.xml" ContentType="application/vnd.openxmlformats-officedocument.presentationml.presentation.main+xml"/>
  <Override PartName="/ppt/slideMasters/slideMaster16.xml" ContentType="application/vnd.openxmlformats-officedocument.presentationml.slideMaster+xml"/>
  <Override PartName="/ppt/slideLayouts/slideLayout32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63.xml" ContentType="application/vnd.openxmlformats-officedocument.presentationml.slideLayout+xml"/>
  <Override PartName="/ppt/theme/theme37.xml" ContentType="application/vnd.openxmlformats-officedocument.them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10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5.xml" ContentType="application/vnd.openxmlformats-officedocument.theme+xml"/>
  <Override PartName="/ppt/slideLayouts/slideLayout233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517.xml" ContentType="application/vnd.openxmlformats-officedocument.presentationml.slideLayout+xml"/>
  <Override PartName="/ppt/theme/theme40.xml" ContentType="application/vnd.openxmlformats-officedocument.theme+xml"/>
  <Override PartName="/ppt/theme/theme7.xml" ContentType="application/vnd.openxmlformats-officedocument.theme+xml"/>
  <Override PartName="/ppt/slideLayouts/slideLayout211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26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Masters/slideMaster35.xml" ContentType="application/vnd.openxmlformats-officedocument.presentationml.slideMaster+xml"/>
  <Override PartName="/ppt/slideLayouts/slideLayout51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s/slide30.xml" ContentType="application/vnd.openxmlformats-officedocument.presentationml.slide+xml"/>
  <Override PartName="/ppt/slideLayouts/slideLayout227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205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397.xml" ContentType="application/vnd.openxmlformats-officedocument.presentationml.slideLayout+xml"/>
  <Override PartName="/ppt/theme/theme34.xml" ContentType="application/vnd.openxmlformats-officedocument.theme+xml"/>
  <Override PartName="/ppt/slideLayouts/slideLayout89.xml" ContentType="application/vnd.openxmlformats-officedocument.presentationml.slideLayout+xml"/>
  <Override PartName="/ppt/theme/theme12.xml" ContentType="application/vnd.openxmlformats-officedocument.theme+xml"/>
  <Override PartName="/ppt/slideLayouts/slideLayout189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514.xml" ContentType="application/vnd.openxmlformats-officedocument.presentationml.slideLayout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Masters/slideMaster29.xml" ContentType="application/vnd.openxmlformats-officedocument.presentationml.slideMaster+xml"/>
  <Override PartName="/ppt/slideLayouts/slideLayout45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s/slide24.xml" ContentType="application/vnd.openxmlformats-officedocument.presentationml.slide+xml"/>
  <Override PartName="/ppt/slideLayouts/slideLayout92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28.xml" ContentType="application/vnd.openxmlformats-officedocument.theme+xml"/>
  <Override PartName="/ppt/slideLayouts/slideLayout407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Masters/slideMaster32.xml" ContentType="application/vnd.openxmlformats-officedocument.presentationml.slideMaster+xml"/>
  <Override PartName="/ppt/slideLayouts/slideLayout101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Layouts/slideLayout347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410.xml" ContentType="application/vnd.openxmlformats-officedocument.presentationml.slideLayout+xml"/>
  <Override PartName="/ppt/theme/theme31.xml" ContentType="application/vnd.openxmlformats-officedocument.theme+xml"/>
  <Override PartName="/ppt/slideLayouts/slideLayout139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17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142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Masters/slideMaster26.xml" ContentType="application/vnd.openxmlformats-officedocument.presentationml.slideMaster+xml"/>
  <Override PartName="/ppt/slideLayouts/slideLayout42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20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90.xml" ContentType="application/vnd.openxmlformats-officedocument.presentationml.slideLayout+xml"/>
  <Override PartName="/ppt/theme/theme25.xml" ContentType="application/vnd.openxmlformats-officedocument.theme+xml"/>
  <Override PartName="/ppt/slideLayouts/slideLayout388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158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notesSlides/notesSlide3.xml" ContentType="application/vnd.openxmlformats-officedocument.presentationml.notes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36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14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19.xml" ContentType="application/vnd.openxmlformats-officedocument.theme+xml"/>
  <Override PartName="/ppt/slideLayouts/slideLayout300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Masters/slideMaster23.xml" ContentType="application/vnd.openxmlformats-officedocument.presentationml.slideMaster+xml"/>
  <Override PartName="/ppt/slides/slide40.xml" ContentType="application/vnd.openxmlformats-officedocument.presentationml.slide+xml"/>
  <Override PartName="/ppt/slideLayouts/slideLayout237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99.xml" ContentType="application/vnd.openxmlformats-officedocument.presentationml.slideLayout+xml"/>
  <Override PartName="/ppt/theme/theme22.xml" ContentType="application/vnd.openxmlformats-officedocument.theme+xml"/>
  <Override PartName="/ppt/slideLayouts/slideLayout338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524.xml" ContentType="application/vnd.openxmlformats-officedocument.presentationml.slideLayout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Layouts/slideLayout5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s/slide34.xml" ContentType="application/vnd.openxmlformats-officedocument.presentationml.slide+xml"/>
  <Override PartName="/ppt/slideLayouts/slideLayout133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64.xml" ContentType="application/vnd.openxmlformats-officedocument.presentationml.slideLayout+xml"/>
  <Default Extension="rels" ContentType="application/vnd.openxmlformats-package.relationships+xml"/>
  <Override PartName="/ppt/slideMasters/slideMaster17.xml" ContentType="application/vnd.openxmlformats-officedocument.presentationml.slideMaster+xml"/>
  <Override PartName="/ppt/slideLayouts/slideLayout33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56.xml" ContentType="application/vnd.openxmlformats-officedocument.presentationml.slideLayout+xml"/>
  <Override PartName="/ppt/theme/theme38.xml" ContentType="application/vnd.openxmlformats-officedocument.theme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11.xml" ContentType="application/vnd.openxmlformats-officedocument.presentationml.slideLayout+xml"/>
  <Override PartName="/ppt/theme/theme16.xml" ContentType="application/vnd.openxmlformats-officedocument.theme+xml"/>
  <Override PartName="/ppt/slideLayouts/slideLayout44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5" r:id="rId3"/>
    <p:sldMasterId id="2147483690" r:id="rId4"/>
    <p:sldMasterId id="2147483705" r:id="rId5"/>
    <p:sldMasterId id="2147483720" r:id="rId6"/>
    <p:sldMasterId id="2147483735" r:id="rId7"/>
    <p:sldMasterId id="2147483750" r:id="rId8"/>
    <p:sldMasterId id="2147483765" r:id="rId9"/>
    <p:sldMasterId id="2147483780" r:id="rId10"/>
    <p:sldMasterId id="2147483795" r:id="rId11"/>
    <p:sldMasterId id="2147483810" r:id="rId12"/>
    <p:sldMasterId id="2147483825" r:id="rId13"/>
    <p:sldMasterId id="2147483840" r:id="rId14"/>
    <p:sldMasterId id="2147483855" r:id="rId15"/>
    <p:sldMasterId id="2147483870" r:id="rId16"/>
    <p:sldMasterId id="2147483885" r:id="rId17"/>
    <p:sldMasterId id="2147483900" r:id="rId18"/>
    <p:sldMasterId id="2147483915" r:id="rId19"/>
    <p:sldMasterId id="2147483930" r:id="rId20"/>
    <p:sldMasterId id="2147483945" r:id="rId21"/>
    <p:sldMasterId id="2147483960" r:id="rId22"/>
    <p:sldMasterId id="2147483975" r:id="rId23"/>
    <p:sldMasterId id="2147483990" r:id="rId24"/>
    <p:sldMasterId id="2147484005" r:id="rId25"/>
    <p:sldMasterId id="2147484020" r:id="rId26"/>
    <p:sldMasterId id="2147484035" r:id="rId27"/>
    <p:sldMasterId id="2147484050" r:id="rId28"/>
    <p:sldMasterId id="2147484065" r:id="rId29"/>
    <p:sldMasterId id="2147484080" r:id="rId30"/>
    <p:sldMasterId id="2147484095" r:id="rId31"/>
    <p:sldMasterId id="2147484110" r:id="rId32"/>
    <p:sldMasterId id="2147484125" r:id="rId33"/>
    <p:sldMasterId id="2147484140" r:id="rId34"/>
    <p:sldMasterId id="2147484155" r:id="rId35"/>
    <p:sldMasterId id="2147484170" r:id="rId36"/>
    <p:sldMasterId id="2147484185" r:id="rId37"/>
    <p:sldMasterId id="2147484200" r:id="rId38"/>
    <p:sldMasterId id="2147484215" r:id="rId39"/>
    <p:sldMasterId id="2147484230" r:id="rId40"/>
  </p:sldMasterIdLst>
  <p:notesMasterIdLst>
    <p:notesMasterId r:id="rId86"/>
  </p:notesMasterIdLst>
  <p:sldIdLst>
    <p:sldId id="256" r:id="rId41"/>
    <p:sldId id="257" r:id="rId42"/>
    <p:sldId id="258" r:id="rId43"/>
    <p:sldId id="259" r:id="rId44"/>
    <p:sldId id="260" r:id="rId45"/>
    <p:sldId id="261" r:id="rId46"/>
    <p:sldId id="262" r:id="rId47"/>
    <p:sldId id="263" r:id="rId48"/>
    <p:sldId id="298" r:id="rId49"/>
    <p:sldId id="264" r:id="rId50"/>
    <p:sldId id="265" r:id="rId51"/>
    <p:sldId id="266" r:id="rId52"/>
    <p:sldId id="274" r:id="rId53"/>
    <p:sldId id="275" r:id="rId54"/>
    <p:sldId id="267" r:id="rId55"/>
    <p:sldId id="299" r:id="rId56"/>
    <p:sldId id="268" r:id="rId57"/>
    <p:sldId id="269" r:id="rId58"/>
    <p:sldId id="270" r:id="rId59"/>
    <p:sldId id="271" r:id="rId60"/>
    <p:sldId id="272" r:id="rId61"/>
    <p:sldId id="273" r:id="rId62"/>
    <p:sldId id="276" r:id="rId63"/>
    <p:sldId id="277" r:id="rId64"/>
    <p:sldId id="278" r:id="rId65"/>
    <p:sldId id="279" r:id="rId66"/>
    <p:sldId id="280" r:id="rId67"/>
    <p:sldId id="281" r:id="rId68"/>
    <p:sldId id="282" r:id="rId69"/>
    <p:sldId id="283" r:id="rId70"/>
    <p:sldId id="300" r:id="rId71"/>
    <p:sldId id="284" r:id="rId72"/>
    <p:sldId id="285" r:id="rId73"/>
    <p:sldId id="286" r:id="rId74"/>
    <p:sldId id="287" r:id="rId75"/>
    <p:sldId id="288" r:id="rId76"/>
    <p:sldId id="301" r:id="rId77"/>
    <p:sldId id="289" r:id="rId78"/>
    <p:sldId id="290" r:id="rId79"/>
    <p:sldId id="292" r:id="rId80"/>
    <p:sldId id="291" r:id="rId81"/>
    <p:sldId id="293" r:id="rId82"/>
    <p:sldId id="294" r:id="rId83"/>
    <p:sldId id="295" r:id="rId84"/>
    <p:sldId id="296" r:id="rId85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546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slideMaster" Target="slideMasters/slideMaster26.xml"/><Relationship Id="rId39" Type="http://schemas.openxmlformats.org/officeDocument/2006/relationships/slideMaster" Target="slideMasters/slideMaster39.xml"/><Relationship Id="rId21" Type="http://schemas.openxmlformats.org/officeDocument/2006/relationships/slideMaster" Target="slideMasters/slideMaster21.xml"/><Relationship Id="rId34" Type="http://schemas.openxmlformats.org/officeDocument/2006/relationships/slideMaster" Target="slideMasters/slideMaster34.xml"/><Relationship Id="rId42" Type="http://schemas.openxmlformats.org/officeDocument/2006/relationships/slide" Target="slides/slide2.xml"/><Relationship Id="rId47" Type="http://schemas.openxmlformats.org/officeDocument/2006/relationships/slide" Target="slides/slide7.xml"/><Relationship Id="rId50" Type="http://schemas.openxmlformats.org/officeDocument/2006/relationships/slide" Target="slides/slide10.xml"/><Relationship Id="rId55" Type="http://schemas.openxmlformats.org/officeDocument/2006/relationships/slide" Target="slides/slide15.xml"/><Relationship Id="rId63" Type="http://schemas.openxmlformats.org/officeDocument/2006/relationships/slide" Target="slides/slide23.xml"/><Relationship Id="rId68" Type="http://schemas.openxmlformats.org/officeDocument/2006/relationships/slide" Target="slides/slide28.xml"/><Relationship Id="rId76" Type="http://schemas.openxmlformats.org/officeDocument/2006/relationships/slide" Target="slides/slide36.xml"/><Relationship Id="rId84" Type="http://schemas.openxmlformats.org/officeDocument/2006/relationships/slide" Target="slides/slide44.xml"/><Relationship Id="rId89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3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Master" Target="slideMasters/slideMaster29.xml"/><Relationship Id="rId11" Type="http://schemas.openxmlformats.org/officeDocument/2006/relationships/slideMaster" Target="slideMasters/slideMaster11.xml"/><Relationship Id="rId24" Type="http://schemas.openxmlformats.org/officeDocument/2006/relationships/slideMaster" Target="slideMasters/slideMaster24.xml"/><Relationship Id="rId32" Type="http://schemas.openxmlformats.org/officeDocument/2006/relationships/slideMaster" Target="slideMasters/slideMaster32.xml"/><Relationship Id="rId37" Type="http://schemas.openxmlformats.org/officeDocument/2006/relationships/slideMaster" Target="slideMasters/slideMaster37.xml"/><Relationship Id="rId40" Type="http://schemas.openxmlformats.org/officeDocument/2006/relationships/slideMaster" Target="slideMasters/slideMaster40.xml"/><Relationship Id="rId45" Type="http://schemas.openxmlformats.org/officeDocument/2006/relationships/slide" Target="slides/slide5.xml"/><Relationship Id="rId53" Type="http://schemas.openxmlformats.org/officeDocument/2006/relationships/slide" Target="slides/slide13.xml"/><Relationship Id="rId58" Type="http://schemas.openxmlformats.org/officeDocument/2006/relationships/slide" Target="slides/slide18.xml"/><Relationship Id="rId66" Type="http://schemas.openxmlformats.org/officeDocument/2006/relationships/slide" Target="slides/slide26.xml"/><Relationship Id="rId74" Type="http://schemas.openxmlformats.org/officeDocument/2006/relationships/slide" Target="slides/slide34.xml"/><Relationship Id="rId79" Type="http://schemas.openxmlformats.org/officeDocument/2006/relationships/slide" Target="slides/slide39.xml"/><Relationship Id="rId87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21.xml"/><Relationship Id="rId82" Type="http://schemas.openxmlformats.org/officeDocument/2006/relationships/slide" Target="slides/slide42.xml"/><Relationship Id="rId90" Type="http://schemas.openxmlformats.org/officeDocument/2006/relationships/tableStyles" Target="tableStyles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Master" Target="slideMasters/slideMaster35.xml"/><Relationship Id="rId43" Type="http://schemas.openxmlformats.org/officeDocument/2006/relationships/slide" Target="slides/slide3.xml"/><Relationship Id="rId48" Type="http://schemas.openxmlformats.org/officeDocument/2006/relationships/slide" Target="slides/slide8.xml"/><Relationship Id="rId56" Type="http://schemas.openxmlformats.org/officeDocument/2006/relationships/slide" Target="slides/slide16.xml"/><Relationship Id="rId64" Type="http://schemas.openxmlformats.org/officeDocument/2006/relationships/slide" Target="slides/slide24.xml"/><Relationship Id="rId69" Type="http://schemas.openxmlformats.org/officeDocument/2006/relationships/slide" Target="slides/slide29.xml"/><Relationship Id="rId77" Type="http://schemas.openxmlformats.org/officeDocument/2006/relationships/slide" Target="slides/slide37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11.xml"/><Relationship Id="rId72" Type="http://schemas.openxmlformats.org/officeDocument/2006/relationships/slide" Target="slides/slide32.xml"/><Relationship Id="rId80" Type="http://schemas.openxmlformats.org/officeDocument/2006/relationships/slide" Target="slides/slide40.xml"/><Relationship Id="rId85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Master" Target="slideMasters/slideMaster33.xml"/><Relationship Id="rId38" Type="http://schemas.openxmlformats.org/officeDocument/2006/relationships/slideMaster" Target="slideMasters/slideMaster38.xml"/><Relationship Id="rId46" Type="http://schemas.openxmlformats.org/officeDocument/2006/relationships/slide" Target="slides/slide6.xml"/><Relationship Id="rId59" Type="http://schemas.openxmlformats.org/officeDocument/2006/relationships/slide" Target="slides/slide19.xml"/><Relationship Id="rId67" Type="http://schemas.openxmlformats.org/officeDocument/2006/relationships/slide" Target="slides/slide27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1.xml"/><Relationship Id="rId54" Type="http://schemas.openxmlformats.org/officeDocument/2006/relationships/slide" Target="slides/slide14.xml"/><Relationship Id="rId62" Type="http://schemas.openxmlformats.org/officeDocument/2006/relationships/slide" Target="slides/slide22.xml"/><Relationship Id="rId70" Type="http://schemas.openxmlformats.org/officeDocument/2006/relationships/slide" Target="slides/slide30.xml"/><Relationship Id="rId75" Type="http://schemas.openxmlformats.org/officeDocument/2006/relationships/slide" Target="slides/slide35.xml"/><Relationship Id="rId83" Type="http://schemas.openxmlformats.org/officeDocument/2006/relationships/slide" Target="slides/slide43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Master" Target="slideMasters/slideMaster36.xml"/><Relationship Id="rId49" Type="http://schemas.openxmlformats.org/officeDocument/2006/relationships/slide" Target="slides/slide9.xml"/><Relationship Id="rId57" Type="http://schemas.openxmlformats.org/officeDocument/2006/relationships/slide" Target="slides/slide17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4.xml"/><Relationship Id="rId52" Type="http://schemas.openxmlformats.org/officeDocument/2006/relationships/slide" Target="slides/slide12.xml"/><Relationship Id="rId60" Type="http://schemas.openxmlformats.org/officeDocument/2006/relationships/slide" Target="slides/slide20.xml"/><Relationship Id="rId65" Type="http://schemas.openxmlformats.org/officeDocument/2006/relationships/slide" Target="slides/slide25.xml"/><Relationship Id="rId73" Type="http://schemas.openxmlformats.org/officeDocument/2006/relationships/slide" Target="slides/slide33.xml"/><Relationship Id="rId78" Type="http://schemas.openxmlformats.org/officeDocument/2006/relationships/slide" Target="slides/slide38.xml"/><Relationship Id="rId81" Type="http://schemas.openxmlformats.org/officeDocument/2006/relationships/slide" Target="slides/slide41.xml"/><Relationship Id="rId86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6BA10D-970D-499A-A6B9-1A182F485F52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ADC223-4D5A-4B41-9620-9ED6AE833915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821F1F-F6B7-42BD-A107-C3C471AA6913}" type="slidenum">
              <a:rPr lang="en-US">
                <a:solidFill>
                  <a:prstClr val="black"/>
                </a:solidFill>
              </a:rPr>
              <a:pPr/>
              <a:t>4</a:t>
            </a:fld>
            <a:endParaRPr lang="th-TH">
              <a:solidFill>
                <a:prstClr val="black"/>
              </a:solidFill>
            </a:endParaRPr>
          </a:p>
        </p:txBody>
      </p:sp>
      <p:sp>
        <p:nvSpPr>
          <p:cNvPr id="2020354" name="Rectangle 7"/>
          <p:cNvSpPr txBox="1">
            <a:spLocks noGrp="1" noChangeArrowheads="1"/>
          </p:cNvSpPr>
          <p:nvPr/>
        </p:nvSpPr>
        <p:spPr bwMode="auto">
          <a:xfrm>
            <a:off x="3885453" y="8686727"/>
            <a:ext cx="2970946" cy="45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938" tIns="43969" rIns="87938" bIns="43969" anchor="b"/>
          <a:lstStyle/>
          <a:p>
            <a:pPr algn="r" defTabSz="879475" fontAlgn="base">
              <a:spcBef>
                <a:spcPct val="0"/>
              </a:spcBef>
              <a:spcAft>
                <a:spcPct val="0"/>
              </a:spcAft>
            </a:pPr>
            <a:fld id="{7F9D1997-3F11-430C-8BA5-AA623D1251EB}" type="slidenum">
              <a:rPr lang="en-US" sz="1200">
                <a:solidFill>
                  <a:prstClr val="black"/>
                </a:solidFill>
                <a:latin typeface="Arial" pitchFamily="34" charset="0"/>
                <a:cs typeface="Angsana New" pitchFamily="18" charset="-34"/>
              </a:rPr>
              <a:pPr algn="r" defTabSz="879475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th-TH" sz="1200">
              <a:solidFill>
                <a:prstClr val="black"/>
              </a:solidFill>
              <a:latin typeface="Arial" pitchFamily="34" charset="0"/>
              <a:cs typeface="Angsana New" pitchFamily="18" charset="-34"/>
            </a:endParaRPr>
          </a:p>
        </p:txBody>
      </p:sp>
      <p:sp>
        <p:nvSpPr>
          <p:cNvPr id="202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27275" y="827088"/>
            <a:ext cx="3749675" cy="2811462"/>
          </a:xfrm>
          <a:ln/>
        </p:spPr>
      </p:sp>
      <p:sp>
        <p:nvSpPr>
          <p:cNvPr id="20203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80" y="4344834"/>
            <a:ext cx="5487041" cy="4113991"/>
          </a:xfrm>
        </p:spPr>
        <p:txBody>
          <a:bodyPr lIns="88105" tIns="44053" rIns="88105" bIns="4405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FDEBD36-B676-45A5-A9AE-F7BA22E4BF6B}" type="slidenum">
              <a:rPr lang="en-US">
                <a:solidFill>
                  <a:prstClr val="black"/>
                </a:solidFill>
              </a:rPr>
              <a:pPr/>
              <a:t>6</a:t>
            </a:fld>
            <a:endParaRPr lang="th-TH">
              <a:solidFill>
                <a:prstClr val="black"/>
              </a:solidFill>
            </a:endParaRPr>
          </a:p>
        </p:txBody>
      </p:sp>
      <p:sp>
        <p:nvSpPr>
          <p:cNvPr id="2023426" name="Rectangle 7"/>
          <p:cNvSpPr txBox="1">
            <a:spLocks noGrp="1" noChangeArrowheads="1"/>
          </p:cNvSpPr>
          <p:nvPr/>
        </p:nvSpPr>
        <p:spPr bwMode="auto">
          <a:xfrm>
            <a:off x="3885453" y="8686727"/>
            <a:ext cx="2970946" cy="45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938" tIns="43969" rIns="87938" bIns="43969" anchor="b"/>
          <a:lstStyle/>
          <a:p>
            <a:pPr algn="r" defTabSz="879475" fontAlgn="base">
              <a:spcBef>
                <a:spcPct val="0"/>
              </a:spcBef>
              <a:spcAft>
                <a:spcPct val="0"/>
              </a:spcAft>
            </a:pPr>
            <a:fld id="{26B7F698-A4F3-428F-8267-F8AB231CE7D6}" type="slidenum">
              <a:rPr lang="en-US" sz="1200">
                <a:solidFill>
                  <a:prstClr val="black"/>
                </a:solidFill>
                <a:latin typeface="Arial" pitchFamily="34" charset="0"/>
                <a:cs typeface="Angsana New" pitchFamily="18" charset="-34"/>
              </a:rPr>
              <a:pPr algn="r" defTabSz="879475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th-TH" sz="1200">
              <a:solidFill>
                <a:prstClr val="black"/>
              </a:solidFill>
              <a:latin typeface="Arial" pitchFamily="34" charset="0"/>
              <a:cs typeface="Angsana New" pitchFamily="18" charset="-34"/>
            </a:endParaRPr>
          </a:p>
        </p:txBody>
      </p:sp>
      <p:sp>
        <p:nvSpPr>
          <p:cNvPr id="202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27275" y="827088"/>
            <a:ext cx="3749675" cy="2811462"/>
          </a:xfrm>
          <a:ln/>
        </p:spPr>
      </p:sp>
      <p:sp>
        <p:nvSpPr>
          <p:cNvPr id="2023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80" y="4344834"/>
            <a:ext cx="5487041" cy="4113991"/>
          </a:xfrm>
        </p:spPr>
        <p:txBody>
          <a:bodyPr lIns="88105" tIns="44053" rIns="88105" bIns="4405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C82D09-E0D0-4C5E-896B-46698B056CD8}" type="slidenum">
              <a:rPr lang="en-US">
                <a:solidFill>
                  <a:prstClr val="black"/>
                </a:solidFill>
              </a:rPr>
              <a:pPr/>
              <a:t>8</a:t>
            </a:fld>
            <a:endParaRPr lang="th-TH">
              <a:solidFill>
                <a:prstClr val="black"/>
              </a:solidFill>
            </a:endParaRPr>
          </a:p>
        </p:txBody>
      </p:sp>
      <p:sp>
        <p:nvSpPr>
          <p:cNvPr id="2026498" name="Rectangle 7"/>
          <p:cNvSpPr txBox="1">
            <a:spLocks noGrp="1" noChangeArrowheads="1"/>
          </p:cNvSpPr>
          <p:nvPr/>
        </p:nvSpPr>
        <p:spPr bwMode="auto">
          <a:xfrm>
            <a:off x="3885453" y="8686727"/>
            <a:ext cx="2970946" cy="45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938" tIns="43969" rIns="87938" bIns="43969" anchor="b"/>
          <a:lstStyle/>
          <a:p>
            <a:pPr algn="r" defTabSz="879475" fontAlgn="base">
              <a:spcBef>
                <a:spcPct val="0"/>
              </a:spcBef>
              <a:spcAft>
                <a:spcPct val="0"/>
              </a:spcAft>
            </a:pPr>
            <a:fld id="{EB2D4C84-82BA-4F01-81CD-951FBCF087B3}" type="slidenum">
              <a:rPr lang="en-US" sz="1200">
                <a:solidFill>
                  <a:prstClr val="black"/>
                </a:solidFill>
                <a:latin typeface="Arial" pitchFamily="34" charset="0"/>
                <a:cs typeface="Angsana New" pitchFamily="18" charset="-34"/>
              </a:rPr>
              <a:pPr algn="r" defTabSz="879475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th-TH" sz="1200">
              <a:solidFill>
                <a:prstClr val="black"/>
              </a:solidFill>
              <a:latin typeface="Arial" pitchFamily="34" charset="0"/>
              <a:cs typeface="Angsana New" pitchFamily="18" charset="-34"/>
            </a:endParaRPr>
          </a:p>
        </p:txBody>
      </p:sp>
      <p:sp>
        <p:nvSpPr>
          <p:cNvPr id="202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27275" y="827088"/>
            <a:ext cx="3749675" cy="2811462"/>
          </a:xfrm>
          <a:ln/>
        </p:spPr>
      </p:sp>
      <p:sp>
        <p:nvSpPr>
          <p:cNvPr id="20265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80" y="4344834"/>
            <a:ext cx="5487041" cy="4113991"/>
          </a:xfrm>
        </p:spPr>
        <p:txBody>
          <a:bodyPr lIns="88105" tIns="44053" rIns="88105" bIns="4405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667DBF-D2B4-40A2-BA3C-34D881958FAF}" type="slidenum">
              <a:rPr lang="en-US">
                <a:solidFill>
                  <a:prstClr val="black"/>
                </a:solidFill>
              </a:rPr>
              <a:pPr/>
              <a:t>22</a:t>
            </a:fld>
            <a:endParaRPr lang="th-TH">
              <a:solidFill>
                <a:prstClr val="black"/>
              </a:solidFill>
            </a:endParaRPr>
          </a:p>
        </p:txBody>
      </p:sp>
      <p:sp>
        <p:nvSpPr>
          <p:cNvPr id="2039810" name="Rectangle 7"/>
          <p:cNvSpPr txBox="1">
            <a:spLocks noGrp="1" noChangeArrowheads="1"/>
          </p:cNvSpPr>
          <p:nvPr/>
        </p:nvSpPr>
        <p:spPr bwMode="auto">
          <a:xfrm>
            <a:off x="3885453" y="8686727"/>
            <a:ext cx="2970946" cy="4558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7938" tIns="43969" rIns="87938" bIns="43969" anchor="b"/>
          <a:lstStyle/>
          <a:p>
            <a:pPr algn="r" defTabSz="879475" fontAlgn="base">
              <a:spcBef>
                <a:spcPct val="0"/>
              </a:spcBef>
              <a:spcAft>
                <a:spcPct val="0"/>
              </a:spcAft>
            </a:pPr>
            <a:fld id="{8B6D4ED3-F1C3-4596-805E-67CD885D88AD}" type="slidenum">
              <a:rPr lang="en-US" sz="1200">
                <a:solidFill>
                  <a:prstClr val="black"/>
                </a:solidFill>
                <a:latin typeface="Arial" pitchFamily="34" charset="0"/>
                <a:cs typeface="Angsana New" pitchFamily="18" charset="-34"/>
              </a:rPr>
              <a:pPr algn="r" defTabSz="879475" fontAlgn="base">
                <a:spcBef>
                  <a:spcPct val="0"/>
                </a:spcBef>
                <a:spcAft>
                  <a:spcPct val="0"/>
                </a:spcAft>
              </a:pPr>
              <a:t>22</a:t>
            </a:fld>
            <a:endParaRPr lang="th-TH" sz="1200">
              <a:solidFill>
                <a:prstClr val="black"/>
              </a:solidFill>
              <a:latin typeface="Arial" pitchFamily="34" charset="0"/>
              <a:cs typeface="Angsana New" pitchFamily="18" charset="-34"/>
            </a:endParaRPr>
          </a:p>
        </p:txBody>
      </p:sp>
      <p:sp>
        <p:nvSpPr>
          <p:cNvPr id="203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27275" y="827088"/>
            <a:ext cx="3749675" cy="2811462"/>
          </a:xfrm>
          <a:ln/>
        </p:spPr>
      </p:sp>
      <p:sp>
        <p:nvSpPr>
          <p:cNvPr id="20398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480" y="4344834"/>
            <a:ext cx="5487041" cy="4113991"/>
          </a:xfrm>
        </p:spPr>
        <p:txBody>
          <a:bodyPr lIns="88105" tIns="44053" rIns="88105" bIns="44053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th-TH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theme" Target="../theme/theme5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5" Type="http://schemas.openxmlformats.org/officeDocument/2006/relationships/slideLayout" Target="../slideLayouts/slideLayout72.xml"/><Relationship Id="rId15" Type="http://schemas.openxmlformats.org/officeDocument/2006/relationships/theme" Target="../theme/theme6.xml"/><Relationship Id="rId10" Type="http://schemas.openxmlformats.org/officeDocument/2006/relationships/slideLayout" Target="../slideLayouts/slideLayout77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13" Type="http://schemas.openxmlformats.org/officeDocument/2006/relationships/slideLayout" Target="../slideLayouts/slideLayout94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93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5" Type="http://schemas.openxmlformats.org/officeDocument/2006/relationships/theme" Target="../theme/theme7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Relationship Id="rId14" Type="http://schemas.openxmlformats.org/officeDocument/2006/relationships/slideLayout" Target="../slideLayouts/slideLayout95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3.xml"/><Relationship Id="rId13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98.xml"/><Relationship Id="rId7" Type="http://schemas.openxmlformats.org/officeDocument/2006/relationships/slideLayout" Target="../slideLayouts/slideLayout102.xml"/><Relationship Id="rId12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Relationship Id="rId6" Type="http://schemas.openxmlformats.org/officeDocument/2006/relationships/slideLayout" Target="../slideLayouts/slideLayout101.xml"/><Relationship Id="rId11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0.xml"/><Relationship Id="rId15" Type="http://schemas.openxmlformats.org/officeDocument/2006/relationships/theme" Target="../theme/theme8.xml"/><Relationship Id="rId10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99.xml"/><Relationship Id="rId9" Type="http://schemas.openxmlformats.org/officeDocument/2006/relationships/slideLayout" Target="../slideLayouts/slideLayout104.xml"/><Relationship Id="rId14" Type="http://schemas.openxmlformats.org/officeDocument/2006/relationships/slideLayout" Target="../slideLayouts/slideLayout109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7.xml"/><Relationship Id="rId13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12.xml"/><Relationship Id="rId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5.xml"/><Relationship Id="rId11" Type="http://schemas.openxmlformats.org/officeDocument/2006/relationships/slideLayout" Target="../slideLayouts/slideLayout120.xml"/><Relationship Id="rId5" Type="http://schemas.openxmlformats.org/officeDocument/2006/relationships/slideLayout" Target="../slideLayouts/slideLayout114.xml"/><Relationship Id="rId15" Type="http://schemas.openxmlformats.org/officeDocument/2006/relationships/theme" Target="../theme/theme9.xml"/><Relationship Id="rId10" Type="http://schemas.openxmlformats.org/officeDocument/2006/relationships/slideLayout" Target="../slideLayouts/slideLayout119.xml"/><Relationship Id="rId4" Type="http://schemas.openxmlformats.org/officeDocument/2006/relationships/slideLayout" Target="../slideLayouts/slideLayout113.xml"/><Relationship Id="rId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123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26.xml"/><Relationship Id="rId7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5" Type="http://schemas.openxmlformats.org/officeDocument/2006/relationships/slideLayout" Target="../slideLayouts/slideLayout128.xml"/><Relationship Id="rId15" Type="http://schemas.openxmlformats.org/officeDocument/2006/relationships/theme" Target="../theme/theme10.xml"/><Relationship Id="rId10" Type="http://schemas.openxmlformats.org/officeDocument/2006/relationships/slideLayout" Target="../slideLayouts/slideLayout133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5.xml"/><Relationship Id="rId13" Type="http://schemas.openxmlformats.org/officeDocument/2006/relationships/slideLayout" Target="../slideLayouts/slideLayout150.xml"/><Relationship Id="rId3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44.xml"/><Relationship Id="rId12" Type="http://schemas.openxmlformats.org/officeDocument/2006/relationships/slideLayout" Target="../slideLayouts/slideLayout149.xml"/><Relationship Id="rId2" Type="http://schemas.openxmlformats.org/officeDocument/2006/relationships/slideLayout" Target="../slideLayouts/slideLayout139.xml"/><Relationship Id="rId1" Type="http://schemas.openxmlformats.org/officeDocument/2006/relationships/slideLayout" Target="../slideLayouts/slideLayout138.xml"/><Relationship Id="rId6" Type="http://schemas.openxmlformats.org/officeDocument/2006/relationships/slideLayout" Target="../slideLayouts/slideLayout143.xml"/><Relationship Id="rId11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2.xml"/><Relationship Id="rId15" Type="http://schemas.openxmlformats.org/officeDocument/2006/relationships/theme" Target="../theme/theme11.xml"/><Relationship Id="rId10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1.xml"/><Relationship Id="rId9" Type="http://schemas.openxmlformats.org/officeDocument/2006/relationships/slideLayout" Target="../slideLayouts/slideLayout146.xml"/><Relationship Id="rId14" Type="http://schemas.openxmlformats.org/officeDocument/2006/relationships/slideLayout" Target="../slideLayouts/slideLayout151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9.xml"/><Relationship Id="rId13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63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Relationship Id="rId6" Type="http://schemas.openxmlformats.org/officeDocument/2006/relationships/slideLayout" Target="../slideLayouts/slideLayout157.xml"/><Relationship Id="rId11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56.xml"/><Relationship Id="rId15" Type="http://schemas.openxmlformats.org/officeDocument/2006/relationships/theme" Target="../theme/theme12.xml"/><Relationship Id="rId10" Type="http://schemas.openxmlformats.org/officeDocument/2006/relationships/slideLayout" Target="../slideLayouts/slideLayout161.xml"/><Relationship Id="rId4" Type="http://schemas.openxmlformats.org/officeDocument/2006/relationships/slideLayout" Target="../slideLayouts/slideLayout155.xml"/><Relationship Id="rId9" Type="http://schemas.openxmlformats.org/officeDocument/2006/relationships/slideLayout" Target="../slideLayouts/slideLayout160.xml"/><Relationship Id="rId14" Type="http://schemas.openxmlformats.org/officeDocument/2006/relationships/slideLayout" Target="../slideLayouts/slideLayout165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3.xml"/><Relationship Id="rId13" Type="http://schemas.openxmlformats.org/officeDocument/2006/relationships/slideLayout" Target="../slideLayouts/slideLayout178.xml"/><Relationship Id="rId3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72.xml"/><Relationship Id="rId12" Type="http://schemas.openxmlformats.org/officeDocument/2006/relationships/slideLayout" Target="../slideLayouts/slideLayout177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11" Type="http://schemas.openxmlformats.org/officeDocument/2006/relationships/slideLayout" Target="../slideLayouts/slideLayout176.xml"/><Relationship Id="rId5" Type="http://schemas.openxmlformats.org/officeDocument/2006/relationships/slideLayout" Target="../slideLayouts/slideLayout170.xml"/><Relationship Id="rId15" Type="http://schemas.openxmlformats.org/officeDocument/2006/relationships/theme" Target="../theme/theme13.xml"/><Relationship Id="rId10" Type="http://schemas.openxmlformats.org/officeDocument/2006/relationships/slideLayout" Target="../slideLayouts/slideLayout175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14" Type="http://schemas.openxmlformats.org/officeDocument/2006/relationships/slideLayout" Target="../slideLayouts/slideLayout17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7.xml"/><Relationship Id="rId13" Type="http://schemas.openxmlformats.org/officeDocument/2006/relationships/slideLayout" Target="../slideLayouts/slideLayout192.xml"/><Relationship Id="rId3" Type="http://schemas.openxmlformats.org/officeDocument/2006/relationships/slideLayout" Target="../slideLayouts/slideLayout182.xml"/><Relationship Id="rId7" Type="http://schemas.openxmlformats.org/officeDocument/2006/relationships/slideLayout" Target="../slideLayouts/slideLayout186.xml"/><Relationship Id="rId12" Type="http://schemas.openxmlformats.org/officeDocument/2006/relationships/slideLayout" Target="../slideLayouts/slideLayout191.xml"/><Relationship Id="rId2" Type="http://schemas.openxmlformats.org/officeDocument/2006/relationships/slideLayout" Target="../slideLayouts/slideLayout181.xml"/><Relationship Id="rId1" Type="http://schemas.openxmlformats.org/officeDocument/2006/relationships/slideLayout" Target="../slideLayouts/slideLayout180.xml"/><Relationship Id="rId6" Type="http://schemas.openxmlformats.org/officeDocument/2006/relationships/slideLayout" Target="../slideLayouts/slideLayout185.xml"/><Relationship Id="rId11" Type="http://schemas.openxmlformats.org/officeDocument/2006/relationships/slideLayout" Target="../slideLayouts/slideLayout190.xml"/><Relationship Id="rId5" Type="http://schemas.openxmlformats.org/officeDocument/2006/relationships/slideLayout" Target="../slideLayouts/slideLayout184.xml"/><Relationship Id="rId15" Type="http://schemas.openxmlformats.org/officeDocument/2006/relationships/theme" Target="../theme/theme14.xml"/><Relationship Id="rId10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83.xml"/><Relationship Id="rId9" Type="http://schemas.openxmlformats.org/officeDocument/2006/relationships/slideLayout" Target="../slideLayouts/slideLayout188.xml"/><Relationship Id="rId14" Type="http://schemas.openxmlformats.org/officeDocument/2006/relationships/slideLayout" Target="../slideLayouts/slideLayout193.xml"/></Relationships>
</file>

<file path=ppt/slideMasters/_rels/slideMaster1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1.xml"/><Relationship Id="rId13" Type="http://schemas.openxmlformats.org/officeDocument/2006/relationships/slideLayout" Target="../slideLayouts/slideLayout206.xml"/><Relationship Id="rId3" Type="http://schemas.openxmlformats.org/officeDocument/2006/relationships/slideLayout" Target="../slideLayouts/slideLayout196.xml"/><Relationship Id="rId7" Type="http://schemas.openxmlformats.org/officeDocument/2006/relationships/slideLayout" Target="../slideLayouts/slideLayout200.xml"/><Relationship Id="rId12" Type="http://schemas.openxmlformats.org/officeDocument/2006/relationships/slideLayout" Target="../slideLayouts/slideLayout205.xml"/><Relationship Id="rId2" Type="http://schemas.openxmlformats.org/officeDocument/2006/relationships/slideLayout" Target="../slideLayouts/slideLayout195.xml"/><Relationship Id="rId1" Type="http://schemas.openxmlformats.org/officeDocument/2006/relationships/slideLayout" Target="../slideLayouts/slideLayout194.xml"/><Relationship Id="rId6" Type="http://schemas.openxmlformats.org/officeDocument/2006/relationships/slideLayout" Target="../slideLayouts/slideLayout199.xml"/><Relationship Id="rId11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198.xml"/><Relationship Id="rId15" Type="http://schemas.openxmlformats.org/officeDocument/2006/relationships/theme" Target="../theme/theme15.xml"/><Relationship Id="rId10" Type="http://schemas.openxmlformats.org/officeDocument/2006/relationships/slideLayout" Target="../slideLayouts/slideLayout203.xml"/><Relationship Id="rId4" Type="http://schemas.openxmlformats.org/officeDocument/2006/relationships/slideLayout" Target="../slideLayouts/slideLayout197.xml"/><Relationship Id="rId9" Type="http://schemas.openxmlformats.org/officeDocument/2006/relationships/slideLayout" Target="../slideLayouts/slideLayout202.xml"/><Relationship Id="rId14" Type="http://schemas.openxmlformats.org/officeDocument/2006/relationships/slideLayout" Target="../slideLayouts/slideLayout207.xml"/></Relationships>
</file>

<file path=ppt/slideMasters/_rels/slideMaster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5.xml"/><Relationship Id="rId13" Type="http://schemas.openxmlformats.org/officeDocument/2006/relationships/slideLayout" Target="../slideLayouts/slideLayout220.xml"/><Relationship Id="rId3" Type="http://schemas.openxmlformats.org/officeDocument/2006/relationships/slideLayout" Target="../slideLayouts/slideLayout210.xml"/><Relationship Id="rId7" Type="http://schemas.openxmlformats.org/officeDocument/2006/relationships/slideLayout" Target="../slideLayouts/slideLayout214.xml"/><Relationship Id="rId12" Type="http://schemas.openxmlformats.org/officeDocument/2006/relationships/slideLayout" Target="../slideLayouts/slideLayout219.xml"/><Relationship Id="rId2" Type="http://schemas.openxmlformats.org/officeDocument/2006/relationships/slideLayout" Target="../slideLayouts/slideLayout209.xml"/><Relationship Id="rId1" Type="http://schemas.openxmlformats.org/officeDocument/2006/relationships/slideLayout" Target="../slideLayouts/slideLayout208.xml"/><Relationship Id="rId6" Type="http://schemas.openxmlformats.org/officeDocument/2006/relationships/slideLayout" Target="../slideLayouts/slideLayout213.xml"/><Relationship Id="rId11" Type="http://schemas.openxmlformats.org/officeDocument/2006/relationships/slideLayout" Target="../slideLayouts/slideLayout218.xml"/><Relationship Id="rId5" Type="http://schemas.openxmlformats.org/officeDocument/2006/relationships/slideLayout" Target="../slideLayouts/slideLayout212.xml"/><Relationship Id="rId15" Type="http://schemas.openxmlformats.org/officeDocument/2006/relationships/theme" Target="../theme/theme16.xml"/><Relationship Id="rId10" Type="http://schemas.openxmlformats.org/officeDocument/2006/relationships/slideLayout" Target="../slideLayouts/slideLayout217.xml"/><Relationship Id="rId4" Type="http://schemas.openxmlformats.org/officeDocument/2006/relationships/slideLayout" Target="../slideLayouts/slideLayout211.xml"/><Relationship Id="rId9" Type="http://schemas.openxmlformats.org/officeDocument/2006/relationships/slideLayout" Target="../slideLayouts/slideLayout216.xml"/><Relationship Id="rId14" Type="http://schemas.openxmlformats.org/officeDocument/2006/relationships/slideLayout" Target="../slideLayouts/slideLayout221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9.xml"/><Relationship Id="rId13" Type="http://schemas.openxmlformats.org/officeDocument/2006/relationships/slideLayout" Target="../slideLayouts/slideLayout234.xml"/><Relationship Id="rId3" Type="http://schemas.openxmlformats.org/officeDocument/2006/relationships/slideLayout" Target="../slideLayouts/slideLayout224.xml"/><Relationship Id="rId7" Type="http://schemas.openxmlformats.org/officeDocument/2006/relationships/slideLayout" Target="../slideLayouts/slideLayout228.xml"/><Relationship Id="rId12" Type="http://schemas.openxmlformats.org/officeDocument/2006/relationships/slideLayout" Target="../slideLayouts/slideLayout233.xml"/><Relationship Id="rId2" Type="http://schemas.openxmlformats.org/officeDocument/2006/relationships/slideLayout" Target="../slideLayouts/slideLayout223.xml"/><Relationship Id="rId1" Type="http://schemas.openxmlformats.org/officeDocument/2006/relationships/slideLayout" Target="../slideLayouts/slideLayout222.xml"/><Relationship Id="rId6" Type="http://schemas.openxmlformats.org/officeDocument/2006/relationships/slideLayout" Target="../slideLayouts/slideLayout227.xml"/><Relationship Id="rId11" Type="http://schemas.openxmlformats.org/officeDocument/2006/relationships/slideLayout" Target="../slideLayouts/slideLayout232.xml"/><Relationship Id="rId5" Type="http://schemas.openxmlformats.org/officeDocument/2006/relationships/slideLayout" Target="../slideLayouts/slideLayout226.xml"/><Relationship Id="rId15" Type="http://schemas.openxmlformats.org/officeDocument/2006/relationships/theme" Target="../theme/theme17.xml"/><Relationship Id="rId10" Type="http://schemas.openxmlformats.org/officeDocument/2006/relationships/slideLayout" Target="../slideLayouts/slideLayout231.xml"/><Relationship Id="rId4" Type="http://schemas.openxmlformats.org/officeDocument/2006/relationships/slideLayout" Target="../slideLayouts/slideLayout225.xml"/><Relationship Id="rId9" Type="http://schemas.openxmlformats.org/officeDocument/2006/relationships/slideLayout" Target="../slideLayouts/slideLayout230.xml"/><Relationship Id="rId14" Type="http://schemas.openxmlformats.org/officeDocument/2006/relationships/slideLayout" Target="../slideLayouts/slideLayout235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3.xml"/><Relationship Id="rId13" Type="http://schemas.openxmlformats.org/officeDocument/2006/relationships/slideLayout" Target="../slideLayouts/slideLayout248.xml"/><Relationship Id="rId3" Type="http://schemas.openxmlformats.org/officeDocument/2006/relationships/slideLayout" Target="../slideLayouts/slideLayout238.xml"/><Relationship Id="rId7" Type="http://schemas.openxmlformats.org/officeDocument/2006/relationships/slideLayout" Target="../slideLayouts/slideLayout242.xml"/><Relationship Id="rId12" Type="http://schemas.openxmlformats.org/officeDocument/2006/relationships/slideLayout" Target="../slideLayouts/slideLayout247.xml"/><Relationship Id="rId2" Type="http://schemas.openxmlformats.org/officeDocument/2006/relationships/slideLayout" Target="../slideLayouts/slideLayout237.xml"/><Relationship Id="rId1" Type="http://schemas.openxmlformats.org/officeDocument/2006/relationships/slideLayout" Target="../slideLayouts/slideLayout236.xml"/><Relationship Id="rId6" Type="http://schemas.openxmlformats.org/officeDocument/2006/relationships/slideLayout" Target="../slideLayouts/slideLayout241.xml"/><Relationship Id="rId11" Type="http://schemas.openxmlformats.org/officeDocument/2006/relationships/slideLayout" Target="../slideLayouts/slideLayout246.xml"/><Relationship Id="rId5" Type="http://schemas.openxmlformats.org/officeDocument/2006/relationships/slideLayout" Target="../slideLayouts/slideLayout240.xml"/><Relationship Id="rId15" Type="http://schemas.openxmlformats.org/officeDocument/2006/relationships/theme" Target="../theme/theme18.xml"/><Relationship Id="rId10" Type="http://schemas.openxmlformats.org/officeDocument/2006/relationships/slideLayout" Target="../slideLayouts/slideLayout245.xml"/><Relationship Id="rId4" Type="http://schemas.openxmlformats.org/officeDocument/2006/relationships/slideLayout" Target="../slideLayouts/slideLayout239.xml"/><Relationship Id="rId9" Type="http://schemas.openxmlformats.org/officeDocument/2006/relationships/slideLayout" Target="../slideLayouts/slideLayout244.xml"/><Relationship Id="rId14" Type="http://schemas.openxmlformats.org/officeDocument/2006/relationships/slideLayout" Target="../slideLayouts/slideLayout249.xml"/></Relationships>
</file>

<file path=ppt/slideMasters/_rels/slideMaster1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7.xml"/><Relationship Id="rId13" Type="http://schemas.openxmlformats.org/officeDocument/2006/relationships/slideLayout" Target="../slideLayouts/slideLayout262.xml"/><Relationship Id="rId3" Type="http://schemas.openxmlformats.org/officeDocument/2006/relationships/slideLayout" Target="../slideLayouts/slideLayout252.xml"/><Relationship Id="rId7" Type="http://schemas.openxmlformats.org/officeDocument/2006/relationships/slideLayout" Target="../slideLayouts/slideLayout256.xml"/><Relationship Id="rId12" Type="http://schemas.openxmlformats.org/officeDocument/2006/relationships/slideLayout" Target="../slideLayouts/slideLayout261.xml"/><Relationship Id="rId2" Type="http://schemas.openxmlformats.org/officeDocument/2006/relationships/slideLayout" Target="../slideLayouts/slideLayout251.xml"/><Relationship Id="rId1" Type="http://schemas.openxmlformats.org/officeDocument/2006/relationships/slideLayout" Target="../slideLayouts/slideLayout250.xml"/><Relationship Id="rId6" Type="http://schemas.openxmlformats.org/officeDocument/2006/relationships/slideLayout" Target="../slideLayouts/slideLayout255.xml"/><Relationship Id="rId11" Type="http://schemas.openxmlformats.org/officeDocument/2006/relationships/slideLayout" Target="../slideLayouts/slideLayout260.xml"/><Relationship Id="rId5" Type="http://schemas.openxmlformats.org/officeDocument/2006/relationships/slideLayout" Target="../slideLayouts/slideLayout254.xml"/><Relationship Id="rId15" Type="http://schemas.openxmlformats.org/officeDocument/2006/relationships/theme" Target="../theme/theme19.xml"/><Relationship Id="rId10" Type="http://schemas.openxmlformats.org/officeDocument/2006/relationships/slideLayout" Target="../slideLayouts/slideLayout259.xml"/><Relationship Id="rId4" Type="http://schemas.openxmlformats.org/officeDocument/2006/relationships/slideLayout" Target="../slideLayouts/slideLayout253.xml"/><Relationship Id="rId9" Type="http://schemas.openxmlformats.org/officeDocument/2006/relationships/slideLayout" Target="../slideLayouts/slideLayout258.xml"/><Relationship Id="rId14" Type="http://schemas.openxmlformats.org/officeDocument/2006/relationships/slideLayout" Target="../slideLayouts/slideLayout263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1.xml"/><Relationship Id="rId13" Type="http://schemas.openxmlformats.org/officeDocument/2006/relationships/slideLayout" Target="../slideLayouts/slideLayout276.xml"/><Relationship Id="rId3" Type="http://schemas.openxmlformats.org/officeDocument/2006/relationships/slideLayout" Target="../slideLayouts/slideLayout266.xml"/><Relationship Id="rId7" Type="http://schemas.openxmlformats.org/officeDocument/2006/relationships/slideLayout" Target="../slideLayouts/slideLayout270.xml"/><Relationship Id="rId12" Type="http://schemas.openxmlformats.org/officeDocument/2006/relationships/slideLayout" Target="../slideLayouts/slideLayout275.xml"/><Relationship Id="rId2" Type="http://schemas.openxmlformats.org/officeDocument/2006/relationships/slideLayout" Target="../slideLayouts/slideLayout265.xml"/><Relationship Id="rId1" Type="http://schemas.openxmlformats.org/officeDocument/2006/relationships/slideLayout" Target="../slideLayouts/slideLayout264.xml"/><Relationship Id="rId6" Type="http://schemas.openxmlformats.org/officeDocument/2006/relationships/slideLayout" Target="../slideLayouts/slideLayout269.xml"/><Relationship Id="rId11" Type="http://schemas.openxmlformats.org/officeDocument/2006/relationships/slideLayout" Target="../slideLayouts/slideLayout274.xml"/><Relationship Id="rId5" Type="http://schemas.openxmlformats.org/officeDocument/2006/relationships/slideLayout" Target="../slideLayouts/slideLayout268.xml"/><Relationship Id="rId15" Type="http://schemas.openxmlformats.org/officeDocument/2006/relationships/theme" Target="../theme/theme20.xml"/><Relationship Id="rId10" Type="http://schemas.openxmlformats.org/officeDocument/2006/relationships/slideLayout" Target="../slideLayouts/slideLayout273.xml"/><Relationship Id="rId4" Type="http://schemas.openxmlformats.org/officeDocument/2006/relationships/slideLayout" Target="../slideLayouts/slideLayout267.xml"/><Relationship Id="rId9" Type="http://schemas.openxmlformats.org/officeDocument/2006/relationships/slideLayout" Target="../slideLayouts/slideLayout272.xml"/><Relationship Id="rId14" Type="http://schemas.openxmlformats.org/officeDocument/2006/relationships/slideLayout" Target="../slideLayouts/slideLayout277.xml"/></Relationships>
</file>

<file path=ppt/slideMasters/_rels/slideMaster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90.xml"/><Relationship Id="rId3" Type="http://schemas.openxmlformats.org/officeDocument/2006/relationships/slideLayout" Target="../slideLayouts/slideLayout280.xml"/><Relationship Id="rId7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9.xml"/><Relationship Id="rId2" Type="http://schemas.openxmlformats.org/officeDocument/2006/relationships/slideLayout" Target="../slideLayouts/slideLayout279.xml"/><Relationship Id="rId1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8.xml"/><Relationship Id="rId5" Type="http://schemas.openxmlformats.org/officeDocument/2006/relationships/slideLayout" Target="../slideLayouts/slideLayout282.xml"/><Relationship Id="rId15" Type="http://schemas.openxmlformats.org/officeDocument/2006/relationships/theme" Target="../theme/theme21.xml"/><Relationship Id="rId10" Type="http://schemas.openxmlformats.org/officeDocument/2006/relationships/slideLayout" Target="../slideLayouts/slideLayout287.xml"/><Relationship Id="rId4" Type="http://schemas.openxmlformats.org/officeDocument/2006/relationships/slideLayout" Target="../slideLayouts/slideLayout281.xml"/><Relationship Id="rId9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91.xml"/></Relationships>
</file>

<file path=ppt/slideMasters/_rels/slideMaster2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9.xml"/><Relationship Id="rId13" Type="http://schemas.openxmlformats.org/officeDocument/2006/relationships/slideLayout" Target="../slideLayouts/slideLayout304.xml"/><Relationship Id="rId3" Type="http://schemas.openxmlformats.org/officeDocument/2006/relationships/slideLayout" Target="../slideLayouts/slideLayout294.xml"/><Relationship Id="rId7" Type="http://schemas.openxmlformats.org/officeDocument/2006/relationships/slideLayout" Target="../slideLayouts/slideLayout298.xml"/><Relationship Id="rId12" Type="http://schemas.openxmlformats.org/officeDocument/2006/relationships/slideLayout" Target="../slideLayouts/slideLayout303.xml"/><Relationship Id="rId2" Type="http://schemas.openxmlformats.org/officeDocument/2006/relationships/slideLayout" Target="../slideLayouts/slideLayout293.xml"/><Relationship Id="rId1" Type="http://schemas.openxmlformats.org/officeDocument/2006/relationships/slideLayout" Target="../slideLayouts/slideLayout292.xml"/><Relationship Id="rId6" Type="http://schemas.openxmlformats.org/officeDocument/2006/relationships/slideLayout" Target="../slideLayouts/slideLayout297.xml"/><Relationship Id="rId11" Type="http://schemas.openxmlformats.org/officeDocument/2006/relationships/slideLayout" Target="../slideLayouts/slideLayout302.xml"/><Relationship Id="rId5" Type="http://schemas.openxmlformats.org/officeDocument/2006/relationships/slideLayout" Target="../slideLayouts/slideLayout296.xml"/><Relationship Id="rId15" Type="http://schemas.openxmlformats.org/officeDocument/2006/relationships/theme" Target="../theme/theme22.xml"/><Relationship Id="rId10" Type="http://schemas.openxmlformats.org/officeDocument/2006/relationships/slideLayout" Target="../slideLayouts/slideLayout301.xml"/><Relationship Id="rId4" Type="http://schemas.openxmlformats.org/officeDocument/2006/relationships/slideLayout" Target="../slideLayouts/slideLayout295.xml"/><Relationship Id="rId9" Type="http://schemas.openxmlformats.org/officeDocument/2006/relationships/slideLayout" Target="../slideLayouts/slideLayout300.xml"/><Relationship Id="rId14" Type="http://schemas.openxmlformats.org/officeDocument/2006/relationships/slideLayout" Target="../slideLayouts/slideLayout305.xml"/></Relationships>
</file>

<file path=ppt/slideMasters/_rels/slideMaster2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3.xml"/><Relationship Id="rId13" Type="http://schemas.openxmlformats.org/officeDocument/2006/relationships/slideLayout" Target="../slideLayouts/slideLayout318.xml"/><Relationship Id="rId3" Type="http://schemas.openxmlformats.org/officeDocument/2006/relationships/slideLayout" Target="../slideLayouts/slideLayout308.xml"/><Relationship Id="rId7" Type="http://schemas.openxmlformats.org/officeDocument/2006/relationships/slideLayout" Target="../slideLayouts/slideLayout312.xml"/><Relationship Id="rId12" Type="http://schemas.openxmlformats.org/officeDocument/2006/relationships/slideLayout" Target="../slideLayouts/slideLayout317.xml"/><Relationship Id="rId2" Type="http://schemas.openxmlformats.org/officeDocument/2006/relationships/slideLayout" Target="../slideLayouts/slideLayout307.xml"/><Relationship Id="rId1" Type="http://schemas.openxmlformats.org/officeDocument/2006/relationships/slideLayout" Target="../slideLayouts/slideLayout306.xml"/><Relationship Id="rId6" Type="http://schemas.openxmlformats.org/officeDocument/2006/relationships/slideLayout" Target="../slideLayouts/slideLayout311.xml"/><Relationship Id="rId11" Type="http://schemas.openxmlformats.org/officeDocument/2006/relationships/slideLayout" Target="../slideLayouts/slideLayout316.xml"/><Relationship Id="rId5" Type="http://schemas.openxmlformats.org/officeDocument/2006/relationships/slideLayout" Target="../slideLayouts/slideLayout310.xml"/><Relationship Id="rId15" Type="http://schemas.openxmlformats.org/officeDocument/2006/relationships/theme" Target="../theme/theme23.xml"/><Relationship Id="rId10" Type="http://schemas.openxmlformats.org/officeDocument/2006/relationships/slideLayout" Target="../slideLayouts/slideLayout315.xml"/><Relationship Id="rId4" Type="http://schemas.openxmlformats.org/officeDocument/2006/relationships/slideLayout" Target="../slideLayouts/slideLayout309.xml"/><Relationship Id="rId9" Type="http://schemas.openxmlformats.org/officeDocument/2006/relationships/slideLayout" Target="../slideLayouts/slideLayout314.xml"/><Relationship Id="rId14" Type="http://schemas.openxmlformats.org/officeDocument/2006/relationships/slideLayout" Target="../slideLayouts/slideLayout319.xml"/></Relationships>
</file>

<file path=ppt/slideMasters/_rels/slideMaster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7.xml"/><Relationship Id="rId13" Type="http://schemas.openxmlformats.org/officeDocument/2006/relationships/slideLayout" Target="../slideLayouts/slideLayout332.xml"/><Relationship Id="rId3" Type="http://schemas.openxmlformats.org/officeDocument/2006/relationships/slideLayout" Target="../slideLayouts/slideLayout322.xml"/><Relationship Id="rId7" Type="http://schemas.openxmlformats.org/officeDocument/2006/relationships/slideLayout" Target="../slideLayouts/slideLayout326.xml"/><Relationship Id="rId12" Type="http://schemas.openxmlformats.org/officeDocument/2006/relationships/slideLayout" Target="../slideLayouts/slideLayout331.xml"/><Relationship Id="rId2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20.xml"/><Relationship Id="rId6" Type="http://schemas.openxmlformats.org/officeDocument/2006/relationships/slideLayout" Target="../slideLayouts/slideLayout325.xml"/><Relationship Id="rId11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4.xml"/><Relationship Id="rId15" Type="http://schemas.openxmlformats.org/officeDocument/2006/relationships/theme" Target="../theme/theme24.xml"/><Relationship Id="rId10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3.xml"/><Relationship Id="rId9" Type="http://schemas.openxmlformats.org/officeDocument/2006/relationships/slideLayout" Target="../slideLayouts/slideLayout328.xml"/><Relationship Id="rId14" Type="http://schemas.openxmlformats.org/officeDocument/2006/relationships/slideLayout" Target="../slideLayouts/slideLayout333.xml"/></Relationships>
</file>

<file path=ppt/slideMasters/_rels/slideMaster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1.xml"/><Relationship Id="rId13" Type="http://schemas.openxmlformats.org/officeDocument/2006/relationships/slideLayout" Target="../slideLayouts/slideLayout346.xml"/><Relationship Id="rId3" Type="http://schemas.openxmlformats.org/officeDocument/2006/relationships/slideLayout" Target="../slideLayouts/slideLayout336.xml"/><Relationship Id="rId7" Type="http://schemas.openxmlformats.org/officeDocument/2006/relationships/slideLayout" Target="../slideLayouts/slideLayout340.xml"/><Relationship Id="rId12" Type="http://schemas.openxmlformats.org/officeDocument/2006/relationships/slideLayout" Target="../slideLayouts/slideLayout345.xml"/><Relationship Id="rId2" Type="http://schemas.openxmlformats.org/officeDocument/2006/relationships/slideLayout" Target="../slideLayouts/slideLayout335.xml"/><Relationship Id="rId1" Type="http://schemas.openxmlformats.org/officeDocument/2006/relationships/slideLayout" Target="../slideLayouts/slideLayout334.xml"/><Relationship Id="rId6" Type="http://schemas.openxmlformats.org/officeDocument/2006/relationships/slideLayout" Target="../slideLayouts/slideLayout339.xml"/><Relationship Id="rId11" Type="http://schemas.openxmlformats.org/officeDocument/2006/relationships/slideLayout" Target="../slideLayouts/slideLayout344.xml"/><Relationship Id="rId5" Type="http://schemas.openxmlformats.org/officeDocument/2006/relationships/slideLayout" Target="../slideLayouts/slideLayout338.xml"/><Relationship Id="rId15" Type="http://schemas.openxmlformats.org/officeDocument/2006/relationships/theme" Target="../theme/theme25.xml"/><Relationship Id="rId10" Type="http://schemas.openxmlformats.org/officeDocument/2006/relationships/slideLayout" Target="../slideLayouts/slideLayout343.xml"/><Relationship Id="rId4" Type="http://schemas.openxmlformats.org/officeDocument/2006/relationships/slideLayout" Target="../slideLayouts/slideLayout337.xml"/><Relationship Id="rId9" Type="http://schemas.openxmlformats.org/officeDocument/2006/relationships/slideLayout" Target="../slideLayouts/slideLayout342.xml"/><Relationship Id="rId14" Type="http://schemas.openxmlformats.org/officeDocument/2006/relationships/slideLayout" Target="../slideLayouts/slideLayout347.xml"/></Relationships>
</file>

<file path=ppt/slideMasters/_rels/slideMaster2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5.xml"/><Relationship Id="rId13" Type="http://schemas.openxmlformats.org/officeDocument/2006/relationships/slideLayout" Target="../slideLayouts/slideLayout360.xml"/><Relationship Id="rId3" Type="http://schemas.openxmlformats.org/officeDocument/2006/relationships/slideLayout" Target="../slideLayouts/slideLayout350.xml"/><Relationship Id="rId7" Type="http://schemas.openxmlformats.org/officeDocument/2006/relationships/slideLayout" Target="../slideLayouts/slideLayout354.xml"/><Relationship Id="rId12" Type="http://schemas.openxmlformats.org/officeDocument/2006/relationships/slideLayout" Target="../slideLayouts/slideLayout359.xml"/><Relationship Id="rId2" Type="http://schemas.openxmlformats.org/officeDocument/2006/relationships/slideLayout" Target="../slideLayouts/slideLayout349.xml"/><Relationship Id="rId1" Type="http://schemas.openxmlformats.org/officeDocument/2006/relationships/slideLayout" Target="../slideLayouts/slideLayout348.xml"/><Relationship Id="rId6" Type="http://schemas.openxmlformats.org/officeDocument/2006/relationships/slideLayout" Target="../slideLayouts/slideLayout353.xml"/><Relationship Id="rId11" Type="http://schemas.openxmlformats.org/officeDocument/2006/relationships/slideLayout" Target="../slideLayouts/slideLayout358.xml"/><Relationship Id="rId5" Type="http://schemas.openxmlformats.org/officeDocument/2006/relationships/slideLayout" Target="../slideLayouts/slideLayout352.xml"/><Relationship Id="rId15" Type="http://schemas.openxmlformats.org/officeDocument/2006/relationships/theme" Target="../theme/theme26.xml"/><Relationship Id="rId10" Type="http://schemas.openxmlformats.org/officeDocument/2006/relationships/slideLayout" Target="../slideLayouts/slideLayout357.xml"/><Relationship Id="rId4" Type="http://schemas.openxmlformats.org/officeDocument/2006/relationships/slideLayout" Target="../slideLayouts/slideLayout351.xml"/><Relationship Id="rId9" Type="http://schemas.openxmlformats.org/officeDocument/2006/relationships/slideLayout" Target="../slideLayouts/slideLayout356.xml"/><Relationship Id="rId14" Type="http://schemas.openxmlformats.org/officeDocument/2006/relationships/slideLayout" Target="../slideLayouts/slideLayout361.xml"/></Relationships>
</file>

<file path=ppt/slideMasters/_rels/slideMaster2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9.xml"/><Relationship Id="rId13" Type="http://schemas.openxmlformats.org/officeDocument/2006/relationships/slideLayout" Target="../slideLayouts/slideLayout374.xml"/><Relationship Id="rId3" Type="http://schemas.openxmlformats.org/officeDocument/2006/relationships/slideLayout" Target="../slideLayouts/slideLayout364.xml"/><Relationship Id="rId7" Type="http://schemas.openxmlformats.org/officeDocument/2006/relationships/slideLayout" Target="../slideLayouts/slideLayout368.xml"/><Relationship Id="rId12" Type="http://schemas.openxmlformats.org/officeDocument/2006/relationships/slideLayout" Target="../slideLayouts/slideLayout373.xml"/><Relationship Id="rId2" Type="http://schemas.openxmlformats.org/officeDocument/2006/relationships/slideLayout" Target="../slideLayouts/slideLayout363.xml"/><Relationship Id="rId1" Type="http://schemas.openxmlformats.org/officeDocument/2006/relationships/slideLayout" Target="../slideLayouts/slideLayout362.xml"/><Relationship Id="rId6" Type="http://schemas.openxmlformats.org/officeDocument/2006/relationships/slideLayout" Target="../slideLayouts/slideLayout367.xml"/><Relationship Id="rId11" Type="http://schemas.openxmlformats.org/officeDocument/2006/relationships/slideLayout" Target="../slideLayouts/slideLayout372.xml"/><Relationship Id="rId5" Type="http://schemas.openxmlformats.org/officeDocument/2006/relationships/slideLayout" Target="../slideLayouts/slideLayout366.xml"/><Relationship Id="rId15" Type="http://schemas.openxmlformats.org/officeDocument/2006/relationships/theme" Target="../theme/theme27.xml"/><Relationship Id="rId10" Type="http://schemas.openxmlformats.org/officeDocument/2006/relationships/slideLayout" Target="../slideLayouts/slideLayout371.xml"/><Relationship Id="rId4" Type="http://schemas.openxmlformats.org/officeDocument/2006/relationships/slideLayout" Target="../slideLayouts/slideLayout365.xml"/><Relationship Id="rId9" Type="http://schemas.openxmlformats.org/officeDocument/2006/relationships/slideLayout" Target="../slideLayouts/slideLayout370.xml"/><Relationship Id="rId14" Type="http://schemas.openxmlformats.org/officeDocument/2006/relationships/slideLayout" Target="../slideLayouts/slideLayout375.xml"/></Relationships>
</file>

<file path=ppt/slideMasters/_rels/slideMaster2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3.xml"/><Relationship Id="rId13" Type="http://schemas.openxmlformats.org/officeDocument/2006/relationships/slideLayout" Target="../slideLayouts/slideLayout388.xml"/><Relationship Id="rId3" Type="http://schemas.openxmlformats.org/officeDocument/2006/relationships/slideLayout" Target="../slideLayouts/slideLayout378.xml"/><Relationship Id="rId7" Type="http://schemas.openxmlformats.org/officeDocument/2006/relationships/slideLayout" Target="../slideLayouts/slideLayout382.xml"/><Relationship Id="rId12" Type="http://schemas.openxmlformats.org/officeDocument/2006/relationships/slideLayout" Target="../slideLayouts/slideLayout387.xml"/><Relationship Id="rId2" Type="http://schemas.openxmlformats.org/officeDocument/2006/relationships/slideLayout" Target="../slideLayouts/slideLayout377.xml"/><Relationship Id="rId1" Type="http://schemas.openxmlformats.org/officeDocument/2006/relationships/slideLayout" Target="../slideLayouts/slideLayout376.xml"/><Relationship Id="rId6" Type="http://schemas.openxmlformats.org/officeDocument/2006/relationships/slideLayout" Target="../slideLayouts/slideLayout381.xml"/><Relationship Id="rId11" Type="http://schemas.openxmlformats.org/officeDocument/2006/relationships/slideLayout" Target="../slideLayouts/slideLayout386.xml"/><Relationship Id="rId5" Type="http://schemas.openxmlformats.org/officeDocument/2006/relationships/slideLayout" Target="../slideLayouts/slideLayout380.xml"/><Relationship Id="rId15" Type="http://schemas.openxmlformats.org/officeDocument/2006/relationships/theme" Target="../theme/theme28.xml"/><Relationship Id="rId10" Type="http://schemas.openxmlformats.org/officeDocument/2006/relationships/slideLayout" Target="../slideLayouts/slideLayout385.xml"/><Relationship Id="rId4" Type="http://schemas.openxmlformats.org/officeDocument/2006/relationships/slideLayout" Target="../slideLayouts/slideLayout379.xml"/><Relationship Id="rId9" Type="http://schemas.openxmlformats.org/officeDocument/2006/relationships/slideLayout" Target="../slideLayouts/slideLayout384.xml"/><Relationship Id="rId14" Type="http://schemas.openxmlformats.org/officeDocument/2006/relationships/slideLayout" Target="../slideLayouts/slideLayout389.xml"/></Relationships>
</file>

<file path=ppt/slideMasters/_rels/slideMaster2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7.xml"/><Relationship Id="rId13" Type="http://schemas.openxmlformats.org/officeDocument/2006/relationships/slideLayout" Target="../slideLayouts/slideLayout402.xml"/><Relationship Id="rId3" Type="http://schemas.openxmlformats.org/officeDocument/2006/relationships/slideLayout" Target="../slideLayouts/slideLayout392.xml"/><Relationship Id="rId7" Type="http://schemas.openxmlformats.org/officeDocument/2006/relationships/slideLayout" Target="../slideLayouts/slideLayout396.xml"/><Relationship Id="rId12" Type="http://schemas.openxmlformats.org/officeDocument/2006/relationships/slideLayout" Target="../slideLayouts/slideLayout401.xml"/><Relationship Id="rId2" Type="http://schemas.openxmlformats.org/officeDocument/2006/relationships/slideLayout" Target="../slideLayouts/slideLayout391.xml"/><Relationship Id="rId1" Type="http://schemas.openxmlformats.org/officeDocument/2006/relationships/slideLayout" Target="../slideLayouts/slideLayout390.xml"/><Relationship Id="rId6" Type="http://schemas.openxmlformats.org/officeDocument/2006/relationships/slideLayout" Target="../slideLayouts/slideLayout395.xml"/><Relationship Id="rId11" Type="http://schemas.openxmlformats.org/officeDocument/2006/relationships/slideLayout" Target="../slideLayouts/slideLayout400.xml"/><Relationship Id="rId5" Type="http://schemas.openxmlformats.org/officeDocument/2006/relationships/slideLayout" Target="../slideLayouts/slideLayout394.xml"/><Relationship Id="rId15" Type="http://schemas.openxmlformats.org/officeDocument/2006/relationships/theme" Target="../theme/theme29.xml"/><Relationship Id="rId10" Type="http://schemas.openxmlformats.org/officeDocument/2006/relationships/slideLayout" Target="../slideLayouts/slideLayout399.xml"/><Relationship Id="rId4" Type="http://schemas.openxmlformats.org/officeDocument/2006/relationships/slideLayout" Target="../slideLayouts/slideLayout393.xml"/><Relationship Id="rId9" Type="http://schemas.openxmlformats.org/officeDocument/2006/relationships/slideLayout" Target="../slideLayouts/slideLayout398.xml"/><Relationship Id="rId14" Type="http://schemas.openxmlformats.org/officeDocument/2006/relationships/slideLayout" Target="../slideLayouts/slideLayout403.xml"/></Relationships>
</file>

<file path=ppt/slideMasters/_rels/slideMaster3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1.xml"/><Relationship Id="rId13" Type="http://schemas.openxmlformats.org/officeDocument/2006/relationships/slideLayout" Target="../slideLayouts/slideLayout416.xml"/><Relationship Id="rId3" Type="http://schemas.openxmlformats.org/officeDocument/2006/relationships/slideLayout" Target="../slideLayouts/slideLayout406.xml"/><Relationship Id="rId7" Type="http://schemas.openxmlformats.org/officeDocument/2006/relationships/slideLayout" Target="../slideLayouts/slideLayout410.xml"/><Relationship Id="rId12" Type="http://schemas.openxmlformats.org/officeDocument/2006/relationships/slideLayout" Target="../slideLayouts/slideLayout415.xml"/><Relationship Id="rId2" Type="http://schemas.openxmlformats.org/officeDocument/2006/relationships/slideLayout" Target="../slideLayouts/slideLayout405.xml"/><Relationship Id="rId1" Type="http://schemas.openxmlformats.org/officeDocument/2006/relationships/slideLayout" Target="../slideLayouts/slideLayout404.xml"/><Relationship Id="rId6" Type="http://schemas.openxmlformats.org/officeDocument/2006/relationships/slideLayout" Target="../slideLayouts/slideLayout409.xml"/><Relationship Id="rId11" Type="http://schemas.openxmlformats.org/officeDocument/2006/relationships/slideLayout" Target="../slideLayouts/slideLayout414.xml"/><Relationship Id="rId5" Type="http://schemas.openxmlformats.org/officeDocument/2006/relationships/slideLayout" Target="../slideLayouts/slideLayout408.xml"/><Relationship Id="rId15" Type="http://schemas.openxmlformats.org/officeDocument/2006/relationships/theme" Target="../theme/theme30.xml"/><Relationship Id="rId10" Type="http://schemas.openxmlformats.org/officeDocument/2006/relationships/slideLayout" Target="../slideLayouts/slideLayout413.xml"/><Relationship Id="rId4" Type="http://schemas.openxmlformats.org/officeDocument/2006/relationships/slideLayout" Target="../slideLayouts/slideLayout407.xml"/><Relationship Id="rId9" Type="http://schemas.openxmlformats.org/officeDocument/2006/relationships/slideLayout" Target="../slideLayouts/slideLayout412.xml"/><Relationship Id="rId14" Type="http://schemas.openxmlformats.org/officeDocument/2006/relationships/slideLayout" Target="../slideLayouts/slideLayout417.xml"/></Relationships>
</file>

<file path=ppt/slideMasters/_rels/slideMaster3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5.xml"/><Relationship Id="rId13" Type="http://schemas.openxmlformats.org/officeDocument/2006/relationships/slideLayout" Target="../slideLayouts/slideLayout430.xml"/><Relationship Id="rId3" Type="http://schemas.openxmlformats.org/officeDocument/2006/relationships/slideLayout" Target="../slideLayouts/slideLayout420.xml"/><Relationship Id="rId7" Type="http://schemas.openxmlformats.org/officeDocument/2006/relationships/slideLayout" Target="../slideLayouts/slideLayout424.xml"/><Relationship Id="rId12" Type="http://schemas.openxmlformats.org/officeDocument/2006/relationships/slideLayout" Target="../slideLayouts/slideLayout429.xml"/><Relationship Id="rId2" Type="http://schemas.openxmlformats.org/officeDocument/2006/relationships/slideLayout" Target="../slideLayouts/slideLayout419.xml"/><Relationship Id="rId1" Type="http://schemas.openxmlformats.org/officeDocument/2006/relationships/slideLayout" Target="../slideLayouts/slideLayout418.xml"/><Relationship Id="rId6" Type="http://schemas.openxmlformats.org/officeDocument/2006/relationships/slideLayout" Target="../slideLayouts/slideLayout423.xml"/><Relationship Id="rId11" Type="http://schemas.openxmlformats.org/officeDocument/2006/relationships/slideLayout" Target="../slideLayouts/slideLayout428.xml"/><Relationship Id="rId5" Type="http://schemas.openxmlformats.org/officeDocument/2006/relationships/slideLayout" Target="../slideLayouts/slideLayout422.xml"/><Relationship Id="rId15" Type="http://schemas.openxmlformats.org/officeDocument/2006/relationships/theme" Target="../theme/theme31.xml"/><Relationship Id="rId10" Type="http://schemas.openxmlformats.org/officeDocument/2006/relationships/slideLayout" Target="../slideLayouts/slideLayout427.xml"/><Relationship Id="rId4" Type="http://schemas.openxmlformats.org/officeDocument/2006/relationships/slideLayout" Target="../slideLayouts/slideLayout421.xml"/><Relationship Id="rId9" Type="http://schemas.openxmlformats.org/officeDocument/2006/relationships/slideLayout" Target="../slideLayouts/slideLayout426.xml"/><Relationship Id="rId14" Type="http://schemas.openxmlformats.org/officeDocument/2006/relationships/slideLayout" Target="../slideLayouts/slideLayout431.xml"/></Relationships>
</file>

<file path=ppt/slideMasters/_rels/slideMaster3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9.xml"/><Relationship Id="rId13" Type="http://schemas.openxmlformats.org/officeDocument/2006/relationships/slideLayout" Target="../slideLayouts/slideLayout444.xml"/><Relationship Id="rId3" Type="http://schemas.openxmlformats.org/officeDocument/2006/relationships/slideLayout" Target="../slideLayouts/slideLayout434.xml"/><Relationship Id="rId7" Type="http://schemas.openxmlformats.org/officeDocument/2006/relationships/slideLayout" Target="../slideLayouts/slideLayout438.xml"/><Relationship Id="rId12" Type="http://schemas.openxmlformats.org/officeDocument/2006/relationships/slideLayout" Target="../slideLayouts/slideLayout443.xml"/><Relationship Id="rId2" Type="http://schemas.openxmlformats.org/officeDocument/2006/relationships/slideLayout" Target="../slideLayouts/slideLayout433.xml"/><Relationship Id="rId1" Type="http://schemas.openxmlformats.org/officeDocument/2006/relationships/slideLayout" Target="../slideLayouts/slideLayout432.xml"/><Relationship Id="rId6" Type="http://schemas.openxmlformats.org/officeDocument/2006/relationships/slideLayout" Target="../slideLayouts/slideLayout437.xml"/><Relationship Id="rId11" Type="http://schemas.openxmlformats.org/officeDocument/2006/relationships/slideLayout" Target="../slideLayouts/slideLayout442.xml"/><Relationship Id="rId5" Type="http://schemas.openxmlformats.org/officeDocument/2006/relationships/slideLayout" Target="../slideLayouts/slideLayout436.xml"/><Relationship Id="rId15" Type="http://schemas.openxmlformats.org/officeDocument/2006/relationships/theme" Target="../theme/theme32.xml"/><Relationship Id="rId10" Type="http://schemas.openxmlformats.org/officeDocument/2006/relationships/slideLayout" Target="../slideLayouts/slideLayout441.xml"/><Relationship Id="rId4" Type="http://schemas.openxmlformats.org/officeDocument/2006/relationships/slideLayout" Target="../slideLayouts/slideLayout435.xml"/><Relationship Id="rId9" Type="http://schemas.openxmlformats.org/officeDocument/2006/relationships/slideLayout" Target="../slideLayouts/slideLayout440.xml"/><Relationship Id="rId14" Type="http://schemas.openxmlformats.org/officeDocument/2006/relationships/slideLayout" Target="../slideLayouts/slideLayout445.xml"/></Relationships>
</file>

<file path=ppt/slideMasters/_rels/slideMaster3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3.xml"/><Relationship Id="rId13" Type="http://schemas.openxmlformats.org/officeDocument/2006/relationships/slideLayout" Target="../slideLayouts/slideLayout458.xml"/><Relationship Id="rId3" Type="http://schemas.openxmlformats.org/officeDocument/2006/relationships/slideLayout" Target="../slideLayouts/slideLayout448.xml"/><Relationship Id="rId7" Type="http://schemas.openxmlformats.org/officeDocument/2006/relationships/slideLayout" Target="../slideLayouts/slideLayout452.xml"/><Relationship Id="rId12" Type="http://schemas.openxmlformats.org/officeDocument/2006/relationships/slideLayout" Target="../slideLayouts/slideLayout457.xml"/><Relationship Id="rId2" Type="http://schemas.openxmlformats.org/officeDocument/2006/relationships/slideLayout" Target="../slideLayouts/slideLayout447.xml"/><Relationship Id="rId1" Type="http://schemas.openxmlformats.org/officeDocument/2006/relationships/slideLayout" Target="../slideLayouts/slideLayout446.xml"/><Relationship Id="rId6" Type="http://schemas.openxmlformats.org/officeDocument/2006/relationships/slideLayout" Target="../slideLayouts/slideLayout451.xml"/><Relationship Id="rId11" Type="http://schemas.openxmlformats.org/officeDocument/2006/relationships/slideLayout" Target="../slideLayouts/slideLayout456.xml"/><Relationship Id="rId5" Type="http://schemas.openxmlformats.org/officeDocument/2006/relationships/slideLayout" Target="../slideLayouts/slideLayout450.xml"/><Relationship Id="rId15" Type="http://schemas.openxmlformats.org/officeDocument/2006/relationships/theme" Target="../theme/theme33.xml"/><Relationship Id="rId10" Type="http://schemas.openxmlformats.org/officeDocument/2006/relationships/slideLayout" Target="../slideLayouts/slideLayout455.xml"/><Relationship Id="rId4" Type="http://schemas.openxmlformats.org/officeDocument/2006/relationships/slideLayout" Target="../slideLayouts/slideLayout449.xml"/><Relationship Id="rId9" Type="http://schemas.openxmlformats.org/officeDocument/2006/relationships/slideLayout" Target="../slideLayouts/slideLayout454.xml"/><Relationship Id="rId14" Type="http://schemas.openxmlformats.org/officeDocument/2006/relationships/slideLayout" Target="../slideLayouts/slideLayout459.xml"/></Relationships>
</file>

<file path=ppt/slideMasters/_rels/slideMaster3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7.xml"/><Relationship Id="rId13" Type="http://schemas.openxmlformats.org/officeDocument/2006/relationships/slideLayout" Target="../slideLayouts/slideLayout472.xml"/><Relationship Id="rId3" Type="http://schemas.openxmlformats.org/officeDocument/2006/relationships/slideLayout" Target="../slideLayouts/slideLayout462.xml"/><Relationship Id="rId7" Type="http://schemas.openxmlformats.org/officeDocument/2006/relationships/slideLayout" Target="../slideLayouts/slideLayout466.xml"/><Relationship Id="rId12" Type="http://schemas.openxmlformats.org/officeDocument/2006/relationships/slideLayout" Target="../slideLayouts/slideLayout471.xml"/><Relationship Id="rId2" Type="http://schemas.openxmlformats.org/officeDocument/2006/relationships/slideLayout" Target="../slideLayouts/slideLayout461.xml"/><Relationship Id="rId1" Type="http://schemas.openxmlformats.org/officeDocument/2006/relationships/slideLayout" Target="../slideLayouts/slideLayout460.xml"/><Relationship Id="rId6" Type="http://schemas.openxmlformats.org/officeDocument/2006/relationships/slideLayout" Target="../slideLayouts/slideLayout465.xml"/><Relationship Id="rId11" Type="http://schemas.openxmlformats.org/officeDocument/2006/relationships/slideLayout" Target="../slideLayouts/slideLayout470.xml"/><Relationship Id="rId5" Type="http://schemas.openxmlformats.org/officeDocument/2006/relationships/slideLayout" Target="../slideLayouts/slideLayout464.xml"/><Relationship Id="rId15" Type="http://schemas.openxmlformats.org/officeDocument/2006/relationships/theme" Target="../theme/theme34.xml"/><Relationship Id="rId10" Type="http://schemas.openxmlformats.org/officeDocument/2006/relationships/slideLayout" Target="../slideLayouts/slideLayout469.xml"/><Relationship Id="rId4" Type="http://schemas.openxmlformats.org/officeDocument/2006/relationships/slideLayout" Target="../slideLayouts/slideLayout463.xml"/><Relationship Id="rId9" Type="http://schemas.openxmlformats.org/officeDocument/2006/relationships/slideLayout" Target="../slideLayouts/slideLayout468.xml"/><Relationship Id="rId14" Type="http://schemas.openxmlformats.org/officeDocument/2006/relationships/slideLayout" Target="../slideLayouts/slideLayout473.xml"/></Relationships>
</file>

<file path=ppt/slideMasters/_rels/slideMaster3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1.xml"/><Relationship Id="rId13" Type="http://schemas.openxmlformats.org/officeDocument/2006/relationships/slideLayout" Target="../slideLayouts/slideLayout486.xml"/><Relationship Id="rId3" Type="http://schemas.openxmlformats.org/officeDocument/2006/relationships/slideLayout" Target="../slideLayouts/slideLayout476.xml"/><Relationship Id="rId7" Type="http://schemas.openxmlformats.org/officeDocument/2006/relationships/slideLayout" Target="../slideLayouts/slideLayout480.xml"/><Relationship Id="rId12" Type="http://schemas.openxmlformats.org/officeDocument/2006/relationships/slideLayout" Target="../slideLayouts/slideLayout485.xml"/><Relationship Id="rId2" Type="http://schemas.openxmlformats.org/officeDocument/2006/relationships/slideLayout" Target="../slideLayouts/slideLayout475.xml"/><Relationship Id="rId1" Type="http://schemas.openxmlformats.org/officeDocument/2006/relationships/slideLayout" Target="../slideLayouts/slideLayout474.xml"/><Relationship Id="rId6" Type="http://schemas.openxmlformats.org/officeDocument/2006/relationships/slideLayout" Target="../slideLayouts/slideLayout479.xml"/><Relationship Id="rId11" Type="http://schemas.openxmlformats.org/officeDocument/2006/relationships/slideLayout" Target="../slideLayouts/slideLayout484.xml"/><Relationship Id="rId5" Type="http://schemas.openxmlformats.org/officeDocument/2006/relationships/slideLayout" Target="../slideLayouts/slideLayout478.xml"/><Relationship Id="rId15" Type="http://schemas.openxmlformats.org/officeDocument/2006/relationships/theme" Target="../theme/theme35.xml"/><Relationship Id="rId10" Type="http://schemas.openxmlformats.org/officeDocument/2006/relationships/slideLayout" Target="../slideLayouts/slideLayout483.xml"/><Relationship Id="rId4" Type="http://schemas.openxmlformats.org/officeDocument/2006/relationships/slideLayout" Target="../slideLayouts/slideLayout477.xml"/><Relationship Id="rId9" Type="http://schemas.openxmlformats.org/officeDocument/2006/relationships/slideLayout" Target="../slideLayouts/slideLayout482.xml"/><Relationship Id="rId14" Type="http://schemas.openxmlformats.org/officeDocument/2006/relationships/slideLayout" Target="../slideLayouts/slideLayout487.xml"/></Relationships>
</file>

<file path=ppt/slideMasters/_rels/slideMaster3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5.xml"/><Relationship Id="rId13" Type="http://schemas.openxmlformats.org/officeDocument/2006/relationships/slideLayout" Target="../slideLayouts/slideLayout500.xml"/><Relationship Id="rId3" Type="http://schemas.openxmlformats.org/officeDocument/2006/relationships/slideLayout" Target="../slideLayouts/slideLayout490.xml"/><Relationship Id="rId7" Type="http://schemas.openxmlformats.org/officeDocument/2006/relationships/slideLayout" Target="../slideLayouts/slideLayout494.xml"/><Relationship Id="rId12" Type="http://schemas.openxmlformats.org/officeDocument/2006/relationships/slideLayout" Target="../slideLayouts/slideLayout499.xml"/><Relationship Id="rId2" Type="http://schemas.openxmlformats.org/officeDocument/2006/relationships/slideLayout" Target="../slideLayouts/slideLayout489.xml"/><Relationship Id="rId1" Type="http://schemas.openxmlformats.org/officeDocument/2006/relationships/slideLayout" Target="../slideLayouts/slideLayout488.xml"/><Relationship Id="rId6" Type="http://schemas.openxmlformats.org/officeDocument/2006/relationships/slideLayout" Target="../slideLayouts/slideLayout493.xml"/><Relationship Id="rId11" Type="http://schemas.openxmlformats.org/officeDocument/2006/relationships/slideLayout" Target="../slideLayouts/slideLayout498.xml"/><Relationship Id="rId5" Type="http://schemas.openxmlformats.org/officeDocument/2006/relationships/slideLayout" Target="../slideLayouts/slideLayout492.xml"/><Relationship Id="rId15" Type="http://schemas.openxmlformats.org/officeDocument/2006/relationships/theme" Target="../theme/theme36.xml"/><Relationship Id="rId10" Type="http://schemas.openxmlformats.org/officeDocument/2006/relationships/slideLayout" Target="../slideLayouts/slideLayout497.xml"/><Relationship Id="rId4" Type="http://schemas.openxmlformats.org/officeDocument/2006/relationships/slideLayout" Target="../slideLayouts/slideLayout491.xml"/><Relationship Id="rId9" Type="http://schemas.openxmlformats.org/officeDocument/2006/relationships/slideLayout" Target="../slideLayouts/slideLayout496.xml"/><Relationship Id="rId14" Type="http://schemas.openxmlformats.org/officeDocument/2006/relationships/slideLayout" Target="../slideLayouts/slideLayout501.xml"/></Relationships>
</file>

<file path=ppt/slideMasters/_rels/slideMaster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9.xml"/><Relationship Id="rId13" Type="http://schemas.openxmlformats.org/officeDocument/2006/relationships/slideLayout" Target="../slideLayouts/slideLayout514.xml"/><Relationship Id="rId3" Type="http://schemas.openxmlformats.org/officeDocument/2006/relationships/slideLayout" Target="../slideLayouts/slideLayout504.xml"/><Relationship Id="rId7" Type="http://schemas.openxmlformats.org/officeDocument/2006/relationships/slideLayout" Target="../slideLayouts/slideLayout508.xml"/><Relationship Id="rId12" Type="http://schemas.openxmlformats.org/officeDocument/2006/relationships/slideLayout" Target="../slideLayouts/slideLayout513.xml"/><Relationship Id="rId2" Type="http://schemas.openxmlformats.org/officeDocument/2006/relationships/slideLayout" Target="../slideLayouts/slideLayout503.xml"/><Relationship Id="rId1" Type="http://schemas.openxmlformats.org/officeDocument/2006/relationships/slideLayout" Target="../slideLayouts/slideLayout502.xml"/><Relationship Id="rId6" Type="http://schemas.openxmlformats.org/officeDocument/2006/relationships/slideLayout" Target="../slideLayouts/slideLayout507.xml"/><Relationship Id="rId11" Type="http://schemas.openxmlformats.org/officeDocument/2006/relationships/slideLayout" Target="../slideLayouts/slideLayout512.xml"/><Relationship Id="rId5" Type="http://schemas.openxmlformats.org/officeDocument/2006/relationships/slideLayout" Target="../slideLayouts/slideLayout506.xml"/><Relationship Id="rId15" Type="http://schemas.openxmlformats.org/officeDocument/2006/relationships/theme" Target="../theme/theme37.xml"/><Relationship Id="rId10" Type="http://schemas.openxmlformats.org/officeDocument/2006/relationships/slideLayout" Target="../slideLayouts/slideLayout511.xml"/><Relationship Id="rId4" Type="http://schemas.openxmlformats.org/officeDocument/2006/relationships/slideLayout" Target="../slideLayouts/slideLayout505.xml"/><Relationship Id="rId9" Type="http://schemas.openxmlformats.org/officeDocument/2006/relationships/slideLayout" Target="../slideLayouts/slideLayout510.xml"/><Relationship Id="rId14" Type="http://schemas.openxmlformats.org/officeDocument/2006/relationships/slideLayout" Target="../slideLayouts/slideLayout515.xml"/></Relationships>
</file>

<file path=ppt/slideMasters/_rels/slideMaster3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3.xml"/><Relationship Id="rId13" Type="http://schemas.openxmlformats.org/officeDocument/2006/relationships/slideLayout" Target="../slideLayouts/slideLayout528.xml"/><Relationship Id="rId3" Type="http://schemas.openxmlformats.org/officeDocument/2006/relationships/slideLayout" Target="../slideLayouts/slideLayout518.xml"/><Relationship Id="rId7" Type="http://schemas.openxmlformats.org/officeDocument/2006/relationships/slideLayout" Target="../slideLayouts/slideLayout522.xml"/><Relationship Id="rId12" Type="http://schemas.openxmlformats.org/officeDocument/2006/relationships/slideLayout" Target="../slideLayouts/slideLayout527.xml"/><Relationship Id="rId2" Type="http://schemas.openxmlformats.org/officeDocument/2006/relationships/slideLayout" Target="../slideLayouts/slideLayout517.xml"/><Relationship Id="rId1" Type="http://schemas.openxmlformats.org/officeDocument/2006/relationships/slideLayout" Target="../slideLayouts/slideLayout516.xml"/><Relationship Id="rId6" Type="http://schemas.openxmlformats.org/officeDocument/2006/relationships/slideLayout" Target="../slideLayouts/slideLayout521.xml"/><Relationship Id="rId11" Type="http://schemas.openxmlformats.org/officeDocument/2006/relationships/slideLayout" Target="../slideLayouts/slideLayout526.xml"/><Relationship Id="rId5" Type="http://schemas.openxmlformats.org/officeDocument/2006/relationships/slideLayout" Target="../slideLayouts/slideLayout520.xml"/><Relationship Id="rId15" Type="http://schemas.openxmlformats.org/officeDocument/2006/relationships/theme" Target="../theme/theme38.xml"/><Relationship Id="rId10" Type="http://schemas.openxmlformats.org/officeDocument/2006/relationships/slideLayout" Target="../slideLayouts/slideLayout525.xml"/><Relationship Id="rId4" Type="http://schemas.openxmlformats.org/officeDocument/2006/relationships/slideLayout" Target="../slideLayouts/slideLayout519.xml"/><Relationship Id="rId9" Type="http://schemas.openxmlformats.org/officeDocument/2006/relationships/slideLayout" Target="../slideLayouts/slideLayout524.xml"/><Relationship Id="rId14" Type="http://schemas.openxmlformats.org/officeDocument/2006/relationships/slideLayout" Target="../slideLayouts/slideLayout529.xml"/></Relationships>
</file>

<file path=ppt/slideMasters/_rels/slideMaster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7.xml"/><Relationship Id="rId13" Type="http://schemas.openxmlformats.org/officeDocument/2006/relationships/slideLayout" Target="../slideLayouts/slideLayout542.xml"/><Relationship Id="rId3" Type="http://schemas.openxmlformats.org/officeDocument/2006/relationships/slideLayout" Target="../slideLayouts/slideLayout532.xml"/><Relationship Id="rId7" Type="http://schemas.openxmlformats.org/officeDocument/2006/relationships/slideLayout" Target="../slideLayouts/slideLayout536.xml"/><Relationship Id="rId12" Type="http://schemas.openxmlformats.org/officeDocument/2006/relationships/slideLayout" Target="../slideLayouts/slideLayout541.xml"/><Relationship Id="rId2" Type="http://schemas.openxmlformats.org/officeDocument/2006/relationships/slideLayout" Target="../slideLayouts/slideLayout531.xml"/><Relationship Id="rId1" Type="http://schemas.openxmlformats.org/officeDocument/2006/relationships/slideLayout" Target="../slideLayouts/slideLayout530.xml"/><Relationship Id="rId6" Type="http://schemas.openxmlformats.org/officeDocument/2006/relationships/slideLayout" Target="../slideLayouts/slideLayout535.xml"/><Relationship Id="rId11" Type="http://schemas.openxmlformats.org/officeDocument/2006/relationships/slideLayout" Target="../slideLayouts/slideLayout540.xml"/><Relationship Id="rId5" Type="http://schemas.openxmlformats.org/officeDocument/2006/relationships/slideLayout" Target="../slideLayouts/slideLayout534.xml"/><Relationship Id="rId15" Type="http://schemas.openxmlformats.org/officeDocument/2006/relationships/theme" Target="../theme/theme39.xml"/><Relationship Id="rId10" Type="http://schemas.openxmlformats.org/officeDocument/2006/relationships/slideLayout" Target="../slideLayouts/slideLayout539.xml"/><Relationship Id="rId4" Type="http://schemas.openxmlformats.org/officeDocument/2006/relationships/slideLayout" Target="../slideLayouts/slideLayout533.xml"/><Relationship Id="rId9" Type="http://schemas.openxmlformats.org/officeDocument/2006/relationships/slideLayout" Target="../slideLayouts/slideLayout538.xml"/><Relationship Id="rId14" Type="http://schemas.openxmlformats.org/officeDocument/2006/relationships/slideLayout" Target="../slideLayouts/slideLayout543.xml"/></Relationships>
</file>

<file path=ppt/slideMasters/_rels/slideMaster4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1.xml"/><Relationship Id="rId13" Type="http://schemas.openxmlformats.org/officeDocument/2006/relationships/slideLayout" Target="../slideLayouts/slideLayout556.xml"/><Relationship Id="rId3" Type="http://schemas.openxmlformats.org/officeDocument/2006/relationships/slideLayout" Target="../slideLayouts/slideLayout546.xml"/><Relationship Id="rId7" Type="http://schemas.openxmlformats.org/officeDocument/2006/relationships/slideLayout" Target="../slideLayouts/slideLayout550.xml"/><Relationship Id="rId12" Type="http://schemas.openxmlformats.org/officeDocument/2006/relationships/slideLayout" Target="../slideLayouts/slideLayout555.xml"/><Relationship Id="rId2" Type="http://schemas.openxmlformats.org/officeDocument/2006/relationships/slideLayout" Target="../slideLayouts/slideLayout545.xml"/><Relationship Id="rId1" Type="http://schemas.openxmlformats.org/officeDocument/2006/relationships/slideLayout" Target="../slideLayouts/slideLayout544.xml"/><Relationship Id="rId6" Type="http://schemas.openxmlformats.org/officeDocument/2006/relationships/slideLayout" Target="../slideLayouts/slideLayout549.xml"/><Relationship Id="rId11" Type="http://schemas.openxmlformats.org/officeDocument/2006/relationships/slideLayout" Target="../slideLayouts/slideLayout554.xml"/><Relationship Id="rId5" Type="http://schemas.openxmlformats.org/officeDocument/2006/relationships/slideLayout" Target="../slideLayouts/slideLayout548.xml"/><Relationship Id="rId15" Type="http://schemas.openxmlformats.org/officeDocument/2006/relationships/theme" Target="../theme/theme40.xml"/><Relationship Id="rId10" Type="http://schemas.openxmlformats.org/officeDocument/2006/relationships/slideLayout" Target="../slideLayouts/slideLayout553.xml"/><Relationship Id="rId4" Type="http://schemas.openxmlformats.org/officeDocument/2006/relationships/slideLayout" Target="../slideLayouts/slideLayout547.xml"/><Relationship Id="rId9" Type="http://schemas.openxmlformats.org/officeDocument/2006/relationships/slideLayout" Target="../slideLayouts/slideLayout552.xml"/><Relationship Id="rId14" Type="http://schemas.openxmlformats.org/officeDocument/2006/relationships/slideLayout" Target="../slideLayouts/slideLayout55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E65D4-0113-4FF9-BAAA-4356C8B283CD}" type="datetimeFigureOut">
              <a:rPr lang="th-TH" smtClean="0"/>
              <a:pPr/>
              <a:t>11/03/62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AF712-E600-4D89-B3E6-1DE2445BDF2A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  <p:sldLayoutId id="2147483778" r:id="rId13"/>
    <p:sldLayoutId id="214748377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  <p:sldLayoutId id="2147483823" r:id="rId13"/>
    <p:sldLayoutId id="214748382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7" r:id="rId2"/>
    <p:sldLayoutId id="2147483858" r:id="rId3"/>
    <p:sldLayoutId id="2147483859" r:id="rId4"/>
    <p:sldLayoutId id="2147483860" r:id="rId5"/>
    <p:sldLayoutId id="2147483861" r:id="rId6"/>
    <p:sldLayoutId id="2147483862" r:id="rId7"/>
    <p:sldLayoutId id="2147483863" r:id="rId8"/>
    <p:sldLayoutId id="2147483864" r:id="rId9"/>
    <p:sldLayoutId id="2147483865" r:id="rId10"/>
    <p:sldLayoutId id="2147483866" r:id="rId11"/>
    <p:sldLayoutId id="2147483867" r:id="rId12"/>
    <p:sldLayoutId id="2147483868" r:id="rId13"/>
    <p:sldLayoutId id="214748386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7" r:id="rId2"/>
    <p:sldLayoutId id="2147483888" r:id="rId3"/>
    <p:sldLayoutId id="2147483889" r:id="rId4"/>
    <p:sldLayoutId id="2147483890" r:id="rId5"/>
    <p:sldLayoutId id="2147483891" r:id="rId6"/>
    <p:sldLayoutId id="2147483892" r:id="rId7"/>
    <p:sldLayoutId id="2147483893" r:id="rId8"/>
    <p:sldLayoutId id="2147483894" r:id="rId9"/>
    <p:sldLayoutId id="2147483895" r:id="rId10"/>
    <p:sldLayoutId id="2147483896" r:id="rId11"/>
    <p:sldLayoutId id="2147483897" r:id="rId12"/>
    <p:sldLayoutId id="2147483898" r:id="rId13"/>
    <p:sldLayoutId id="214748389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  <p:sldLayoutId id="2147483912" r:id="rId12"/>
    <p:sldLayoutId id="2147483913" r:id="rId13"/>
    <p:sldLayoutId id="214748391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6" r:id="rId1"/>
    <p:sldLayoutId id="2147483917" r:id="rId2"/>
    <p:sldLayoutId id="2147483918" r:id="rId3"/>
    <p:sldLayoutId id="2147483919" r:id="rId4"/>
    <p:sldLayoutId id="2147483920" r:id="rId5"/>
    <p:sldLayoutId id="2147483921" r:id="rId6"/>
    <p:sldLayoutId id="2147483922" r:id="rId7"/>
    <p:sldLayoutId id="2147483923" r:id="rId8"/>
    <p:sldLayoutId id="2147483924" r:id="rId9"/>
    <p:sldLayoutId id="2147483925" r:id="rId10"/>
    <p:sldLayoutId id="2147483926" r:id="rId11"/>
    <p:sldLayoutId id="2147483927" r:id="rId12"/>
    <p:sldLayoutId id="2147483928" r:id="rId13"/>
    <p:sldLayoutId id="214748392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  <p:sldLayoutId id="2147483932" r:id="rId2"/>
    <p:sldLayoutId id="2147483933" r:id="rId3"/>
    <p:sldLayoutId id="2147483934" r:id="rId4"/>
    <p:sldLayoutId id="2147483935" r:id="rId5"/>
    <p:sldLayoutId id="2147483936" r:id="rId6"/>
    <p:sldLayoutId id="2147483937" r:id="rId7"/>
    <p:sldLayoutId id="2147483938" r:id="rId8"/>
    <p:sldLayoutId id="2147483939" r:id="rId9"/>
    <p:sldLayoutId id="2147483940" r:id="rId10"/>
    <p:sldLayoutId id="2147483941" r:id="rId11"/>
    <p:sldLayoutId id="2147483942" r:id="rId12"/>
    <p:sldLayoutId id="2147483943" r:id="rId13"/>
    <p:sldLayoutId id="214748394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  <p:sldLayoutId id="2147483958" r:id="rId13"/>
    <p:sldLayoutId id="214748395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1" r:id="rId1"/>
    <p:sldLayoutId id="2147483962" r:id="rId2"/>
    <p:sldLayoutId id="2147483963" r:id="rId3"/>
    <p:sldLayoutId id="2147483964" r:id="rId4"/>
    <p:sldLayoutId id="2147483965" r:id="rId5"/>
    <p:sldLayoutId id="2147483966" r:id="rId6"/>
    <p:sldLayoutId id="2147483967" r:id="rId7"/>
    <p:sldLayoutId id="2147483968" r:id="rId8"/>
    <p:sldLayoutId id="2147483969" r:id="rId9"/>
    <p:sldLayoutId id="2147483970" r:id="rId10"/>
    <p:sldLayoutId id="2147483971" r:id="rId11"/>
    <p:sldLayoutId id="2147483972" r:id="rId12"/>
    <p:sldLayoutId id="2147483973" r:id="rId13"/>
    <p:sldLayoutId id="214748397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  <p:sldLayoutId id="2147483977" r:id="rId2"/>
    <p:sldLayoutId id="2147483978" r:id="rId3"/>
    <p:sldLayoutId id="2147483979" r:id="rId4"/>
    <p:sldLayoutId id="2147483980" r:id="rId5"/>
    <p:sldLayoutId id="2147483981" r:id="rId6"/>
    <p:sldLayoutId id="2147483982" r:id="rId7"/>
    <p:sldLayoutId id="2147483983" r:id="rId8"/>
    <p:sldLayoutId id="2147483984" r:id="rId9"/>
    <p:sldLayoutId id="2147483985" r:id="rId10"/>
    <p:sldLayoutId id="2147483986" r:id="rId11"/>
    <p:sldLayoutId id="2147483987" r:id="rId12"/>
    <p:sldLayoutId id="2147483988" r:id="rId13"/>
    <p:sldLayoutId id="214748398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  <p:sldLayoutId id="2147484003" r:id="rId13"/>
    <p:sldLayoutId id="214748400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  <p:sldLayoutId id="2147484025" r:id="rId5"/>
    <p:sldLayoutId id="2147484026" r:id="rId6"/>
    <p:sldLayoutId id="2147484027" r:id="rId7"/>
    <p:sldLayoutId id="2147484028" r:id="rId8"/>
    <p:sldLayoutId id="2147484029" r:id="rId9"/>
    <p:sldLayoutId id="2147484030" r:id="rId10"/>
    <p:sldLayoutId id="2147484031" r:id="rId11"/>
    <p:sldLayoutId id="2147484032" r:id="rId12"/>
    <p:sldLayoutId id="2147484033" r:id="rId13"/>
    <p:sldLayoutId id="214748403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7" r:id="rId12"/>
    <p:sldLayoutId id="2147484048" r:id="rId13"/>
    <p:sldLayoutId id="214748404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1" r:id="rId1"/>
    <p:sldLayoutId id="2147484052" r:id="rId2"/>
    <p:sldLayoutId id="2147484053" r:id="rId3"/>
    <p:sldLayoutId id="2147484054" r:id="rId4"/>
    <p:sldLayoutId id="2147484055" r:id="rId5"/>
    <p:sldLayoutId id="2147484056" r:id="rId6"/>
    <p:sldLayoutId id="2147484057" r:id="rId7"/>
    <p:sldLayoutId id="2147484058" r:id="rId8"/>
    <p:sldLayoutId id="2147484059" r:id="rId9"/>
    <p:sldLayoutId id="2147484060" r:id="rId10"/>
    <p:sldLayoutId id="2147484061" r:id="rId11"/>
    <p:sldLayoutId id="2147484062" r:id="rId12"/>
    <p:sldLayoutId id="2147484063" r:id="rId13"/>
    <p:sldLayoutId id="214748406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66" r:id="rId1"/>
    <p:sldLayoutId id="2147484067" r:id="rId2"/>
    <p:sldLayoutId id="2147484068" r:id="rId3"/>
    <p:sldLayoutId id="2147484069" r:id="rId4"/>
    <p:sldLayoutId id="2147484070" r:id="rId5"/>
    <p:sldLayoutId id="2147484071" r:id="rId6"/>
    <p:sldLayoutId id="2147484072" r:id="rId7"/>
    <p:sldLayoutId id="2147484073" r:id="rId8"/>
    <p:sldLayoutId id="2147484074" r:id="rId9"/>
    <p:sldLayoutId id="2147484075" r:id="rId10"/>
    <p:sldLayoutId id="2147484076" r:id="rId11"/>
    <p:sldLayoutId id="2147484077" r:id="rId12"/>
    <p:sldLayoutId id="2147484078" r:id="rId13"/>
    <p:sldLayoutId id="214748407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  <p:sldLayoutId id="2147484092" r:id="rId12"/>
    <p:sldLayoutId id="2147484093" r:id="rId13"/>
    <p:sldLayoutId id="214748409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  <p:sldLayoutId id="2147484107" r:id="rId12"/>
    <p:sldLayoutId id="2147484108" r:id="rId13"/>
    <p:sldLayoutId id="214748410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11" r:id="rId1"/>
    <p:sldLayoutId id="2147484112" r:id="rId2"/>
    <p:sldLayoutId id="2147484113" r:id="rId3"/>
    <p:sldLayoutId id="2147484114" r:id="rId4"/>
    <p:sldLayoutId id="2147484115" r:id="rId5"/>
    <p:sldLayoutId id="2147484116" r:id="rId6"/>
    <p:sldLayoutId id="2147484117" r:id="rId7"/>
    <p:sldLayoutId id="2147484118" r:id="rId8"/>
    <p:sldLayoutId id="2147484119" r:id="rId9"/>
    <p:sldLayoutId id="2147484120" r:id="rId10"/>
    <p:sldLayoutId id="2147484121" r:id="rId11"/>
    <p:sldLayoutId id="2147484122" r:id="rId12"/>
    <p:sldLayoutId id="2147484123" r:id="rId13"/>
    <p:sldLayoutId id="214748412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6" r:id="rId1"/>
    <p:sldLayoutId id="2147484127" r:id="rId2"/>
    <p:sldLayoutId id="2147484128" r:id="rId3"/>
    <p:sldLayoutId id="2147484129" r:id="rId4"/>
    <p:sldLayoutId id="2147484130" r:id="rId5"/>
    <p:sldLayoutId id="2147484131" r:id="rId6"/>
    <p:sldLayoutId id="2147484132" r:id="rId7"/>
    <p:sldLayoutId id="2147484133" r:id="rId8"/>
    <p:sldLayoutId id="2147484134" r:id="rId9"/>
    <p:sldLayoutId id="2147484135" r:id="rId10"/>
    <p:sldLayoutId id="2147484136" r:id="rId11"/>
    <p:sldLayoutId id="2147484137" r:id="rId12"/>
    <p:sldLayoutId id="2147484138" r:id="rId13"/>
    <p:sldLayoutId id="214748413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44" r:id="rId4"/>
    <p:sldLayoutId id="2147484145" r:id="rId5"/>
    <p:sldLayoutId id="2147484146" r:id="rId6"/>
    <p:sldLayoutId id="2147484147" r:id="rId7"/>
    <p:sldLayoutId id="2147484148" r:id="rId8"/>
    <p:sldLayoutId id="2147484149" r:id="rId9"/>
    <p:sldLayoutId id="2147484150" r:id="rId10"/>
    <p:sldLayoutId id="2147484151" r:id="rId11"/>
    <p:sldLayoutId id="2147484152" r:id="rId12"/>
    <p:sldLayoutId id="2147484153" r:id="rId13"/>
    <p:sldLayoutId id="214748415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6" r:id="rId1"/>
    <p:sldLayoutId id="2147484157" r:id="rId2"/>
    <p:sldLayoutId id="2147484158" r:id="rId3"/>
    <p:sldLayoutId id="2147484159" r:id="rId4"/>
    <p:sldLayoutId id="2147484160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  <p:sldLayoutId id="2147484167" r:id="rId12"/>
    <p:sldLayoutId id="2147484168" r:id="rId13"/>
    <p:sldLayoutId id="214748416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198" r:id="rId13"/>
    <p:sldLayoutId id="214748419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1" r:id="rId1"/>
    <p:sldLayoutId id="2147484202" r:id="rId2"/>
    <p:sldLayoutId id="2147484203" r:id="rId3"/>
    <p:sldLayoutId id="2147484204" r:id="rId4"/>
    <p:sldLayoutId id="2147484205" r:id="rId5"/>
    <p:sldLayoutId id="2147484206" r:id="rId6"/>
    <p:sldLayoutId id="2147484207" r:id="rId7"/>
    <p:sldLayoutId id="2147484208" r:id="rId8"/>
    <p:sldLayoutId id="2147484209" r:id="rId9"/>
    <p:sldLayoutId id="2147484210" r:id="rId10"/>
    <p:sldLayoutId id="2147484211" r:id="rId11"/>
    <p:sldLayoutId id="2147484212" r:id="rId12"/>
    <p:sldLayoutId id="2147484213" r:id="rId13"/>
    <p:sldLayoutId id="214748421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6" r:id="rId1"/>
    <p:sldLayoutId id="2147484217" r:id="rId2"/>
    <p:sldLayoutId id="2147484218" r:id="rId3"/>
    <p:sldLayoutId id="2147484219" r:id="rId4"/>
    <p:sldLayoutId id="2147484220" r:id="rId5"/>
    <p:sldLayoutId id="2147484221" r:id="rId6"/>
    <p:sldLayoutId id="2147484222" r:id="rId7"/>
    <p:sldLayoutId id="2147484223" r:id="rId8"/>
    <p:sldLayoutId id="2147484224" r:id="rId9"/>
    <p:sldLayoutId id="2147484225" r:id="rId10"/>
    <p:sldLayoutId id="2147484226" r:id="rId11"/>
    <p:sldLayoutId id="2147484227" r:id="rId12"/>
    <p:sldLayoutId id="2147484228" r:id="rId13"/>
    <p:sldLayoutId id="2147484229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title style</a:t>
            </a:r>
          </a:p>
        </p:txBody>
      </p:sp>
      <p:sp>
        <p:nvSpPr>
          <p:cNvPr id="173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 smtClean="0"/>
              <a:t>Click to edit Master text styles</a:t>
            </a:r>
          </a:p>
          <a:p>
            <a:pPr lvl="1"/>
            <a:r>
              <a:rPr lang="th-TH" smtClean="0"/>
              <a:t>Second level</a:t>
            </a:r>
          </a:p>
          <a:p>
            <a:pPr lvl="2"/>
            <a:r>
              <a:rPr lang="th-TH" smtClean="0"/>
              <a:t>Third level</a:t>
            </a:r>
          </a:p>
          <a:p>
            <a:pPr lvl="3"/>
            <a:r>
              <a:rPr lang="th-TH" smtClean="0"/>
              <a:t>Fourth level</a:t>
            </a:r>
          </a:p>
          <a:p>
            <a:pPr lvl="4"/>
            <a:r>
              <a:rPr lang="th-TH" smtClean="0"/>
              <a:t>Fifth level</a:t>
            </a:r>
          </a:p>
        </p:txBody>
      </p:sp>
      <p:sp>
        <p:nvSpPr>
          <p:cNvPr id="17306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</a:endParaRPr>
          </a:p>
        </p:txBody>
      </p:sp>
      <p:sp>
        <p:nvSpPr>
          <p:cNvPr id="173063" name="Rectangle 7"/>
          <p:cNvSpPr>
            <a:spLocks noChangeArrowheads="1"/>
          </p:cNvSpPr>
          <p:nvPr/>
        </p:nvSpPr>
        <p:spPr bwMode="auto">
          <a:xfrm>
            <a:off x="6948488" y="6643688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Page .</a:t>
            </a:r>
            <a:fld id="{1CE9B720-3781-4118-BC0D-AA603F02F598}" type="slidenum">
              <a:rPr lang="en-US" sz="1200" smtClean="0">
                <a:solidFill>
                  <a:srgbClr val="000000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  <p:sldLayoutId id="2147484242" r:id="rId12"/>
    <p:sldLayoutId id="2147484243" r:id="rId13"/>
    <p:sldLayoutId id="2147484244" r:id="rId14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cs typeface="Angsana New" pitchFamily="18" charset="-34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2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4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6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0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6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7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0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8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1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3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5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4738" name="Picture 2"/>
          <p:cNvPicPr>
            <a:picLocks noChangeAspect="1" noChangeArrowheads="1"/>
          </p:cNvPicPr>
          <p:nvPr/>
        </p:nvPicPr>
        <p:blipFill>
          <a:blip r:embed="rId2" cstate="print"/>
          <a:srcRect l="27637" t="14063" r="14558" b="68489"/>
          <a:stretch>
            <a:fillRect/>
          </a:stretch>
        </p:blipFill>
        <p:spPr bwMode="auto">
          <a:xfrm>
            <a:off x="19050" y="4941888"/>
            <a:ext cx="9124950" cy="1873250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323850" y="1052513"/>
            <a:ext cx="8569325" cy="2447925"/>
          </a:xfrm>
          <a:prstGeom prst="rect">
            <a:avLst/>
          </a:prstGeom>
          <a:noFill/>
          <a:ln w="57150" algn="ctr">
            <a:solidFill>
              <a:srgbClr val="0000FF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80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MS PGothic" pitchFamily="34" charset="-128"/>
              </a:rPr>
              <a:t>งานมาตรฐาน </a:t>
            </a:r>
            <a:endParaRPr lang="en-US" altLang="ja-JP" sz="80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MS PGothic" pitchFamily="34" charset="-128"/>
            </a:endParaRPr>
          </a:p>
        </p:txBody>
      </p:sp>
      <p:sp>
        <p:nvSpPr>
          <p:cNvPr id="2164740" name="Rectangle 4"/>
          <p:cNvSpPr>
            <a:spLocks noChangeArrowheads="1"/>
          </p:cNvSpPr>
          <p:nvPr/>
        </p:nvSpPr>
        <p:spPr bwMode="auto">
          <a:xfrm>
            <a:off x="0" y="3589338"/>
            <a:ext cx="89789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2075" tIns="46038" rIns="92075" bIns="46038">
            <a:spAutoFit/>
          </a:bodyPr>
          <a:lstStyle/>
          <a:p>
            <a:pPr algn="ctr" defTabSz="762000" fontAlgn="base">
              <a:spcBef>
                <a:spcPct val="50000"/>
              </a:spcBef>
              <a:spcAft>
                <a:spcPct val="0"/>
              </a:spcAft>
            </a:pPr>
            <a:r>
              <a:rPr lang="en-US" sz="1800" b="1">
                <a:solidFill>
                  <a:srgbClr val="333399"/>
                </a:solidFill>
                <a:ea typeface="Arial Unicode MS" pitchFamily="34" charset="-128"/>
                <a:cs typeface="Arial" pitchFamily="34" charset="0"/>
              </a:rPr>
              <a:t>Standardized Work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 bwMode="auto">
          <a:xfrm>
            <a:off x="1071538" y="2143116"/>
            <a:ext cx="4286280" cy="857256"/>
          </a:xfrm>
          <a:prstGeom prst="rect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ngsana New" pitchFamily="18" charset="-34"/>
            </a:endParaRPr>
          </a:p>
        </p:txBody>
      </p:sp>
      <p:sp>
        <p:nvSpPr>
          <p:cNvPr id="2017282" name="Rectangle 2"/>
          <p:cNvSpPr>
            <a:spLocks noChangeArrowheads="1"/>
          </p:cNvSpPr>
          <p:nvPr/>
        </p:nvSpPr>
        <p:spPr bwMode="auto">
          <a:xfrm>
            <a:off x="0" y="152400"/>
            <a:ext cx="6858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5400" b="1">
              <a:solidFill>
                <a:srgbClr val="000000"/>
              </a:solidFill>
              <a:latin typeface="Times New Roman" pitchFamily="18" charset="0"/>
              <a:cs typeface="DilleniaUPC" pitchFamily="18" charset="-34"/>
            </a:endParaRPr>
          </a:p>
        </p:txBody>
      </p:sp>
      <p:sp>
        <p:nvSpPr>
          <p:cNvPr id="2017283" name="Line 3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17284" name="Text Box 4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17286" name="Text Box 6"/>
          <p:cNvSpPr txBox="1">
            <a:spLocks noChangeArrowheads="1"/>
          </p:cNvSpPr>
          <p:nvPr/>
        </p:nvSpPr>
        <p:spPr bwMode="auto">
          <a:xfrm>
            <a:off x="179388" y="1268413"/>
            <a:ext cx="4608512" cy="57943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ngsana New" pitchFamily="18" charset="-34"/>
              </a:rPr>
              <a:t>งานมาตรฐาน</a:t>
            </a:r>
            <a:endParaRPr lang="en-US" sz="32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ngsana New" pitchFamily="18" charset="-34"/>
            </a:endParaRPr>
          </a:p>
        </p:txBody>
      </p:sp>
      <p:sp>
        <p:nvSpPr>
          <p:cNvPr id="2017287" name="Text Box 7"/>
          <p:cNvSpPr txBox="1">
            <a:spLocks noChangeArrowheads="1"/>
          </p:cNvSpPr>
          <p:nvPr/>
        </p:nvSpPr>
        <p:spPr bwMode="auto">
          <a:xfrm>
            <a:off x="1835150" y="1484313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Standardized Work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17288" name="Text Box 8"/>
          <p:cNvSpPr txBox="1">
            <a:spLocks noChangeArrowheads="1"/>
          </p:cNvSpPr>
          <p:nvPr/>
        </p:nvSpPr>
        <p:spPr bwMode="auto">
          <a:xfrm>
            <a:off x="1095375" y="2271713"/>
            <a:ext cx="20177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1)</a:t>
            </a: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ตารางจับเวลา</a:t>
            </a:r>
          </a:p>
        </p:txBody>
      </p:sp>
      <p:sp>
        <p:nvSpPr>
          <p:cNvPr id="2017289" name="Text Box 9"/>
          <p:cNvSpPr txBox="1">
            <a:spLocks noChangeArrowheads="1"/>
          </p:cNvSpPr>
          <p:nvPr/>
        </p:nvSpPr>
        <p:spPr bwMode="auto">
          <a:xfrm>
            <a:off x="1095375" y="3027363"/>
            <a:ext cx="40116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2)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เอกสารงานมาตรฐาน 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รายการ</a:t>
            </a:r>
          </a:p>
        </p:txBody>
      </p:sp>
      <p:sp>
        <p:nvSpPr>
          <p:cNvPr id="2017290" name="Text Box 10"/>
          <p:cNvSpPr txBox="1">
            <a:spLocks noChangeArrowheads="1"/>
          </p:cNvSpPr>
          <p:nvPr/>
        </p:nvSpPr>
        <p:spPr bwMode="auto">
          <a:xfrm>
            <a:off x="1095375" y="5762625"/>
            <a:ext cx="25241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แผนภาพภาระงาน</a:t>
            </a:r>
          </a:p>
        </p:txBody>
      </p:sp>
      <p:sp>
        <p:nvSpPr>
          <p:cNvPr id="2017291" name="Text Box 11"/>
          <p:cNvSpPr txBox="1">
            <a:spLocks noChangeArrowheads="1"/>
          </p:cNvSpPr>
          <p:nvPr/>
        </p:nvSpPr>
        <p:spPr bwMode="auto">
          <a:xfrm>
            <a:off x="1763713" y="3687763"/>
            <a:ext cx="60944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2.1)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ใบแสดงความสามารถในการทำงานของเครื่องจักร</a:t>
            </a:r>
          </a:p>
        </p:txBody>
      </p:sp>
      <p:sp>
        <p:nvSpPr>
          <p:cNvPr id="2017292" name="Text Box 12"/>
          <p:cNvSpPr txBox="1">
            <a:spLocks noChangeArrowheads="1"/>
          </p:cNvSpPr>
          <p:nvPr/>
        </p:nvSpPr>
        <p:spPr bwMode="auto">
          <a:xfrm>
            <a:off x="1763713" y="4314825"/>
            <a:ext cx="33289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2.2)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ตารางงานมาตรฐานผสม</a:t>
            </a:r>
          </a:p>
        </p:txBody>
      </p:sp>
      <p:sp>
        <p:nvSpPr>
          <p:cNvPr id="2017293" name="Text Box 13"/>
          <p:cNvSpPr txBox="1">
            <a:spLocks noChangeArrowheads="1"/>
          </p:cNvSpPr>
          <p:nvPr/>
        </p:nvSpPr>
        <p:spPr bwMode="auto">
          <a:xfrm>
            <a:off x="1763713" y="4949825"/>
            <a:ext cx="31289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2.3)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แผนภาพงานมาตรฐาน</a:t>
            </a:r>
          </a:p>
        </p:txBody>
      </p:sp>
      <p:sp>
        <p:nvSpPr>
          <p:cNvPr id="2017294" name="Text Box 14"/>
          <p:cNvSpPr txBox="1">
            <a:spLocks noChangeArrowheads="1"/>
          </p:cNvSpPr>
          <p:nvPr/>
        </p:nvSpPr>
        <p:spPr bwMode="auto">
          <a:xfrm>
            <a:off x="3081338" y="2471738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</a:rPr>
              <a:t>Time Measurement Sheet</a:t>
            </a:r>
            <a:endParaRPr lang="th-TH" sz="1200" b="1" dirty="0">
              <a:solidFill>
                <a:srgbClr val="000000"/>
              </a:solidFill>
            </a:endParaRPr>
          </a:p>
        </p:txBody>
      </p:sp>
      <p:sp>
        <p:nvSpPr>
          <p:cNvPr id="2017295" name="Text Box 15"/>
          <p:cNvSpPr txBox="1">
            <a:spLocks noChangeArrowheads="1"/>
          </p:cNvSpPr>
          <p:nvPr/>
        </p:nvSpPr>
        <p:spPr bwMode="auto">
          <a:xfrm>
            <a:off x="5076825" y="321310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3 Ten Set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17296" name="Text Box 16"/>
          <p:cNvSpPr txBox="1">
            <a:spLocks noChangeArrowheads="1"/>
          </p:cNvSpPr>
          <p:nvPr/>
        </p:nvSpPr>
        <p:spPr bwMode="auto">
          <a:xfrm>
            <a:off x="2266950" y="412750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Machine Capacity Sheet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7" name="Text Box 17"/>
          <p:cNvSpPr txBox="1">
            <a:spLocks noChangeArrowheads="1"/>
          </p:cNvSpPr>
          <p:nvPr/>
        </p:nvSpPr>
        <p:spPr bwMode="auto">
          <a:xfrm>
            <a:off x="2266950" y="4772025"/>
            <a:ext cx="29098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Combination Table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8" name="Text Box 18"/>
          <p:cNvSpPr txBox="1">
            <a:spLocks noChangeArrowheads="1"/>
          </p:cNvSpPr>
          <p:nvPr/>
        </p:nvSpPr>
        <p:spPr bwMode="auto">
          <a:xfrm>
            <a:off x="2266950" y="5411788"/>
            <a:ext cx="29098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Chart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9" name="Text Box 19"/>
          <p:cNvSpPr txBox="1">
            <a:spLocks noChangeArrowheads="1"/>
          </p:cNvSpPr>
          <p:nvPr/>
        </p:nvSpPr>
        <p:spPr bwMode="auto">
          <a:xfrm>
            <a:off x="3597275" y="593725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Yamazumi Chart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000100" y="2214554"/>
            <a:ext cx="4071966" cy="8572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1" i="0" u="none" strike="noStrike" cap="none" normalizeH="0" baseline="0" dirty="0" smtClean="0">
              <a:ln>
                <a:noFill/>
              </a:ln>
              <a:noFill/>
              <a:effectLst/>
              <a:latin typeface="Arial" pitchFamily="34" charset="0"/>
              <a:cs typeface="Angsana New" pitchFamily="18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30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124075" y="1341438"/>
            <a:ext cx="2087563" cy="215900"/>
          </a:xfrm>
        </p:spPr>
        <p:txBody>
          <a:bodyPr anchor="ctr"/>
          <a:lstStyle/>
          <a:p>
            <a:pPr>
              <a:lnSpc>
                <a:spcPct val="80000"/>
              </a:lnSpc>
              <a:spcBef>
                <a:spcPct val="50000"/>
              </a:spcBef>
              <a:buFontTx/>
              <a:buNone/>
            </a:pPr>
            <a:r>
              <a:rPr lang="en-US" sz="1200" b="1"/>
              <a:t>Time Measurement Sheet</a:t>
            </a:r>
            <a:r>
              <a:rPr lang="th-TH" sz="1200" b="1"/>
              <a:t> </a:t>
            </a:r>
          </a:p>
        </p:txBody>
      </p:sp>
      <p:sp>
        <p:nvSpPr>
          <p:cNvPr id="2018307" name="Rectangle 3"/>
          <p:cNvSpPr>
            <a:spLocks noChangeArrowheads="1"/>
          </p:cNvSpPr>
          <p:nvPr/>
        </p:nvSpPr>
        <p:spPr bwMode="auto">
          <a:xfrm>
            <a:off x="0" y="152400"/>
            <a:ext cx="6858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5400" b="1">
              <a:solidFill>
                <a:srgbClr val="000000"/>
              </a:solidFill>
              <a:latin typeface="Times New Roman" pitchFamily="18" charset="0"/>
              <a:cs typeface="DilleniaUPC" pitchFamily="18" charset="-34"/>
            </a:endParaRPr>
          </a:p>
        </p:txBody>
      </p:sp>
      <p:sp>
        <p:nvSpPr>
          <p:cNvPr id="2018308" name="Line 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18309" name="Text Box 5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18311" name="Text Box 7"/>
          <p:cNvSpPr txBox="1">
            <a:spLocks noChangeArrowheads="1"/>
          </p:cNvSpPr>
          <p:nvPr/>
        </p:nvSpPr>
        <p:spPr bwMode="auto">
          <a:xfrm>
            <a:off x="187325" y="1087438"/>
            <a:ext cx="20177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1)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ตารางจับเวลา</a:t>
            </a:r>
          </a:p>
        </p:txBody>
      </p:sp>
      <p:sp>
        <p:nvSpPr>
          <p:cNvPr id="2018312" name="Text Box 8"/>
          <p:cNvSpPr txBox="1">
            <a:spLocks noChangeArrowheads="1"/>
          </p:cNvSpPr>
          <p:nvPr/>
        </p:nvSpPr>
        <p:spPr bwMode="auto">
          <a:xfrm>
            <a:off x="5724525" y="1481138"/>
            <a:ext cx="2968625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1.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วันที่ทำการบันทึก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2.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ชื่อกระบวนการ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3.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รุ่นที่ทำการศึกษา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4.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ชื่อผู้ทำการบันทึก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5.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ลำดับงาน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6.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รายละเอียดของงาน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7.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เวลาที่วัดได้ </a:t>
            </a: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10 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ค่า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8.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ค่าต่ำสุดของเวลาทั้ง </a:t>
            </a: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10 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ค่า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9.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ค่าสูงสุดของเวลาทั้ง </a:t>
            </a: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10 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ค่า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10.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ค่าสูงสุดลบด้วยค่าต่ำสุด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11.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ค่าเฉลี่ยของเวลาทั้ง </a:t>
            </a: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10 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ค่า</a:t>
            </a:r>
          </a:p>
          <a:p>
            <a:pPr marL="533400" indent="-533400" fontAlgn="base">
              <a:lnSpc>
                <a:spcPct val="8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dirty="0">
                <a:solidFill>
                  <a:srgbClr val="000000"/>
                </a:solidFill>
                <a:latin typeface="Angsana New" pitchFamily="18" charset="-34"/>
              </a:rPr>
              <a:t>12.</a:t>
            </a:r>
            <a:r>
              <a:rPr lang="th-TH" sz="2200" dirty="0">
                <a:solidFill>
                  <a:srgbClr val="000000"/>
                </a:solidFill>
                <a:latin typeface="Angsana New" pitchFamily="18" charset="-34"/>
              </a:rPr>
              <a:t>ผลรวมในแนวดิ่งของตาราง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179388" y="1844675"/>
            <a:ext cx="5545137" cy="4670425"/>
            <a:chOff x="183" y="1162"/>
            <a:chExt cx="3740" cy="2942"/>
          </a:xfrm>
        </p:grpSpPr>
        <p:pic>
          <p:nvPicPr>
            <p:cNvPr id="20183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83" y="1162"/>
              <a:ext cx="3740" cy="2942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</p:spPr>
        </p:pic>
        <p:sp>
          <p:nvSpPr>
            <p:cNvPr id="2018315" name="Oval 6"/>
            <p:cNvSpPr>
              <a:spLocks noChangeArrowheads="1"/>
            </p:cNvSpPr>
            <p:nvPr/>
          </p:nvSpPr>
          <p:spPr bwMode="auto">
            <a:xfrm>
              <a:off x="657" y="1435"/>
              <a:ext cx="91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1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16" name="Oval 7"/>
            <p:cNvSpPr>
              <a:spLocks noChangeArrowheads="1"/>
            </p:cNvSpPr>
            <p:nvPr/>
          </p:nvSpPr>
          <p:spPr bwMode="auto">
            <a:xfrm>
              <a:off x="657" y="1559"/>
              <a:ext cx="91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2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17" name="Oval 8"/>
            <p:cNvSpPr>
              <a:spLocks noChangeArrowheads="1"/>
            </p:cNvSpPr>
            <p:nvPr/>
          </p:nvSpPr>
          <p:spPr bwMode="auto">
            <a:xfrm>
              <a:off x="657" y="1679"/>
              <a:ext cx="91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3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18" name="Oval 9"/>
            <p:cNvSpPr>
              <a:spLocks noChangeArrowheads="1"/>
            </p:cNvSpPr>
            <p:nvPr/>
          </p:nvSpPr>
          <p:spPr bwMode="auto">
            <a:xfrm>
              <a:off x="213" y="2051"/>
              <a:ext cx="91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5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19" name="Oval 10"/>
            <p:cNvSpPr>
              <a:spLocks noChangeArrowheads="1"/>
            </p:cNvSpPr>
            <p:nvPr/>
          </p:nvSpPr>
          <p:spPr bwMode="auto">
            <a:xfrm>
              <a:off x="3424" y="1570"/>
              <a:ext cx="91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4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20" name="Oval 11"/>
            <p:cNvSpPr>
              <a:spLocks noChangeArrowheads="1"/>
            </p:cNvSpPr>
            <p:nvPr/>
          </p:nvSpPr>
          <p:spPr bwMode="auto">
            <a:xfrm>
              <a:off x="531" y="2051"/>
              <a:ext cx="90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6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21" name="Oval 12"/>
            <p:cNvSpPr>
              <a:spLocks noChangeArrowheads="1"/>
            </p:cNvSpPr>
            <p:nvPr/>
          </p:nvSpPr>
          <p:spPr bwMode="auto">
            <a:xfrm>
              <a:off x="1991" y="1797"/>
              <a:ext cx="92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7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22" name="Oval 13"/>
            <p:cNvSpPr>
              <a:spLocks noChangeArrowheads="1"/>
            </p:cNvSpPr>
            <p:nvPr/>
          </p:nvSpPr>
          <p:spPr bwMode="auto">
            <a:xfrm>
              <a:off x="3080" y="1797"/>
              <a:ext cx="91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8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23" name="Oval 14"/>
            <p:cNvSpPr>
              <a:spLocks noChangeArrowheads="1"/>
            </p:cNvSpPr>
            <p:nvPr/>
          </p:nvSpPr>
          <p:spPr bwMode="auto">
            <a:xfrm>
              <a:off x="3315" y="1797"/>
              <a:ext cx="92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9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24" name="Oval 15"/>
            <p:cNvSpPr>
              <a:spLocks noChangeArrowheads="1"/>
            </p:cNvSpPr>
            <p:nvPr/>
          </p:nvSpPr>
          <p:spPr bwMode="auto">
            <a:xfrm>
              <a:off x="3533" y="1798"/>
              <a:ext cx="91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10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25" name="Oval 16"/>
            <p:cNvSpPr>
              <a:spLocks noChangeArrowheads="1"/>
            </p:cNvSpPr>
            <p:nvPr/>
          </p:nvSpPr>
          <p:spPr bwMode="auto">
            <a:xfrm>
              <a:off x="3743" y="1797"/>
              <a:ext cx="90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11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26" name="Oval 17"/>
            <p:cNvSpPr>
              <a:spLocks noChangeArrowheads="1"/>
            </p:cNvSpPr>
            <p:nvPr/>
          </p:nvSpPr>
          <p:spPr bwMode="auto">
            <a:xfrm>
              <a:off x="631" y="3947"/>
              <a:ext cx="90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  <a:sym typeface="Wingdings" pitchFamily="2" charset="2"/>
                </a:rPr>
                <a:t>12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18327" name="Oval 23"/>
            <p:cNvSpPr>
              <a:spLocks noChangeArrowheads="1"/>
            </p:cNvSpPr>
            <p:nvPr/>
          </p:nvSpPr>
          <p:spPr bwMode="auto">
            <a:xfrm>
              <a:off x="2245" y="1933"/>
              <a:ext cx="91" cy="91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Times New Roman" pitchFamily="18" charset="0"/>
                </a:rPr>
                <a:t>11</a:t>
              </a:r>
              <a:endParaRPr lang="th-TH" sz="90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2018328" name="Text Box 24"/>
          <p:cNvSpPr txBox="1">
            <a:spLocks noChangeArrowheads="1"/>
          </p:cNvSpPr>
          <p:nvPr/>
        </p:nvSpPr>
        <p:spPr bwMode="auto">
          <a:xfrm>
            <a:off x="7512050" y="1527175"/>
            <a:ext cx="5048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Date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29" name="Text Box 25"/>
          <p:cNvSpPr txBox="1">
            <a:spLocks noChangeArrowheads="1"/>
          </p:cNvSpPr>
          <p:nvPr/>
        </p:nvSpPr>
        <p:spPr bwMode="auto">
          <a:xfrm>
            <a:off x="7502525" y="1976438"/>
            <a:ext cx="733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Process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30" name="Text Box 26"/>
          <p:cNvSpPr txBox="1">
            <a:spLocks noChangeArrowheads="1"/>
          </p:cNvSpPr>
          <p:nvPr/>
        </p:nvSpPr>
        <p:spPr bwMode="auto">
          <a:xfrm>
            <a:off x="7486650" y="2400300"/>
            <a:ext cx="5969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Model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31" name="Text Box 27"/>
          <p:cNvSpPr txBox="1">
            <a:spLocks noChangeArrowheads="1"/>
          </p:cNvSpPr>
          <p:nvPr/>
        </p:nvSpPr>
        <p:spPr bwMode="auto">
          <a:xfrm>
            <a:off x="7473950" y="2852738"/>
            <a:ext cx="125571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Recorder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32" name="Text Box 28"/>
          <p:cNvSpPr txBox="1">
            <a:spLocks noChangeArrowheads="1"/>
          </p:cNvSpPr>
          <p:nvPr/>
        </p:nvSpPr>
        <p:spPr bwMode="auto">
          <a:xfrm>
            <a:off x="6826250" y="3271838"/>
            <a:ext cx="126523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Work Sequence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33" name="Text Box 29"/>
          <p:cNvSpPr txBox="1">
            <a:spLocks noChangeArrowheads="1"/>
          </p:cNvSpPr>
          <p:nvPr/>
        </p:nvSpPr>
        <p:spPr bwMode="auto">
          <a:xfrm>
            <a:off x="7575550" y="3717925"/>
            <a:ext cx="10287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Job Element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34" name="Text Box 30"/>
          <p:cNvSpPr txBox="1">
            <a:spLocks noChangeArrowheads="1"/>
          </p:cNvSpPr>
          <p:nvPr/>
        </p:nvSpPr>
        <p:spPr bwMode="auto">
          <a:xfrm>
            <a:off x="7464425" y="4060825"/>
            <a:ext cx="13604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Time (10 times of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measurement)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35" name="Text Box 31"/>
          <p:cNvSpPr txBox="1">
            <a:spLocks noChangeArrowheads="1"/>
          </p:cNvSpPr>
          <p:nvPr/>
        </p:nvSpPr>
        <p:spPr bwMode="auto">
          <a:xfrm>
            <a:off x="7874000" y="4602163"/>
            <a:ext cx="11811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Minimum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36" name="Text Box 32"/>
          <p:cNvSpPr txBox="1">
            <a:spLocks noChangeArrowheads="1"/>
          </p:cNvSpPr>
          <p:nvPr/>
        </p:nvSpPr>
        <p:spPr bwMode="auto">
          <a:xfrm>
            <a:off x="7874000" y="5013325"/>
            <a:ext cx="12239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Maximum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37" name="Text Box 33"/>
          <p:cNvSpPr txBox="1">
            <a:spLocks noChangeArrowheads="1"/>
          </p:cNvSpPr>
          <p:nvPr/>
        </p:nvSpPr>
        <p:spPr bwMode="auto">
          <a:xfrm>
            <a:off x="7886700" y="5472113"/>
            <a:ext cx="9271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Fluctuation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38" name="Text Box 34"/>
          <p:cNvSpPr txBox="1">
            <a:spLocks noChangeArrowheads="1"/>
          </p:cNvSpPr>
          <p:nvPr/>
        </p:nvSpPr>
        <p:spPr bwMode="auto">
          <a:xfrm>
            <a:off x="7956550" y="5889625"/>
            <a:ext cx="7493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Average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8339" name="Text Box 35"/>
          <p:cNvSpPr txBox="1">
            <a:spLocks noChangeArrowheads="1"/>
          </p:cNvSpPr>
          <p:nvPr/>
        </p:nvSpPr>
        <p:spPr bwMode="auto">
          <a:xfrm>
            <a:off x="8104188" y="6330950"/>
            <a:ext cx="9032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Total Time</a:t>
            </a:r>
            <a:endParaRPr lang="th-TH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9330" name="Picture 2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395288" y="981075"/>
            <a:ext cx="8424862" cy="4103688"/>
          </a:xfrm>
        </p:spPr>
      </p:pic>
      <p:sp>
        <p:nvSpPr>
          <p:cNvPr id="2019331" name="Rectangle 3"/>
          <p:cNvSpPr>
            <a:spLocks noChangeArrowheads="1"/>
          </p:cNvSpPr>
          <p:nvPr/>
        </p:nvSpPr>
        <p:spPr bwMode="auto">
          <a:xfrm>
            <a:off x="0" y="152400"/>
            <a:ext cx="6858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5400" b="1">
              <a:solidFill>
                <a:srgbClr val="000000"/>
              </a:solidFill>
              <a:latin typeface="Times New Roman" pitchFamily="18" charset="0"/>
              <a:cs typeface="DilleniaUPC" pitchFamily="18" charset="-34"/>
            </a:endParaRPr>
          </a:p>
        </p:txBody>
      </p:sp>
      <p:sp>
        <p:nvSpPr>
          <p:cNvPr id="2019332" name="Text Box 4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19334" name="Text Box 3"/>
          <p:cNvSpPr txBox="1">
            <a:spLocks noChangeArrowheads="1"/>
          </p:cNvSpPr>
          <p:nvPr/>
        </p:nvSpPr>
        <p:spPr bwMode="auto">
          <a:xfrm>
            <a:off x="2952750" y="1244600"/>
            <a:ext cx="3533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000" b="1" u="sng">
                <a:solidFill>
                  <a:srgbClr val="000000"/>
                </a:solidFill>
                <a:latin typeface="Microsoft Sans Serif" pitchFamily="34" charset="0"/>
                <a:cs typeface="Microsoft Sans Serif" pitchFamily="34" charset="0"/>
              </a:rPr>
              <a:t>Time Measurement Sheet </a:t>
            </a:r>
          </a:p>
        </p:txBody>
      </p:sp>
      <p:sp>
        <p:nvSpPr>
          <p:cNvPr id="8" name="ตัวยึดเนื้อหา 4"/>
          <p:cNvSpPr txBox="1">
            <a:spLocks/>
          </p:cNvSpPr>
          <p:nvPr/>
        </p:nvSpPr>
        <p:spPr bwMode="auto">
          <a:xfrm>
            <a:off x="684213" y="2060575"/>
            <a:ext cx="115093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ตรวจสอบชิ้นงานและ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ทำความสะอาด</a:t>
            </a:r>
          </a:p>
        </p:txBody>
      </p:sp>
      <p:sp>
        <p:nvSpPr>
          <p:cNvPr id="2019336" name="Line 8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" name="ตัวยึดเนื้อหา 4"/>
          <p:cNvSpPr txBox="1">
            <a:spLocks/>
          </p:cNvSpPr>
          <p:nvPr/>
        </p:nvSpPr>
        <p:spPr bwMode="auto">
          <a:xfrm>
            <a:off x="660400" y="2357438"/>
            <a:ext cx="164306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นำชิ้นงานเข้าเครื่อง </a:t>
            </a: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P001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กดสวิตซ์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3" name="ตัวยึดเนื้อหา 4"/>
          <p:cNvSpPr txBox="1">
            <a:spLocks/>
          </p:cNvSpPr>
          <p:nvPr/>
        </p:nvSpPr>
        <p:spPr bwMode="auto">
          <a:xfrm>
            <a:off x="660400" y="2628900"/>
            <a:ext cx="12954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นำชิ้นงานเข้าเครื่อง </a:t>
            </a: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P002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กดสวิตซ์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" name="ตัวยึดเนื้อหา 4"/>
          <p:cNvSpPr txBox="1">
            <a:spLocks/>
          </p:cNvSpPr>
          <p:nvPr/>
        </p:nvSpPr>
        <p:spPr bwMode="auto">
          <a:xfrm>
            <a:off x="652463" y="2900363"/>
            <a:ext cx="12954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นำชิ้นงานไปยัง </a:t>
            </a: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Store Side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Line</a:t>
            </a:r>
          </a:p>
        </p:txBody>
      </p:sp>
      <p:sp>
        <p:nvSpPr>
          <p:cNvPr id="5" name="ตัวยึดเนื้อหา 4"/>
          <p:cNvSpPr txBox="1">
            <a:spLocks/>
          </p:cNvSpPr>
          <p:nvPr/>
        </p:nvSpPr>
        <p:spPr bwMode="auto">
          <a:xfrm>
            <a:off x="428625" y="2125663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1</a:t>
            </a:r>
          </a:p>
        </p:txBody>
      </p:sp>
      <p:sp>
        <p:nvSpPr>
          <p:cNvPr id="6" name="ตัวยึดเนื้อหา 4"/>
          <p:cNvSpPr txBox="1">
            <a:spLocks/>
          </p:cNvSpPr>
          <p:nvPr/>
        </p:nvSpPr>
        <p:spPr bwMode="auto">
          <a:xfrm>
            <a:off x="428625" y="2405063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2</a:t>
            </a:r>
          </a:p>
        </p:txBody>
      </p:sp>
      <p:sp>
        <p:nvSpPr>
          <p:cNvPr id="7" name="ตัวยึดเนื้อหา 4"/>
          <p:cNvSpPr txBox="1">
            <a:spLocks/>
          </p:cNvSpPr>
          <p:nvPr/>
        </p:nvSpPr>
        <p:spPr bwMode="auto">
          <a:xfrm>
            <a:off x="428625" y="2668588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3</a:t>
            </a:r>
          </a:p>
        </p:txBody>
      </p:sp>
      <p:sp>
        <p:nvSpPr>
          <p:cNvPr id="9" name="ตัวยึดเนื้อหา 4"/>
          <p:cNvSpPr txBox="1">
            <a:spLocks/>
          </p:cNvSpPr>
          <p:nvPr/>
        </p:nvSpPr>
        <p:spPr bwMode="auto">
          <a:xfrm>
            <a:off x="428625" y="2924175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4</a:t>
            </a:r>
          </a:p>
        </p:txBody>
      </p:sp>
      <p:sp>
        <p:nvSpPr>
          <p:cNvPr id="2019344" name="Rectangle 6"/>
          <p:cNvSpPr>
            <a:spLocks noChangeArrowheads="1"/>
          </p:cNvSpPr>
          <p:nvPr/>
        </p:nvSpPr>
        <p:spPr bwMode="auto">
          <a:xfrm>
            <a:off x="323850" y="1989138"/>
            <a:ext cx="1655763" cy="266382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4000" b="1">
              <a:solidFill>
                <a:srgbClr val="FF0000"/>
              </a:solidFill>
            </a:endParaRPr>
          </a:p>
        </p:txBody>
      </p:sp>
      <p:sp>
        <p:nvSpPr>
          <p:cNvPr id="2019345" name="Text Box 7"/>
          <p:cNvSpPr txBox="1">
            <a:spLocks noChangeArrowheads="1"/>
          </p:cNvSpPr>
          <p:nvPr/>
        </p:nvSpPr>
        <p:spPr bwMode="auto">
          <a:xfrm>
            <a:off x="76200" y="5135563"/>
            <a:ext cx="9144000" cy="137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1 :</a:t>
            </a:r>
            <a:r>
              <a:rPr lang="en-US" b="1" i="1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สังเกตรายละเอียดการทำงานทั้งหมดแล้ว แบ่งขั้นตอนการทำงานออกเป็นลำดับสำหรับการจับเวลา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2 : 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กำหนดจุดเริ่มต้นและจุดจบในการจับเวลา ของแต่ละขั้นตอนการทำงานที่แบ่งไว้</a:t>
            </a:r>
          </a:p>
        </p:txBody>
      </p:sp>
      <p:sp>
        <p:nvSpPr>
          <p:cNvPr id="2019346" name="Text Box 18"/>
          <p:cNvSpPr txBox="1">
            <a:spLocks noChangeArrowheads="1"/>
          </p:cNvSpPr>
          <p:nvPr/>
        </p:nvSpPr>
        <p:spPr bwMode="auto">
          <a:xfrm>
            <a:off x="2073275" y="5686425"/>
            <a:ext cx="49926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sym typeface="Wingdings" pitchFamily="2" charset="2"/>
              </a:rPr>
              <a:t>STEP 1 :</a:t>
            </a:r>
            <a:r>
              <a:rPr lang="en-US" sz="1200">
                <a:solidFill>
                  <a:srgbClr val="000000"/>
                </a:solidFill>
                <a:sym typeface="Wingdings" pitchFamily="2" charset="2"/>
              </a:rPr>
              <a:t> Check and the actual operation then list up all of job elements</a:t>
            </a:r>
            <a:endParaRPr lang="th-TH" sz="1200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2019347" name="Text Box 19"/>
          <p:cNvSpPr txBox="1">
            <a:spLocks noChangeArrowheads="1"/>
          </p:cNvSpPr>
          <p:nvPr/>
        </p:nvSpPr>
        <p:spPr bwMode="auto">
          <a:xfrm>
            <a:off x="1365250" y="6453188"/>
            <a:ext cx="53609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sym typeface="Wingdings" pitchFamily="2" charset="2"/>
              </a:rPr>
              <a:t>STEP 2 :</a:t>
            </a:r>
            <a:r>
              <a:rPr lang="en-US" sz="1200">
                <a:solidFill>
                  <a:srgbClr val="000000"/>
                </a:solidFill>
                <a:sym typeface="Wingdings" pitchFamily="2" charset="2"/>
              </a:rPr>
              <a:t> Identify start and end point of each elements for time measurement</a:t>
            </a:r>
            <a:endParaRPr lang="th-TH" sz="1200">
              <a:solidFill>
                <a:srgbClr val="000000"/>
              </a:solidFill>
              <a:sym typeface="Wingdings" pitchFamily="2" charset="2"/>
            </a:endParaRPr>
          </a:p>
        </p:txBody>
      </p:sp>
      <p:sp>
        <p:nvSpPr>
          <p:cNvPr id="2019348" name="Rectangle 20"/>
          <p:cNvSpPr>
            <a:spLocks noChangeArrowheads="1"/>
          </p:cNvSpPr>
          <p:nvPr/>
        </p:nvSpPr>
        <p:spPr bwMode="auto">
          <a:xfrm>
            <a:off x="161925" y="3398838"/>
            <a:ext cx="2012950" cy="72072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1-2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12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19349" name="Text Box 21"/>
          <p:cNvSpPr txBox="1">
            <a:spLocks noChangeArrowheads="1"/>
          </p:cNvSpPr>
          <p:nvPr/>
        </p:nvSpPr>
        <p:spPr bwMode="auto">
          <a:xfrm>
            <a:off x="806450" y="3805238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STEP 1-2</a:t>
            </a:r>
            <a:endParaRPr lang="th-TH" sz="12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1378" name="ชื่อเรื่อง 3"/>
          <p:cNvSpPr>
            <a:spLocks noGrp="1"/>
          </p:cNvSpPr>
          <p:nvPr>
            <p:ph type="title" idx="4294967295"/>
          </p:nvPr>
        </p:nvSpPr>
        <p:spPr>
          <a:xfrm>
            <a:off x="34925" y="1065213"/>
            <a:ext cx="3671888" cy="647700"/>
          </a:xfrm>
        </p:spPr>
        <p:txBody>
          <a:bodyPr/>
          <a:lstStyle/>
          <a:p>
            <a:r>
              <a:rPr lang="th-TH" sz="3200" b="1" u="sng">
                <a:latin typeface="Angsana New" pitchFamily="18" charset="-34"/>
              </a:rPr>
              <a:t>ตัวอย่างข้อมูลขั้นตอนที่ </a:t>
            </a:r>
            <a:r>
              <a:rPr lang="en-US" sz="3200" b="1" u="sng">
                <a:latin typeface="Angsana New" pitchFamily="18" charset="-34"/>
              </a:rPr>
              <a:t>1-2</a:t>
            </a:r>
            <a:endParaRPr lang="th-TH" sz="3200" b="1" u="sng">
              <a:latin typeface="Angsana New" pitchFamily="18" charset="-34"/>
            </a:endParaRPr>
          </a:p>
        </p:txBody>
      </p:sp>
      <p:sp>
        <p:nvSpPr>
          <p:cNvPr id="2021379" name="ตัวยึดเนื้อหา 4"/>
          <p:cNvSpPr>
            <a:spLocks noGrp="1"/>
          </p:cNvSpPr>
          <p:nvPr>
            <p:ph idx="4294967295"/>
          </p:nvPr>
        </p:nvSpPr>
        <p:spPr>
          <a:xfrm>
            <a:off x="395288" y="1997075"/>
            <a:ext cx="8229600" cy="3455988"/>
          </a:xfrm>
        </p:spPr>
        <p:txBody>
          <a:bodyPr/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1) ตรวจสอบชิ้นงานและทำความสะอาด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    (จุดที่จับเวลา: หยิบชิ้นงาน – วางอุปกรณ์ทำความสะอาด)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2) นำชิ้นงานเข้าเครื่อง P001 กดสวิตซ์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    (จุดที่จับเวลา: วางอุปกรณ์ทำความสะอาด – มือออกจากสวิตซ์ P001)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3) นำชิ้นงานเข้าเครื่อง P002 กดสวิตซ์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    (จุดที่จับเวลา:มือออกจากสวิตซ์ P001 – มือออกจากสวิตซ์ P002)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4) นำชิ้นงานไปยัง Store Side Line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    (จุดที่จับเวลา:มือออกจากสวิตซ์ P002 – เดินกลับยังจุดเริ่มต้น หรือจุดที่เริ่มจับเวลา)</a:t>
            </a:r>
          </a:p>
        </p:txBody>
      </p:sp>
      <p:sp>
        <p:nvSpPr>
          <p:cNvPr id="2021380" name="Rectangle 4"/>
          <p:cNvSpPr>
            <a:spLocks noChangeArrowheads="1"/>
          </p:cNvSpPr>
          <p:nvPr/>
        </p:nvSpPr>
        <p:spPr bwMode="auto">
          <a:xfrm>
            <a:off x="0" y="152400"/>
            <a:ext cx="6858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5400" b="1">
              <a:solidFill>
                <a:srgbClr val="000000"/>
              </a:solidFill>
              <a:latin typeface="Times New Roman" pitchFamily="18" charset="0"/>
              <a:cs typeface="DilleniaUPC" pitchFamily="18" charset="-34"/>
            </a:endParaRPr>
          </a:p>
        </p:txBody>
      </p:sp>
      <p:sp>
        <p:nvSpPr>
          <p:cNvPr id="2021381" name="Line 5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1382" name="Text Box 6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21384" name="ตัวยึดเนื้อหา 4"/>
          <p:cNvSpPr>
            <a:spLocks/>
          </p:cNvSpPr>
          <p:nvPr/>
        </p:nvSpPr>
        <p:spPr bwMode="auto">
          <a:xfrm>
            <a:off x="323850" y="5561013"/>
            <a:ext cx="8229600" cy="1201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รายละเอียดการทำงานนั้นจะแบ่งแยกประเภทคือ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1.) Handling Time คือ เวลาที่ผู้ปฏิบัติงานทำงาน</a:t>
            </a:r>
          </a:p>
          <a:p>
            <a:pPr marL="342900" indent="-3429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2.) Walk Time คือ เวลาที่ใช้ในการเดิน</a:t>
            </a:r>
          </a:p>
        </p:txBody>
      </p:sp>
      <p:sp>
        <p:nvSpPr>
          <p:cNvPr id="2021385" name="ตัวยึดเนื้อหา 4"/>
          <p:cNvSpPr>
            <a:spLocks/>
          </p:cNvSpPr>
          <p:nvPr/>
        </p:nvSpPr>
        <p:spPr bwMode="auto">
          <a:xfrm>
            <a:off x="298450" y="1544638"/>
            <a:ext cx="3816350" cy="43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ขั้นตอนการทำงานและจุดที่จับเวลา</a:t>
            </a:r>
          </a:p>
        </p:txBody>
      </p:sp>
      <p:sp>
        <p:nvSpPr>
          <p:cNvPr id="2021386" name="Text Box 10"/>
          <p:cNvSpPr txBox="1">
            <a:spLocks noChangeArrowheads="1"/>
          </p:cNvSpPr>
          <p:nvPr/>
        </p:nvSpPr>
        <p:spPr bwMode="auto">
          <a:xfrm>
            <a:off x="4241800" y="2095500"/>
            <a:ext cx="154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Check and Cleaning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1387" name="Text Box 11"/>
          <p:cNvSpPr txBox="1">
            <a:spLocks noChangeArrowheads="1"/>
          </p:cNvSpPr>
          <p:nvPr/>
        </p:nvSpPr>
        <p:spPr bwMode="auto">
          <a:xfrm>
            <a:off x="-2216150" y="4310063"/>
            <a:ext cx="18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1388" name="ชื่อเรื่อง 3"/>
          <p:cNvSpPr>
            <a:spLocks/>
          </p:cNvSpPr>
          <p:nvPr/>
        </p:nvSpPr>
        <p:spPr bwMode="auto">
          <a:xfrm>
            <a:off x="3724275" y="1697038"/>
            <a:ext cx="3055938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Job elements and time measurement point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1389" name="ชื่อเรื่อง 3"/>
          <p:cNvSpPr>
            <a:spLocks/>
          </p:cNvSpPr>
          <p:nvPr/>
        </p:nvSpPr>
        <p:spPr bwMode="auto">
          <a:xfrm>
            <a:off x="3492500" y="1196975"/>
            <a:ext cx="1727200" cy="43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Example of Step 1-2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1390" name="Text Box 14"/>
          <p:cNvSpPr txBox="1">
            <a:spLocks noChangeArrowheads="1"/>
          </p:cNvSpPr>
          <p:nvPr/>
        </p:nvSpPr>
        <p:spPr bwMode="auto">
          <a:xfrm>
            <a:off x="6084888" y="2390775"/>
            <a:ext cx="2733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(Time measurement point :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Pick part – Place cleaning equipment)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1391" name="Text Box 15"/>
          <p:cNvSpPr txBox="1">
            <a:spLocks noChangeArrowheads="1"/>
          </p:cNvSpPr>
          <p:nvPr/>
        </p:nvSpPr>
        <p:spPr bwMode="auto">
          <a:xfrm>
            <a:off x="4084638" y="2921000"/>
            <a:ext cx="3149600" cy="2746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Put part into machine P001 and push switch</a:t>
            </a:r>
          </a:p>
        </p:txBody>
      </p:sp>
      <p:sp>
        <p:nvSpPr>
          <p:cNvPr id="2021392" name="Text Box 16"/>
          <p:cNvSpPr txBox="1">
            <a:spLocks noChangeArrowheads="1"/>
          </p:cNvSpPr>
          <p:nvPr/>
        </p:nvSpPr>
        <p:spPr bwMode="auto">
          <a:xfrm>
            <a:off x="7096125" y="3344863"/>
            <a:ext cx="20447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(Time measurement point : 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1393" name="Text Box 17"/>
          <p:cNvSpPr txBox="1">
            <a:spLocks noChangeArrowheads="1"/>
          </p:cNvSpPr>
          <p:nvPr/>
        </p:nvSpPr>
        <p:spPr bwMode="auto">
          <a:xfrm>
            <a:off x="4973638" y="3606800"/>
            <a:ext cx="41021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Place cleaning equipment – Move hand from switch P001)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1394" name="Text Box 18"/>
          <p:cNvSpPr txBox="1">
            <a:spLocks noChangeArrowheads="1"/>
          </p:cNvSpPr>
          <p:nvPr/>
        </p:nvSpPr>
        <p:spPr bwMode="auto">
          <a:xfrm>
            <a:off x="3995738" y="3784600"/>
            <a:ext cx="3149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Put part into machine P002 and push switch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1395" name="Text Box 19"/>
          <p:cNvSpPr txBox="1">
            <a:spLocks noChangeArrowheads="1"/>
          </p:cNvSpPr>
          <p:nvPr/>
        </p:nvSpPr>
        <p:spPr bwMode="auto">
          <a:xfrm>
            <a:off x="6732588" y="4191000"/>
            <a:ext cx="20018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(Time measurement point :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21396" name="Text Box 20"/>
          <p:cNvSpPr txBox="1">
            <a:spLocks noChangeArrowheads="1"/>
          </p:cNvSpPr>
          <p:nvPr/>
        </p:nvSpPr>
        <p:spPr bwMode="auto">
          <a:xfrm>
            <a:off x="4452938" y="4449763"/>
            <a:ext cx="42830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Move hand from switch P001– Move hand from switch P002)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21397" name="Text Box 21"/>
          <p:cNvSpPr txBox="1">
            <a:spLocks noChangeArrowheads="1"/>
          </p:cNvSpPr>
          <p:nvPr/>
        </p:nvSpPr>
        <p:spPr bwMode="auto">
          <a:xfrm>
            <a:off x="3705225" y="4657725"/>
            <a:ext cx="20447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ja-JP" sz="1200">
                <a:solidFill>
                  <a:srgbClr val="000000"/>
                </a:solidFill>
                <a:ea typeface="MS PGothic" pitchFamily="34" charset="-128"/>
              </a:rPr>
              <a:t>Put</a:t>
            </a:r>
            <a:r>
              <a:rPr lang="en-US" sz="1200">
                <a:solidFill>
                  <a:srgbClr val="000000"/>
                </a:solidFill>
              </a:rPr>
              <a:t> parts to Store Side Line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21398" name="Text Box 22"/>
          <p:cNvSpPr txBox="1">
            <a:spLocks noChangeArrowheads="1"/>
          </p:cNvSpPr>
          <p:nvPr/>
        </p:nvSpPr>
        <p:spPr bwMode="auto">
          <a:xfrm>
            <a:off x="652463" y="5313363"/>
            <a:ext cx="58515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(Time measurement point : Move hand from switch P002 – Back to the first process)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21399" name="Text Box 23"/>
          <p:cNvSpPr txBox="1">
            <a:spLocks noChangeArrowheads="1"/>
          </p:cNvSpPr>
          <p:nvPr/>
        </p:nvSpPr>
        <p:spPr bwMode="auto">
          <a:xfrm>
            <a:off x="4933950" y="5640388"/>
            <a:ext cx="40703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The time of each elements can be separate as bellowing :</a:t>
            </a:r>
            <a:endParaRPr lang="th-TH" sz="12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402" name="Line 2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2403" name="Text Box 3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grpSp>
        <p:nvGrpSpPr>
          <p:cNvPr id="14" name="Group 5"/>
          <p:cNvGrpSpPr>
            <a:grpSpLocks/>
          </p:cNvGrpSpPr>
          <p:nvPr/>
        </p:nvGrpSpPr>
        <p:grpSpPr bwMode="auto">
          <a:xfrm>
            <a:off x="395288" y="981075"/>
            <a:ext cx="8424862" cy="3527425"/>
            <a:chOff x="249" y="618"/>
            <a:chExt cx="5307" cy="2222"/>
          </a:xfrm>
        </p:grpSpPr>
        <p:pic>
          <p:nvPicPr>
            <p:cNvPr id="2022406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b="15784"/>
            <a:stretch>
              <a:fillRect/>
            </a:stretch>
          </p:blipFill>
          <p:spPr bwMode="auto">
            <a:xfrm>
              <a:off x="249" y="618"/>
              <a:ext cx="5307" cy="22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022407" name="Text Box 3"/>
            <p:cNvSpPr txBox="1">
              <a:spLocks noChangeArrowheads="1"/>
            </p:cNvSpPr>
            <p:nvPr/>
          </p:nvSpPr>
          <p:spPr bwMode="auto">
            <a:xfrm>
              <a:off x="1860" y="784"/>
              <a:ext cx="2226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en-US" sz="2000" b="1" u="sng">
                  <a:solidFill>
                    <a:srgbClr val="000000"/>
                  </a:solidFill>
                  <a:latin typeface="Microsoft Sans Serif" pitchFamily="34" charset="0"/>
                  <a:cs typeface="Microsoft Sans Serif" pitchFamily="34" charset="0"/>
                </a:rPr>
                <a:t>Time Measurement Sheet </a:t>
              </a:r>
            </a:p>
          </p:txBody>
        </p:sp>
        <p:sp>
          <p:nvSpPr>
            <p:cNvPr id="8" name="ตัวยึดเนื้อหา 4"/>
            <p:cNvSpPr txBox="1">
              <a:spLocks/>
            </p:cNvSpPr>
            <p:nvPr/>
          </p:nvSpPr>
          <p:spPr bwMode="auto">
            <a:xfrm>
              <a:off x="431" y="1298"/>
              <a:ext cx="72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</a:rPr>
                <a:t>ตรวจสอบชิ้นงานและ</a:t>
              </a:r>
            </a:p>
            <a:p>
              <a:pPr marL="342900" indent="-342900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</a:rPr>
                <a:t>ทำความสะอาด</a:t>
              </a:r>
            </a:p>
          </p:txBody>
        </p:sp>
        <p:sp>
          <p:nvSpPr>
            <p:cNvPr id="2" name="ตัวยึดเนื้อหา 4"/>
            <p:cNvSpPr txBox="1">
              <a:spLocks/>
            </p:cNvSpPr>
            <p:nvPr/>
          </p:nvSpPr>
          <p:spPr bwMode="auto">
            <a:xfrm>
              <a:off x="416" y="1485"/>
              <a:ext cx="1035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</a:rPr>
                <a:t>นำชิ้นงานเข้าเครื่อง </a:t>
              </a: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P001</a:t>
              </a:r>
            </a:p>
            <a:p>
              <a:pPr marL="342900" indent="-342900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</a:rPr>
                <a:t>กดสวิตซ์</a:t>
              </a:r>
            </a:p>
            <a:p>
              <a:pPr marL="342900" indent="-342900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3" name="ตัวยึดเนื้อหา 4"/>
            <p:cNvSpPr txBox="1">
              <a:spLocks/>
            </p:cNvSpPr>
            <p:nvPr/>
          </p:nvSpPr>
          <p:spPr bwMode="auto">
            <a:xfrm>
              <a:off x="416" y="1656"/>
              <a:ext cx="816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</a:rPr>
                <a:t>นำชิ้นงานเข้าเครื่อง </a:t>
              </a: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P002</a:t>
              </a:r>
            </a:p>
            <a:p>
              <a:pPr marL="342900" indent="-342900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</a:rPr>
                <a:t>กดสวิตซ์</a:t>
              </a:r>
            </a:p>
            <a:p>
              <a:pPr marL="342900" indent="-342900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4" name="ตัวยึดเนื้อหา 4"/>
            <p:cNvSpPr txBox="1">
              <a:spLocks/>
            </p:cNvSpPr>
            <p:nvPr/>
          </p:nvSpPr>
          <p:spPr bwMode="auto">
            <a:xfrm>
              <a:off x="411" y="1827"/>
              <a:ext cx="816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</a:rPr>
                <a:t>นำชิ้นงานไปยัง </a:t>
              </a: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Store Side</a:t>
              </a:r>
            </a:p>
            <a:p>
              <a:pPr marL="342900" indent="-342900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Line</a:t>
              </a:r>
            </a:p>
          </p:txBody>
        </p:sp>
        <p:sp>
          <p:nvSpPr>
            <p:cNvPr id="5" name="ตัวยึดเนื้อหา 4"/>
            <p:cNvSpPr txBox="1">
              <a:spLocks/>
            </p:cNvSpPr>
            <p:nvPr/>
          </p:nvSpPr>
          <p:spPr bwMode="auto">
            <a:xfrm>
              <a:off x="270" y="1339"/>
              <a:ext cx="182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342900" indent="-342900" algn="ctr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6" name="ตัวยึดเนื้อหา 4"/>
            <p:cNvSpPr txBox="1">
              <a:spLocks/>
            </p:cNvSpPr>
            <p:nvPr/>
          </p:nvSpPr>
          <p:spPr bwMode="auto">
            <a:xfrm>
              <a:off x="270" y="1515"/>
              <a:ext cx="182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342900" indent="-342900" algn="ctr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</a:p>
          </p:txBody>
        </p:sp>
        <p:sp>
          <p:nvSpPr>
            <p:cNvPr id="7" name="ตัวยึดเนื้อหา 4"/>
            <p:cNvSpPr txBox="1">
              <a:spLocks/>
            </p:cNvSpPr>
            <p:nvPr/>
          </p:nvSpPr>
          <p:spPr bwMode="auto">
            <a:xfrm>
              <a:off x="270" y="1681"/>
              <a:ext cx="182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342900" indent="-342900" algn="ctr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  <a:latin typeface="Angsana New" pitchFamily="18" charset="-34"/>
                </a:rPr>
                <a:t>3</a:t>
              </a:r>
            </a:p>
          </p:txBody>
        </p:sp>
        <p:sp>
          <p:nvSpPr>
            <p:cNvPr id="10" name="ตัวยึดเนื้อหา 4"/>
            <p:cNvSpPr txBox="1">
              <a:spLocks/>
            </p:cNvSpPr>
            <p:nvPr/>
          </p:nvSpPr>
          <p:spPr bwMode="auto">
            <a:xfrm>
              <a:off x="270" y="1842"/>
              <a:ext cx="182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marL="342900" indent="-342900" algn="ctr" fontAlgn="base">
                <a:lnSpc>
                  <a:spcPct val="5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  <a:latin typeface="Angsana New" pitchFamily="18" charset="-34"/>
                </a:rPr>
                <a:t>4</a:t>
              </a:r>
            </a:p>
          </p:txBody>
        </p:sp>
        <p:sp>
          <p:nvSpPr>
            <p:cNvPr id="9" name="ตัวยึดเนื้อหา 4"/>
            <p:cNvSpPr txBox="1">
              <a:spLocks/>
            </p:cNvSpPr>
            <p:nvPr/>
          </p:nvSpPr>
          <p:spPr bwMode="auto">
            <a:xfrm>
              <a:off x="1234" y="1274"/>
              <a:ext cx="310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 fontAlgn="base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 3      5.2       5        4        6      4.8</a:t>
              </a:r>
              <a:r>
                <a:rPr lang="th-TH" sz="1400">
                  <a:solidFill>
                    <a:srgbClr val="000000"/>
                  </a:solidFill>
                </a:rPr>
                <a:t> </a:t>
              </a:r>
              <a:r>
                <a:rPr lang="en-US" sz="1400">
                  <a:solidFill>
                    <a:srgbClr val="000000"/>
                  </a:solidFill>
                </a:rPr>
                <a:t>      5       5        4        6</a:t>
              </a:r>
            </a:p>
          </p:txBody>
        </p:sp>
        <p:sp>
          <p:nvSpPr>
            <p:cNvPr id="11" name="ตัวยึดเนื้อหา 4"/>
            <p:cNvSpPr txBox="1">
              <a:spLocks/>
            </p:cNvSpPr>
            <p:nvPr/>
          </p:nvSpPr>
          <p:spPr bwMode="auto">
            <a:xfrm>
              <a:off x="1268" y="1448"/>
              <a:ext cx="310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 fontAlgn="base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2      2.1       2        2        2      1.9       2       3        1        2</a:t>
              </a:r>
              <a:endParaRPr lang="th-TH" sz="1400">
                <a:solidFill>
                  <a:srgbClr val="000000"/>
                </a:solidFill>
              </a:endParaRPr>
            </a:p>
          </p:txBody>
        </p:sp>
        <p:sp>
          <p:nvSpPr>
            <p:cNvPr id="12" name="ตัวยึดเนื้อหา 4"/>
            <p:cNvSpPr txBox="1">
              <a:spLocks/>
            </p:cNvSpPr>
            <p:nvPr/>
          </p:nvSpPr>
          <p:spPr bwMode="auto">
            <a:xfrm>
              <a:off x="1204" y="1621"/>
              <a:ext cx="3105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 fontAlgn="base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2.1     2.1       2        2      1.9     1.9       2       3        1        2</a:t>
              </a:r>
            </a:p>
          </p:txBody>
        </p:sp>
        <p:sp>
          <p:nvSpPr>
            <p:cNvPr id="13" name="ตัวยึดเนื้อหา 4"/>
            <p:cNvSpPr txBox="1">
              <a:spLocks/>
            </p:cNvSpPr>
            <p:nvPr/>
          </p:nvSpPr>
          <p:spPr bwMode="auto">
            <a:xfrm>
              <a:off x="1202" y="1792"/>
              <a:ext cx="3105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marL="342900" indent="-342900" fontAlgn="base">
                <a:lnSpc>
                  <a:spcPct val="110000"/>
                </a:lnSpc>
                <a:spcBef>
                  <a:spcPct val="2000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3.1      3         3        4      2.9       3        3       3        2        3</a:t>
              </a:r>
            </a:p>
          </p:txBody>
        </p:sp>
      </p:grpSp>
      <p:sp>
        <p:nvSpPr>
          <p:cNvPr id="2022420" name="Rectangle 6"/>
          <p:cNvSpPr>
            <a:spLocks noChangeArrowheads="1"/>
          </p:cNvSpPr>
          <p:nvPr/>
        </p:nvSpPr>
        <p:spPr bwMode="auto">
          <a:xfrm>
            <a:off x="1835150" y="1773238"/>
            <a:ext cx="5113338" cy="2735262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4000" b="1">
              <a:solidFill>
                <a:srgbClr val="FF0000"/>
              </a:solidFill>
            </a:endParaRPr>
          </a:p>
        </p:txBody>
      </p:sp>
      <p:sp>
        <p:nvSpPr>
          <p:cNvPr id="2022421" name="Rectangle 21"/>
          <p:cNvSpPr>
            <a:spLocks noChangeArrowheads="1"/>
          </p:cNvSpPr>
          <p:nvPr/>
        </p:nvSpPr>
        <p:spPr bwMode="auto">
          <a:xfrm>
            <a:off x="3097213" y="3360738"/>
            <a:ext cx="2735262" cy="72072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12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22422" name="Text Box 22"/>
          <p:cNvSpPr txBox="1">
            <a:spLocks noChangeArrowheads="1"/>
          </p:cNvSpPr>
          <p:nvPr/>
        </p:nvSpPr>
        <p:spPr bwMode="auto">
          <a:xfrm>
            <a:off x="4117975" y="3792538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STEP 3</a:t>
            </a:r>
            <a:endParaRPr lang="th-TH" sz="12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22423" name="Text Box 5"/>
          <p:cNvSpPr txBox="1">
            <a:spLocks noChangeArrowheads="1"/>
          </p:cNvSpPr>
          <p:nvPr/>
        </p:nvSpPr>
        <p:spPr bwMode="auto">
          <a:xfrm>
            <a:off x="322263" y="4559300"/>
            <a:ext cx="8821737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3 :</a:t>
            </a:r>
            <a:r>
              <a:rPr lang="en-US" b="1" i="1">
                <a:solidFill>
                  <a:srgbClr val="000000"/>
                </a:solidFill>
                <a:latin typeface="Angsana New" pitchFamily="18" charset="-34"/>
              </a:rPr>
              <a:t>  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จับเวลาการทำงานของแต่ละขั้นตอนและทำการลงบันทึก จนครบ 10 รอบ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* นาฬิกาที่ใช้จับเวลาควรจับเวลา แบ่งแบบรอบเวลาได้ต่อเนื่อง (Lapping) เพื่อทำการจัดเก็บข้อมูลได้อย่างต่อเนื่องและรวดเร็ว  และกรณีที่เกิดความผิดพลาดในการจับเวลา ก็สามารถข้ามข้อมูลในช่วงนั้นๆ ไปแล้วจับข้อมูลในส่วนอื่นต่อได้</a:t>
            </a:r>
          </a:p>
        </p:txBody>
      </p:sp>
      <p:sp>
        <p:nvSpPr>
          <p:cNvPr id="2022424" name="Text Box 5"/>
          <p:cNvSpPr txBox="1">
            <a:spLocks noChangeArrowheads="1"/>
          </p:cNvSpPr>
          <p:nvPr/>
        </p:nvSpPr>
        <p:spPr bwMode="auto">
          <a:xfrm>
            <a:off x="377825" y="6297613"/>
            <a:ext cx="806608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3  :</a:t>
            </a:r>
            <a:r>
              <a:rPr lang="en-US" sz="1200" b="1" i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Making Time measurement and data recording 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* For the convenience and accuracy of time measurement, The lapped stop watch is recommended.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4450" name="ชื่อเรื่อง 3"/>
          <p:cNvSpPr>
            <a:spLocks noGrp="1"/>
          </p:cNvSpPr>
          <p:nvPr>
            <p:ph type="title" idx="4294967295"/>
          </p:nvPr>
        </p:nvSpPr>
        <p:spPr>
          <a:xfrm>
            <a:off x="323850" y="1103313"/>
            <a:ext cx="5040313" cy="576262"/>
          </a:xfrm>
        </p:spPr>
        <p:txBody>
          <a:bodyPr/>
          <a:lstStyle/>
          <a:p>
            <a:r>
              <a:rPr lang="th-TH" sz="3200" b="1" u="sng">
                <a:latin typeface="Angsana New" pitchFamily="18" charset="-34"/>
              </a:rPr>
              <a:t>ตัวอย่างข้อมูลเบื้องต้นที่ได้จากขั้นตอนที่ </a:t>
            </a:r>
            <a:r>
              <a:rPr lang="en-US" sz="3200" b="1" u="sng">
                <a:latin typeface="Angsana New" pitchFamily="18" charset="-34"/>
              </a:rPr>
              <a:t>3</a:t>
            </a:r>
            <a:endParaRPr lang="th-TH" sz="3200" b="1" u="sng">
              <a:latin typeface="Angsana New" pitchFamily="18" charset="-34"/>
            </a:endParaRPr>
          </a:p>
        </p:txBody>
      </p:sp>
      <p:sp>
        <p:nvSpPr>
          <p:cNvPr id="2024451" name="ตัวยึดเนื้อหา 4"/>
          <p:cNvSpPr>
            <a:spLocks noGrp="1"/>
          </p:cNvSpPr>
          <p:nvPr>
            <p:ph idx="4294967295"/>
          </p:nvPr>
        </p:nvSpPr>
        <p:spPr>
          <a:xfrm>
            <a:off x="457200" y="1698625"/>
            <a:ext cx="8229600" cy="4500563"/>
          </a:xfrm>
        </p:spPr>
        <p:txBody>
          <a:bodyPr/>
          <a:lstStyle/>
          <a:p>
            <a:pPr>
              <a:buFontTx/>
              <a:buNone/>
            </a:pPr>
            <a:r>
              <a:rPr lang="en-US" sz="2800">
                <a:latin typeface="Angsana New" pitchFamily="18" charset="-34"/>
              </a:rPr>
              <a:t>ขั้นตอนการทำงานและเวลาที่จับได้ (หน่วยเป็นวินาที)</a:t>
            </a:r>
          </a:p>
          <a:p>
            <a:pPr>
              <a:buFontTx/>
              <a:buNone/>
            </a:pPr>
            <a:r>
              <a:rPr lang="en-US" sz="2800">
                <a:latin typeface="Angsana New" pitchFamily="18" charset="-34"/>
              </a:rPr>
              <a:t>1.) ตรวจสอบชิ้นงานและทำความสะอาด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(3, 5.2 , 5 , 4, 6, 4.8, 5, 5 , 4, 6)</a:t>
            </a:r>
          </a:p>
          <a:p>
            <a:pPr>
              <a:buFontTx/>
              <a:buNone/>
            </a:pPr>
            <a:r>
              <a:rPr lang="en-US" sz="2800">
                <a:latin typeface="Angsana New" pitchFamily="18" charset="-34"/>
              </a:rPr>
              <a:t>2.) นำชิ้นงานเข้าเครื่อง P001 กดสวิตซ์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(2, 2.1, 2, 2, 2, 1.9, 2, 3, 1, 2,)</a:t>
            </a:r>
          </a:p>
          <a:p>
            <a:pPr>
              <a:buFontTx/>
              <a:buNone/>
            </a:pPr>
            <a:r>
              <a:rPr lang="en-US" sz="2800">
                <a:latin typeface="Angsana New" pitchFamily="18" charset="-34"/>
              </a:rPr>
              <a:t>3.) นำชิ้นงานเข้าเครื่อง P002 กดสวิตซ์</a:t>
            </a:r>
          </a:p>
          <a:p>
            <a:pPr>
              <a:buFontTx/>
              <a:buNone/>
            </a:pPr>
            <a:r>
              <a:rPr lang="en-US" sz="2800">
                <a:latin typeface="Angsana New" pitchFamily="18" charset="-34"/>
              </a:rPr>
              <a:t>(จุดที่จับเวลา:มือออกจากสวิตซ์ P001 – มือออกจากสวิตซ์ P002)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(2.1, 2.1, 2, 2, 1.9, 1.9, 2, 3, 1, 2,)</a:t>
            </a:r>
          </a:p>
          <a:p>
            <a:pPr>
              <a:buFontTx/>
              <a:buNone/>
            </a:pPr>
            <a:r>
              <a:rPr lang="en-US" sz="2800">
                <a:latin typeface="Angsana New" pitchFamily="18" charset="-34"/>
              </a:rPr>
              <a:t>4.) นำชิ้นงานไปยัง Store Side Line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sz="2800">
                <a:latin typeface="Angsana New" pitchFamily="18" charset="-34"/>
              </a:rPr>
              <a:t>(3.1, 3, 3, 4, 2.9, 3, 3, 3, 2, 3)</a:t>
            </a:r>
          </a:p>
        </p:txBody>
      </p:sp>
      <p:sp>
        <p:nvSpPr>
          <p:cNvPr id="2024452" name="Line 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4453" name="Text Box 5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24455" name="ชื่อเรื่อง 3"/>
          <p:cNvSpPr>
            <a:spLocks/>
          </p:cNvSpPr>
          <p:nvPr/>
        </p:nvSpPr>
        <p:spPr bwMode="auto">
          <a:xfrm>
            <a:off x="4402138" y="2273300"/>
            <a:ext cx="360045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Job elements with time (Time unit is second)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4456" name="Text Box 8"/>
          <p:cNvSpPr txBox="1">
            <a:spLocks noChangeArrowheads="1"/>
          </p:cNvSpPr>
          <p:nvPr/>
        </p:nvSpPr>
        <p:spPr bwMode="auto">
          <a:xfrm>
            <a:off x="4224338" y="3289300"/>
            <a:ext cx="3149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ja-JP" sz="1200">
                <a:solidFill>
                  <a:srgbClr val="000000"/>
                </a:solidFill>
                <a:ea typeface="MS PGothic" pitchFamily="34" charset="-128"/>
              </a:rPr>
              <a:t>Put</a:t>
            </a:r>
            <a:r>
              <a:rPr lang="en-US" sz="1200">
                <a:solidFill>
                  <a:srgbClr val="000000"/>
                </a:solidFill>
              </a:rPr>
              <a:t> part into machine P001 and push switch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24457" name="Text Box 9"/>
          <p:cNvSpPr txBox="1">
            <a:spLocks noChangeArrowheads="1"/>
          </p:cNvSpPr>
          <p:nvPr/>
        </p:nvSpPr>
        <p:spPr bwMode="auto">
          <a:xfrm>
            <a:off x="4144963" y="4213225"/>
            <a:ext cx="31496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ja-JP" sz="1200">
                <a:solidFill>
                  <a:srgbClr val="000000"/>
                </a:solidFill>
                <a:ea typeface="MS PGothic" pitchFamily="34" charset="-128"/>
              </a:rPr>
              <a:t>Put</a:t>
            </a:r>
            <a:r>
              <a:rPr lang="en-US" sz="1200">
                <a:solidFill>
                  <a:srgbClr val="000000"/>
                </a:solidFill>
              </a:rPr>
              <a:t> part into machine P002 and push switch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24458" name="Text Box 10"/>
          <p:cNvSpPr txBox="1">
            <a:spLocks noChangeArrowheads="1"/>
          </p:cNvSpPr>
          <p:nvPr/>
        </p:nvSpPr>
        <p:spPr bwMode="auto">
          <a:xfrm>
            <a:off x="6545263" y="4749800"/>
            <a:ext cx="20018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(Time measurement point :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24459" name="Text Box 11"/>
          <p:cNvSpPr txBox="1">
            <a:spLocks noChangeArrowheads="1"/>
          </p:cNvSpPr>
          <p:nvPr/>
        </p:nvSpPr>
        <p:spPr bwMode="auto">
          <a:xfrm>
            <a:off x="4275138" y="5013325"/>
            <a:ext cx="42830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Move hand from switch P001– Move hand from switch P002)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24460" name="Text Box 12"/>
          <p:cNvSpPr txBox="1">
            <a:spLocks noChangeArrowheads="1"/>
          </p:cNvSpPr>
          <p:nvPr/>
        </p:nvSpPr>
        <p:spPr bwMode="auto">
          <a:xfrm>
            <a:off x="3857625" y="5700713"/>
            <a:ext cx="20447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20000"/>
              </a:spcBef>
              <a:spcAft>
                <a:spcPct val="0"/>
              </a:spcAft>
            </a:pPr>
            <a:r>
              <a:rPr lang="en-US" altLang="ja-JP" sz="1200">
                <a:solidFill>
                  <a:srgbClr val="000000"/>
                </a:solidFill>
                <a:ea typeface="MS PGothic" pitchFamily="34" charset="-128"/>
              </a:rPr>
              <a:t>Put</a:t>
            </a:r>
            <a:r>
              <a:rPr lang="en-US" sz="1200">
                <a:solidFill>
                  <a:srgbClr val="000000"/>
                </a:solidFill>
              </a:rPr>
              <a:t> parts to Store Side Line</a:t>
            </a:r>
            <a:endParaRPr lang="th-TH" sz="12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474" name="Rectangle 8"/>
          <p:cNvSpPr>
            <a:spLocks noChangeArrowheads="1"/>
          </p:cNvSpPr>
          <p:nvPr/>
        </p:nvSpPr>
        <p:spPr bwMode="auto">
          <a:xfrm>
            <a:off x="146050" y="5272088"/>
            <a:ext cx="8820150" cy="119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4 :</a:t>
            </a:r>
            <a:r>
              <a:rPr lang="en-US" b="1" i="1">
                <a:solidFill>
                  <a:srgbClr val="000000"/>
                </a:solidFill>
                <a:latin typeface="Angsana New" pitchFamily="18" charset="-34"/>
              </a:rPr>
              <a:t>  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ทำการรวมค่าเวลาในแนวดิ่ง(Total Cycle Time) เลือกค่าที่น้อยที่สุดเพื่อนำไปบันทึกใน เอกสารมาตรฐานเพื่อนำไปวิเคราะห์ต่อไป</a:t>
            </a:r>
            <a:endParaRPr lang="en-US" i="1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16" name="ตัวยึดเนื้อหา 4"/>
          <p:cNvSpPr txBox="1">
            <a:spLocks/>
          </p:cNvSpPr>
          <p:nvPr/>
        </p:nvSpPr>
        <p:spPr bwMode="auto">
          <a:xfrm>
            <a:off x="1835150" y="4856163"/>
            <a:ext cx="4929188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</a:rPr>
              <a:t>10.2  12.4   12    12    12.8  11.6   12    14      8     13</a:t>
            </a:r>
          </a:p>
        </p:txBody>
      </p:sp>
      <p:sp>
        <p:nvSpPr>
          <p:cNvPr id="2025476" name="Line 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5477" name="Text Box 5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pic>
        <p:nvPicPr>
          <p:cNvPr id="2025479" name="Picture 2"/>
          <p:cNvPicPr>
            <a:picLocks noChangeAspect="1" noChangeArrowheads="1"/>
          </p:cNvPicPr>
          <p:nvPr/>
        </p:nvPicPr>
        <p:blipFill>
          <a:blip r:embed="rId3" cstate="print"/>
          <a:srcRect b="-3130"/>
          <a:stretch>
            <a:fillRect/>
          </a:stretch>
        </p:blipFill>
        <p:spPr bwMode="auto">
          <a:xfrm>
            <a:off x="395288" y="981075"/>
            <a:ext cx="8424862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25480" name="Text Box 3"/>
          <p:cNvSpPr txBox="1">
            <a:spLocks noChangeArrowheads="1"/>
          </p:cNvSpPr>
          <p:nvPr/>
        </p:nvSpPr>
        <p:spPr bwMode="auto">
          <a:xfrm>
            <a:off x="2952750" y="1244600"/>
            <a:ext cx="3533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000" b="1" u="sng">
                <a:solidFill>
                  <a:srgbClr val="000000"/>
                </a:solidFill>
                <a:latin typeface="Microsoft Sans Serif" pitchFamily="34" charset="0"/>
                <a:cs typeface="Microsoft Sans Serif" pitchFamily="34" charset="0"/>
              </a:rPr>
              <a:t>Time Measurement Sheet </a:t>
            </a:r>
          </a:p>
        </p:txBody>
      </p:sp>
      <p:sp>
        <p:nvSpPr>
          <p:cNvPr id="8" name="ตัวยึดเนื้อหา 4"/>
          <p:cNvSpPr txBox="1">
            <a:spLocks/>
          </p:cNvSpPr>
          <p:nvPr/>
        </p:nvSpPr>
        <p:spPr bwMode="auto">
          <a:xfrm>
            <a:off x="684213" y="2060575"/>
            <a:ext cx="115093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ตรวจสอบชิ้นงานและ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ทำความสะอาด</a:t>
            </a:r>
          </a:p>
        </p:txBody>
      </p:sp>
      <p:sp>
        <p:nvSpPr>
          <p:cNvPr id="2" name="ตัวยึดเนื้อหา 4"/>
          <p:cNvSpPr txBox="1">
            <a:spLocks/>
          </p:cNvSpPr>
          <p:nvPr/>
        </p:nvSpPr>
        <p:spPr bwMode="auto">
          <a:xfrm>
            <a:off x="660400" y="2357438"/>
            <a:ext cx="164306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นำชิ้นงานเข้าเครื่อง </a:t>
            </a: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P001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กดสวิตซ์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3" name="ตัวยึดเนื้อหา 4"/>
          <p:cNvSpPr txBox="1">
            <a:spLocks/>
          </p:cNvSpPr>
          <p:nvPr/>
        </p:nvSpPr>
        <p:spPr bwMode="auto">
          <a:xfrm>
            <a:off x="660400" y="2628900"/>
            <a:ext cx="12954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นำชิ้นงานเข้าเครื่อง </a:t>
            </a: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P002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กดสวิตซ์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" name="ตัวยึดเนื้อหา 4"/>
          <p:cNvSpPr txBox="1">
            <a:spLocks/>
          </p:cNvSpPr>
          <p:nvPr/>
        </p:nvSpPr>
        <p:spPr bwMode="auto">
          <a:xfrm>
            <a:off x="652463" y="2900363"/>
            <a:ext cx="12954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นำชิ้นงานไปยัง </a:t>
            </a: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Store Side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Line</a:t>
            </a:r>
          </a:p>
        </p:txBody>
      </p:sp>
      <p:sp>
        <p:nvSpPr>
          <p:cNvPr id="5" name="ตัวยึดเนื้อหา 4"/>
          <p:cNvSpPr txBox="1">
            <a:spLocks/>
          </p:cNvSpPr>
          <p:nvPr/>
        </p:nvSpPr>
        <p:spPr bwMode="auto">
          <a:xfrm>
            <a:off x="428625" y="2125663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1</a:t>
            </a:r>
          </a:p>
        </p:txBody>
      </p:sp>
      <p:sp>
        <p:nvSpPr>
          <p:cNvPr id="6" name="ตัวยึดเนื้อหา 4"/>
          <p:cNvSpPr txBox="1">
            <a:spLocks/>
          </p:cNvSpPr>
          <p:nvPr/>
        </p:nvSpPr>
        <p:spPr bwMode="auto">
          <a:xfrm>
            <a:off x="428625" y="2405063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2</a:t>
            </a:r>
          </a:p>
        </p:txBody>
      </p:sp>
      <p:sp>
        <p:nvSpPr>
          <p:cNvPr id="7" name="ตัวยึดเนื้อหา 4"/>
          <p:cNvSpPr txBox="1">
            <a:spLocks/>
          </p:cNvSpPr>
          <p:nvPr/>
        </p:nvSpPr>
        <p:spPr bwMode="auto">
          <a:xfrm>
            <a:off x="428625" y="2668588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3</a:t>
            </a:r>
          </a:p>
        </p:txBody>
      </p:sp>
      <p:sp>
        <p:nvSpPr>
          <p:cNvPr id="10" name="ตัวยึดเนื้อหา 4"/>
          <p:cNvSpPr txBox="1">
            <a:spLocks/>
          </p:cNvSpPr>
          <p:nvPr/>
        </p:nvSpPr>
        <p:spPr bwMode="auto">
          <a:xfrm>
            <a:off x="428625" y="2924175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4</a:t>
            </a:r>
          </a:p>
        </p:txBody>
      </p:sp>
      <p:sp>
        <p:nvSpPr>
          <p:cNvPr id="9" name="ตัวยึดเนื้อหา 4"/>
          <p:cNvSpPr txBox="1">
            <a:spLocks/>
          </p:cNvSpPr>
          <p:nvPr/>
        </p:nvSpPr>
        <p:spPr bwMode="auto">
          <a:xfrm>
            <a:off x="1958975" y="2022475"/>
            <a:ext cx="4929188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 3      5.2       5        4        6      4.8</a:t>
            </a:r>
            <a:r>
              <a:rPr lang="th-TH" sz="1400">
                <a:solidFill>
                  <a:srgbClr val="000000"/>
                </a:solidFill>
              </a:rPr>
              <a:t> </a:t>
            </a:r>
            <a:r>
              <a:rPr lang="en-US" sz="1400">
                <a:solidFill>
                  <a:srgbClr val="000000"/>
                </a:solidFill>
              </a:rPr>
              <a:t>      5       5        4        6</a:t>
            </a:r>
          </a:p>
        </p:txBody>
      </p:sp>
      <p:sp>
        <p:nvSpPr>
          <p:cNvPr id="11" name="ตัวยึดเนื้อหา 4"/>
          <p:cNvSpPr txBox="1">
            <a:spLocks/>
          </p:cNvSpPr>
          <p:nvPr/>
        </p:nvSpPr>
        <p:spPr bwMode="auto">
          <a:xfrm>
            <a:off x="2012950" y="2298700"/>
            <a:ext cx="4929188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2      2.1       2        2        2      1.9       2       3        1        2</a:t>
            </a:r>
            <a:endParaRPr lang="th-TH" sz="1400">
              <a:solidFill>
                <a:srgbClr val="000000"/>
              </a:solidFill>
            </a:endParaRPr>
          </a:p>
        </p:txBody>
      </p:sp>
      <p:sp>
        <p:nvSpPr>
          <p:cNvPr id="12" name="ตัวยึดเนื้อหา 4"/>
          <p:cNvSpPr txBox="1">
            <a:spLocks/>
          </p:cNvSpPr>
          <p:nvPr/>
        </p:nvSpPr>
        <p:spPr bwMode="auto">
          <a:xfrm>
            <a:off x="1911350" y="2573338"/>
            <a:ext cx="4929188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2.1     2.1       2        2      1.9     1.9       2       3        1        2</a:t>
            </a:r>
          </a:p>
        </p:txBody>
      </p:sp>
      <p:sp>
        <p:nvSpPr>
          <p:cNvPr id="13" name="ตัวยึดเนื้อหา 4"/>
          <p:cNvSpPr txBox="1">
            <a:spLocks/>
          </p:cNvSpPr>
          <p:nvPr/>
        </p:nvSpPr>
        <p:spPr bwMode="auto">
          <a:xfrm>
            <a:off x="1908175" y="2844800"/>
            <a:ext cx="492918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3.1      3         3        4      2.9       3        3       3        2        3</a:t>
            </a:r>
          </a:p>
        </p:txBody>
      </p:sp>
      <p:sp>
        <p:nvSpPr>
          <p:cNvPr id="2025493" name="Rectangle 6"/>
          <p:cNvSpPr>
            <a:spLocks noChangeArrowheads="1"/>
          </p:cNvSpPr>
          <p:nvPr/>
        </p:nvSpPr>
        <p:spPr bwMode="auto">
          <a:xfrm>
            <a:off x="1835150" y="4221163"/>
            <a:ext cx="5049838" cy="1031875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4000" b="1">
              <a:solidFill>
                <a:srgbClr val="FF0000"/>
              </a:solidFill>
            </a:endParaRPr>
          </a:p>
        </p:txBody>
      </p:sp>
      <p:sp>
        <p:nvSpPr>
          <p:cNvPr id="2025494" name="Rectangle 22"/>
          <p:cNvSpPr>
            <a:spLocks noChangeArrowheads="1"/>
          </p:cNvSpPr>
          <p:nvPr/>
        </p:nvSpPr>
        <p:spPr bwMode="auto">
          <a:xfrm>
            <a:off x="3097213" y="3990975"/>
            <a:ext cx="2735262" cy="720725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4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12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25495" name="Text Box 23"/>
          <p:cNvSpPr txBox="1">
            <a:spLocks noChangeArrowheads="1"/>
          </p:cNvSpPr>
          <p:nvPr/>
        </p:nvSpPr>
        <p:spPr bwMode="auto">
          <a:xfrm>
            <a:off x="4117975" y="4422775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STEP 4</a:t>
            </a:r>
            <a:endParaRPr lang="th-TH" sz="1200" b="1"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25496" name="Rectangle 8"/>
          <p:cNvSpPr>
            <a:spLocks noChangeArrowheads="1"/>
          </p:cNvSpPr>
          <p:nvPr/>
        </p:nvSpPr>
        <p:spPr bwMode="auto">
          <a:xfrm>
            <a:off x="431800" y="6165850"/>
            <a:ext cx="8712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4  :</a:t>
            </a:r>
            <a:r>
              <a:rPr lang="en-US" sz="1200" b="1" i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Calculate Total Cycle Time then select data of the column that be gotten minimum total cycle time for making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3 ten set (3 sheet of standardized work)</a:t>
            </a:r>
            <a:endParaRPr lang="en-US" sz="1200" i="1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 bwMode="auto">
          <a:xfrm>
            <a:off x="1643042" y="3571876"/>
            <a:ext cx="6215106" cy="857256"/>
          </a:xfrm>
          <a:prstGeom prst="rect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ngsana New" pitchFamily="18" charset="-34"/>
            </a:endParaRPr>
          </a:p>
        </p:txBody>
      </p:sp>
      <p:sp>
        <p:nvSpPr>
          <p:cNvPr id="2017282" name="Rectangle 2"/>
          <p:cNvSpPr>
            <a:spLocks noChangeArrowheads="1"/>
          </p:cNvSpPr>
          <p:nvPr/>
        </p:nvSpPr>
        <p:spPr bwMode="auto">
          <a:xfrm>
            <a:off x="0" y="152400"/>
            <a:ext cx="6858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5400" b="1">
              <a:solidFill>
                <a:srgbClr val="000000"/>
              </a:solidFill>
              <a:latin typeface="Times New Roman" pitchFamily="18" charset="0"/>
              <a:cs typeface="DilleniaUPC" pitchFamily="18" charset="-34"/>
            </a:endParaRPr>
          </a:p>
        </p:txBody>
      </p:sp>
      <p:sp>
        <p:nvSpPr>
          <p:cNvPr id="2017283" name="Line 3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17284" name="Text Box 4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17286" name="Text Box 6"/>
          <p:cNvSpPr txBox="1">
            <a:spLocks noChangeArrowheads="1"/>
          </p:cNvSpPr>
          <p:nvPr/>
        </p:nvSpPr>
        <p:spPr bwMode="auto">
          <a:xfrm>
            <a:off x="179388" y="1268413"/>
            <a:ext cx="4608512" cy="57943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ngsana New" pitchFamily="18" charset="-34"/>
              </a:rPr>
              <a:t>งานมาตรฐาน</a:t>
            </a:r>
            <a:endParaRPr lang="en-US" sz="32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ngsana New" pitchFamily="18" charset="-34"/>
            </a:endParaRPr>
          </a:p>
        </p:txBody>
      </p:sp>
      <p:sp>
        <p:nvSpPr>
          <p:cNvPr id="2017287" name="Text Box 7"/>
          <p:cNvSpPr txBox="1">
            <a:spLocks noChangeArrowheads="1"/>
          </p:cNvSpPr>
          <p:nvPr/>
        </p:nvSpPr>
        <p:spPr bwMode="auto">
          <a:xfrm>
            <a:off x="1835150" y="1484313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Standardized Work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17288" name="Text Box 8"/>
          <p:cNvSpPr txBox="1">
            <a:spLocks noChangeArrowheads="1"/>
          </p:cNvSpPr>
          <p:nvPr/>
        </p:nvSpPr>
        <p:spPr bwMode="auto">
          <a:xfrm>
            <a:off x="1095375" y="2271713"/>
            <a:ext cx="20177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1)</a:t>
            </a: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ตารางจับเวลา</a:t>
            </a:r>
          </a:p>
        </p:txBody>
      </p:sp>
      <p:sp>
        <p:nvSpPr>
          <p:cNvPr id="2017289" name="Text Box 9"/>
          <p:cNvSpPr txBox="1">
            <a:spLocks noChangeArrowheads="1"/>
          </p:cNvSpPr>
          <p:nvPr/>
        </p:nvSpPr>
        <p:spPr bwMode="auto">
          <a:xfrm>
            <a:off x="1095375" y="3027363"/>
            <a:ext cx="40116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2)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เอกสารงานมาตรฐาน 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รายการ</a:t>
            </a:r>
          </a:p>
        </p:txBody>
      </p:sp>
      <p:sp>
        <p:nvSpPr>
          <p:cNvPr id="2017290" name="Text Box 10"/>
          <p:cNvSpPr txBox="1">
            <a:spLocks noChangeArrowheads="1"/>
          </p:cNvSpPr>
          <p:nvPr/>
        </p:nvSpPr>
        <p:spPr bwMode="auto">
          <a:xfrm>
            <a:off x="1095375" y="5762625"/>
            <a:ext cx="25241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แผนภาพภาระงาน</a:t>
            </a:r>
          </a:p>
        </p:txBody>
      </p:sp>
      <p:sp>
        <p:nvSpPr>
          <p:cNvPr id="2017291" name="Text Box 11"/>
          <p:cNvSpPr txBox="1">
            <a:spLocks noChangeArrowheads="1"/>
          </p:cNvSpPr>
          <p:nvPr/>
        </p:nvSpPr>
        <p:spPr bwMode="auto">
          <a:xfrm>
            <a:off x="1763713" y="3687763"/>
            <a:ext cx="60944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2.1)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ใบแสดงความสามารถในการทำงานของเครื่องจักร</a:t>
            </a:r>
          </a:p>
        </p:txBody>
      </p:sp>
      <p:sp>
        <p:nvSpPr>
          <p:cNvPr id="2017292" name="Text Box 12"/>
          <p:cNvSpPr txBox="1">
            <a:spLocks noChangeArrowheads="1"/>
          </p:cNvSpPr>
          <p:nvPr/>
        </p:nvSpPr>
        <p:spPr bwMode="auto">
          <a:xfrm>
            <a:off x="1763713" y="4314825"/>
            <a:ext cx="33289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2.2)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ตารางงานมาตรฐานผสม</a:t>
            </a:r>
          </a:p>
        </p:txBody>
      </p:sp>
      <p:sp>
        <p:nvSpPr>
          <p:cNvPr id="2017293" name="Text Box 13"/>
          <p:cNvSpPr txBox="1">
            <a:spLocks noChangeArrowheads="1"/>
          </p:cNvSpPr>
          <p:nvPr/>
        </p:nvSpPr>
        <p:spPr bwMode="auto">
          <a:xfrm>
            <a:off x="1763713" y="4949825"/>
            <a:ext cx="31289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2.3)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แผนภาพงานมาตรฐาน</a:t>
            </a:r>
          </a:p>
        </p:txBody>
      </p:sp>
      <p:sp>
        <p:nvSpPr>
          <p:cNvPr id="2017294" name="Text Box 14"/>
          <p:cNvSpPr txBox="1">
            <a:spLocks noChangeArrowheads="1"/>
          </p:cNvSpPr>
          <p:nvPr/>
        </p:nvSpPr>
        <p:spPr bwMode="auto">
          <a:xfrm>
            <a:off x="3081338" y="2471738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</a:rPr>
              <a:t>Time Measurement Sheet</a:t>
            </a:r>
            <a:endParaRPr lang="th-TH" sz="1200" b="1" dirty="0">
              <a:solidFill>
                <a:srgbClr val="000000"/>
              </a:solidFill>
            </a:endParaRPr>
          </a:p>
        </p:txBody>
      </p:sp>
      <p:sp>
        <p:nvSpPr>
          <p:cNvPr id="2017295" name="Text Box 15"/>
          <p:cNvSpPr txBox="1">
            <a:spLocks noChangeArrowheads="1"/>
          </p:cNvSpPr>
          <p:nvPr/>
        </p:nvSpPr>
        <p:spPr bwMode="auto">
          <a:xfrm>
            <a:off x="5076825" y="321310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3 Ten Set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17296" name="Text Box 16"/>
          <p:cNvSpPr txBox="1">
            <a:spLocks noChangeArrowheads="1"/>
          </p:cNvSpPr>
          <p:nvPr/>
        </p:nvSpPr>
        <p:spPr bwMode="auto">
          <a:xfrm>
            <a:off x="2266950" y="412750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Machine Capacity Sheet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7" name="Text Box 17"/>
          <p:cNvSpPr txBox="1">
            <a:spLocks noChangeArrowheads="1"/>
          </p:cNvSpPr>
          <p:nvPr/>
        </p:nvSpPr>
        <p:spPr bwMode="auto">
          <a:xfrm>
            <a:off x="2266950" y="4772025"/>
            <a:ext cx="29098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Combination Table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8" name="Text Box 18"/>
          <p:cNvSpPr txBox="1">
            <a:spLocks noChangeArrowheads="1"/>
          </p:cNvSpPr>
          <p:nvPr/>
        </p:nvSpPr>
        <p:spPr bwMode="auto">
          <a:xfrm>
            <a:off x="2266950" y="5411788"/>
            <a:ext cx="29098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Chart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9" name="Text Box 19"/>
          <p:cNvSpPr txBox="1">
            <a:spLocks noChangeArrowheads="1"/>
          </p:cNvSpPr>
          <p:nvPr/>
        </p:nvSpPr>
        <p:spPr bwMode="auto">
          <a:xfrm>
            <a:off x="3597275" y="593725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Yamazumi Chart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000100" y="2214554"/>
            <a:ext cx="4071966" cy="8572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1" i="0" u="none" strike="noStrike" cap="none" normalizeH="0" baseline="0" dirty="0" smtClean="0">
              <a:ln>
                <a:noFill/>
              </a:ln>
              <a:noFill/>
              <a:effectLst/>
              <a:latin typeface="Arial" pitchFamily="34" charset="0"/>
              <a:cs typeface="Angsana New" pitchFamily="18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22" name="Line 2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7523" name="Text Box 3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27525" name="Text Box 5"/>
          <p:cNvSpPr txBox="1">
            <a:spLocks noChangeArrowheads="1"/>
          </p:cNvSpPr>
          <p:nvPr/>
        </p:nvSpPr>
        <p:spPr bwMode="auto">
          <a:xfrm>
            <a:off x="95250" y="1069975"/>
            <a:ext cx="40116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2)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เอกสารงานมาตรฐาน 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รายการ</a:t>
            </a:r>
          </a:p>
        </p:txBody>
      </p:sp>
      <p:sp>
        <p:nvSpPr>
          <p:cNvPr id="2027526" name="Text Box 6"/>
          <p:cNvSpPr txBox="1">
            <a:spLocks noChangeArrowheads="1"/>
          </p:cNvSpPr>
          <p:nvPr/>
        </p:nvSpPr>
        <p:spPr bwMode="auto">
          <a:xfrm>
            <a:off x="90488" y="1463675"/>
            <a:ext cx="60944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2.1)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ใบแสดงความสามารถในการทำงานของเครื่องจักร</a:t>
            </a:r>
          </a:p>
        </p:txBody>
      </p:sp>
      <p:sp>
        <p:nvSpPr>
          <p:cNvPr id="2027527" name="Text Box 7"/>
          <p:cNvSpPr txBox="1">
            <a:spLocks noChangeArrowheads="1"/>
          </p:cNvSpPr>
          <p:nvPr/>
        </p:nvSpPr>
        <p:spPr bwMode="auto">
          <a:xfrm>
            <a:off x="4079875" y="1255713"/>
            <a:ext cx="9969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3 Ten Set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27528" name="Text Box 8"/>
          <p:cNvSpPr txBox="1">
            <a:spLocks noChangeArrowheads="1"/>
          </p:cNvSpPr>
          <p:nvPr/>
        </p:nvSpPr>
        <p:spPr bwMode="auto">
          <a:xfrm>
            <a:off x="611188" y="1844675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Machine Capacity Sheet</a:t>
            </a:r>
            <a:endParaRPr lang="th-TH" sz="1200">
              <a:solidFill>
                <a:srgbClr val="000000"/>
              </a:solidFill>
            </a:endParaRPr>
          </a:p>
        </p:txBody>
      </p:sp>
      <p:pic>
        <p:nvPicPr>
          <p:cNvPr id="2027529" name="Picture 4"/>
          <p:cNvPicPr>
            <a:picLocks noChangeAspect="1" noChangeArrowheads="1"/>
          </p:cNvPicPr>
          <p:nvPr/>
        </p:nvPicPr>
        <p:blipFill>
          <a:blip r:embed="rId2" cstate="print"/>
          <a:srcRect l="6839" t="12766" r="7491" b="12396"/>
          <a:stretch>
            <a:fillRect/>
          </a:stretch>
        </p:blipFill>
        <p:spPr bwMode="auto">
          <a:xfrm>
            <a:off x="179388" y="2205038"/>
            <a:ext cx="5688012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27530" name="Text Box 10"/>
          <p:cNvSpPr txBox="1">
            <a:spLocks noChangeArrowheads="1"/>
          </p:cNvSpPr>
          <p:nvPr/>
        </p:nvSpPr>
        <p:spPr bwMode="auto">
          <a:xfrm>
            <a:off x="6075363" y="1246188"/>
            <a:ext cx="2968625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ผู้บันทึก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วันที่บันทึก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3.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แผนกที่ทำการบันทึก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4.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ชื่อไลน์ผลิต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5.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หมายเลขชิ้นส่วน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6.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ชื่อชิ้นส่วน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7.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ปริมาณชิ้นงานที่ลูกค้าต้องการ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8.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เวลาที่ลูกค้าต้องการชิ้นงาน</a:t>
            </a: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ชิ้น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9.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บันทึกก่อน</a:t>
            </a: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หลังปรับปรุง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10.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เวลาในการทำงาน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11.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ลำดับขั้นตอนการทำงาน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12.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ชื่อขั้นตอนการทำงาน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13.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หมายเลขเครื่องจักร</a:t>
            </a:r>
            <a:endParaRPr lang="en-US" sz="2200">
              <a:solidFill>
                <a:srgbClr val="000000"/>
              </a:solidFill>
              <a:latin typeface="Angsana New" pitchFamily="18" charset="-34"/>
            </a:endParaRP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14.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เวลาที่คนทำงาน</a:t>
            </a:r>
            <a:endParaRPr lang="en-US" sz="2200">
              <a:solidFill>
                <a:srgbClr val="000000"/>
              </a:solidFill>
              <a:latin typeface="Angsana New" pitchFamily="18" charset="-34"/>
            </a:endParaRP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15.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เวลาที่เครื่องจักรทำงาน</a:t>
            </a:r>
          </a:p>
        </p:txBody>
      </p:sp>
      <p:sp>
        <p:nvSpPr>
          <p:cNvPr id="2027531" name="Text Box 11"/>
          <p:cNvSpPr txBox="1">
            <a:spLocks noChangeArrowheads="1"/>
          </p:cNvSpPr>
          <p:nvPr/>
        </p:nvSpPr>
        <p:spPr bwMode="auto">
          <a:xfrm>
            <a:off x="7181850" y="1244600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Recorder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32" name="Text Box 12"/>
          <p:cNvSpPr txBox="1">
            <a:spLocks noChangeArrowheads="1"/>
          </p:cNvSpPr>
          <p:nvPr/>
        </p:nvSpPr>
        <p:spPr bwMode="auto">
          <a:xfrm>
            <a:off x="7181850" y="1608138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Date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33" name="Text Box 13"/>
          <p:cNvSpPr txBox="1">
            <a:spLocks noChangeArrowheads="1"/>
          </p:cNvSpPr>
          <p:nvPr/>
        </p:nvSpPr>
        <p:spPr bwMode="auto">
          <a:xfrm>
            <a:off x="7885113" y="1989138"/>
            <a:ext cx="12588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Department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34" name="Text Box 14"/>
          <p:cNvSpPr txBox="1">
            <a:spLocks noChangeArrowheads="1"/>
          </p:cNvSpPr>
          <p:nvPr/>
        </p:nvSpPr>
        <p:spPr bwMode="auto">
          <a:xfrm>
            <a:off x="7215188" y="2349500"/>
            <a:ext cx="18002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Production Line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35" name="Text Box 15"/>
          <p:cNvSpPr txBox="1">
            <a:spLocks noChangeArrowheads="1"/>
          </p:cNvSpPr>
          <p:nvPr/>
        </p:nvSpPr>
        <p:spPr bwMode="auto">
          <a:xfrm>
            <a:off x="7689850" y="2720975"/>
            <a:ext cx="8429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Part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36" name="Text Box 16"/>
          <p:cNvSpPr txBox="1">
            <a:spLocks noChangeArrowheads="1"/>
          </p:cNvSpPr>
          <p:nvPr/>
        </p:nvSpPr>
        <p:spPr bwMode="auto">
          <a:xfrm>
            <a:off x="7164388" y="3081338"/>
            <a:ext cx="10795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Part 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37" name="Text Box 17"/>
          <p:cNvSpPr txBox="1">
            <a:spLocks noChangeArrowheads="1"/>
          </p:cNvSpPr>
          <p:nvPr/>
        </p:nvSpPr>
        <p:spPr bwMode="auto">
          <a:xfrm>
            <a:off x="8413750" y="3594100"/>
            <a:ext cx="7556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Require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38" name="Text Box 18"/>
          <p:cNvSpPr txBox="1">
            <a:spLocks noChangeArrowheads="1"/>
          </p:cNvSpPr>
          <p:nvPr/>
        </p:nvSpPr>
        <p:spPr bwMode="auto">
          <a:xfrm>
            <a:off x="8280400" y="4017963"/>
            <a:ext cx="8636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Takt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39" name="Text Box 19"/>
          <p:cNvSpPr txBox="1">
            <a:spLocks noChangeArrowheads="1"/>
          </p:cNvSpPr>
          <p:nvPr/>
        </p:nvSpPr>
        <p:spPr bwMode="auto">
          <a:xfrm>
            <a:off x="7596188" y="4386263"/>
            <a:ext cx="154781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Before/After Kaizen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40" name="Text Box 20"/>
          <p:cNvSpPr txBox="1">
            <a:spLocks noChangeArrowheads="1"/>
          </p:cNvSpPr>
          <p:nvPr/>
        </p:nvSpPr>
        <p:spPr bwMode="auto">
          <a:xfrm>
            <a:off x="7702550" y="4584700"/>
            <a:ext cx="1152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Working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41" name="Text Box 21"/>
          <p:cNvSpPr txBox="1">
            <a:spLocks noChangeArrowheads="1"/>
          </p:cNvSpPr>
          <p:nvPr/>
        </p:nvSpPr>
        <p:spPr bwMode="auto">
          <a:xfrm>
            <a:off x="8172450" y="4852988"/>
            <a:ext cx="971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Work Sequence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42" name="Text Box 22"/>
          <p:cNvSpPr txBox="1">
            <a:spLocks noChangeArrowheads="1"/>
          </p:cNvSpPr>
          <p:nvPr/>
        </p:nvSpPr>
        <p:spPr bwMode="auto">
          <a:xfrm>
            <a:off x="7964488" y="5300663"/>
            <a:ext cx="8556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Process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43" name="Text Box 23"/>
          <p:cNvSpPr txBox="1">
            <a:spLocks noChangeArrowheads="1"/>
          </p:cNvSpPr>
          <p:nvPr/>
        </p:nvSpPr>
        <p:spPr bwMode="auto">
          <a:xfrm>
            <a:off x="7804150" y="5673725"/>
            <a:ext cx="11874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Machine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44" name="Text Box 24"/>
          <p:cNvSpPr txBox="1">
            <a:spLocks noChangeArrowheads="1"/>
          </p:cNvSpPr>
          <p:nvPr/>
        </p:nvSpPr>
        <p:spPr bwMode="auto">
          <a:xfrm>
            <a:off x="7596188" y="6042025"/>
            <a:ext cx="11874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Manual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7545" name="Text Box 25"/>
          <p:cNvSpPr txBox="1">
            <a:spLocks noChangeArrowheads="1"/>
          </p:cNvSpPr>
          <p:nvPr/>
        </p:nvSpPr>
        <p:spPr bwMode="auto">
          <a:xfrm>
            <a:off x="8131175" y="6410325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Auto Time</a:t>
            </a:r>
            <a:endParaRPr lang="th-TH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546" name="Line 2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8547" name="Text Box 3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28549" name="Text Box 5"/>
          <p:cNvSpPr txBox="1">
            <a:spLocks noChangeArrowheads="1"/>
          </p:cNvSpPr>
          <p:nvPr/>
        </p:nvSpPr>
        <p:spPr bwMode="auto">
          <a:xfrm>
            <a:off x="95250" y="1069975"/>
            <a:ext cx="4011613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2)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เอกสารงานมาตรฐาน 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รายการ</a:t>
            </a:r>
          </a:p>
        </p:txBody>
      </p:sp>
      <p:sp>
        <p:nvSpPr>
          <p:cNvPr id="2028550" name="Text Box 6"/>
          <p:cNvSpPr txBox="1">
            <a:spLocks noChangeArrowheads="1"/>
          </p:cNvSpPr>
          <p:nvPr/>
        </p:nvSpPr>
        <p:spPr bwMode="auto">
          <a:xfrm>
            <a:off x="90488" y="1463675"/>
            <a:ext cx="609441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2.1)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ใบแสดงความสามารถในการทำงานของเครื่องจักร</a:t>
            </a:r>
          </a:p>
        </p:txBody>
      </p:sp>
      <p:sp>
        <p:nvSpPr>
          <p:cNvPr id="2028551" name="Text Box 7"/>
          <p:cNvSpPr txBox="1">
            <a:spLocks noChangeArrowheads="1"/>
          </p:cNvSpPr>
          <p:nvPr/>
        </p:nvSpPr>
        <p:spPr bwMode="auto">
          <a:xfrm>
            <a:off x="4079875" y="1255713"/>
            <a:ext cx="9969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3 Ten Set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28552" name="Text Box 8"/>
          <p:cNvSpPr txBox="1">
            <a:spLocks noChangeArrowheads="1"/>
          </p:cNvSpPr>
          <p:nvPr/>
        </p:nvSpPr>
        <p:spPr bwMode="auto">
          <a:xfrm>
            <a:off x="611188" y="1844675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Machine Capacity Sheet</a:t>
            </a:r>
            <a:endParaRPr lang="th-TH" sz="1200">
              <a:solidFill>
                <a:srgbClr val="000000"/>
              </a:solidFill>
            </a:endParaRPr>
          </a:p>
        </p:txBody>
      </p:sp>
      <p:pic>
        <p:nvPicPr>
          <p:cNvPr id="2028553" name="Picture 4"/>
          <p:cNvPicPr>
            <a:picLocks noChangeAspect="1" noChangeArrowheads="1"/>
          </p:cNvPicPr>
          <p:nvPr/>
        </p:nvPicPr>
        <p:blipFill>
          <a:blip r:embed="rId2" cstate="print"/>
          <a:srcRect l="6839" t="12766" r="7491" b="12396"/>
          <a:stretch>
            <a:fillRect/>
          </a:stretch>
        </p:blipFill>
        <p:spPr bwMode="auto">
          <a:xfrm>
            <a:off x="179388" y="2205038"/>
            <a:ext cx="5688012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28554" name="Text Box 10"/>
          <p:cNvSpPr txBox="1">
            <a:spLocks noChangeArrowheads="1"/>
          </p:cNvSpPr>
          <p:nvPr/>
        </p:nvSpPr>
        <p:spPr bwMode="auto">
          <a:xfrm>
            <a:off x="6049963" y="1243013"/>
            <a:ext cx="2968625" cy="5472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16.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เวลาทำงานรวม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17.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จำนวนชิ้นที่เปลี่ยนเครื่องมือ</a:t>
            </a: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ครั้ง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18.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เวลาที่ใช้เปลี่ยนเครื่องมือ</a:t>
            </a: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ครั้ง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19.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จำนวนที่สามารถผลิตได้</a:t>
            </a: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วัน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20.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สัญลักษณ์การทำงานของคนและ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     เครื่องจักร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21.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เวลารวมทั้งหมด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22.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หมายเลขเอกสาร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23.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ลำดับที่ของการทำงาน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24.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ชื่อแผนกที่จัดทำเอกสาร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25.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ชื่อสาขาที่จัดทำเอกสาร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26.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ชื่อบริษัทที่จัดทำเอกสาร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27.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ลำดับของพนักงาน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28.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ผู้ตรวจสอบ</a:t>
            </a:r>
            <a:endParaRPr lang="en-US" sz="2200">
              <a:solidFill>
                <a:srgbClr val="000000"/>
              </a:solidFill>
              <a:latin typeface="Angsana New" pitchFamily="18" charset="-34"/>
            </a:endParaRP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29.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ผู้อนุมัติ</a:t>
            </a:r>
            <a:endParaRPr lang="en-US" sz="220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28555" name="Text Box 11"/>
          <p:cNvSpPr txBox="1">
            <a:spLocks noChangeArrowheads="1"/>
          </p:cNvSpPr>
          <p:nvPr/>
        </p:nvSpPr>
        <p:spPr bwMode="auto">
          <a:xfrm>
            <a:off x="7558088" y="1235075"/>
            <a:ext cx="1368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Time Complete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56" name="Text Box 12"/>
          <p:cNvSpPr txBox="1">
            <a:spLocks noChangeArrowheads="1"/>
          </p:cNvSpPr>
          <p:nvPr/>
        </p:nvSpPr>
        <p:spPr bwMode="auto">
          <a:xfrm>
            <a:off x="7775575" y="1773238"/>
            <a:ext cx="1368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Pcs/Change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57" name="Text Box 13"/>
          <p:cNvSpPr txBox="1">
            <a:spLocks noChangeArrowheads="1"/>
          </p:cNvSpPr>
          <p:nvPr/>
        </p:nvSpPr>
        <p:spPr bwMode="auto">
          <a:xfrm>
            <a:off x="7775575" y="2133600"/>
            <a:ext cx="1368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Change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58" name="Text Box 14"/>
          <p:cNvSpPr txBox="1">
            <a:spLocks noChangeArrowheads="1"/>
          </p:cNvSpPr>
          <p:nvPr/>
        </p:nvSpPr>
        <p:spPr bwMode="auto">
          <a:xfrm>
            <a:off x="7775575" y="2505075"/>
            <a:ext cx="1368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Capacity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59" name="Text Box 15"/>
          <p:cNvSpPr txBox="1">
            <a:spLocks noChangeArrowheads="1"/>
          </p:cNvSpPr>
          <p:nvPr/>
        </p:nvSpPr>
        <p:spPr bwMode="auto">
          <a:xfrm>
            <a:off x="7126288" y="3081338"/>
            <a:ext cx="1368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Symbol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60" name="Text Box 16"/>
          <p:cNvSpPr txBox="1">
            <a:spLocks noChangeArrowheads="1"/>
          </p:cNvSpPr>
          <p:nvPr/>
        </p:nvSpPr>
        <p:spPr bwMode="auto">
          <a:xfrm>
            <a:off x="7575550" y="3449638"/>
            <a:ext cx="1368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Total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61" name="Text Box 17"/>
          <p:cNvSpPr txBox="1">
            <a:spLocks noChangeArrowheads="1"/>
          </p:cNvSpPr>
          <p:nvPr/>
        </p:nvSpPr>
        <p:spPr bwMode="auto">
          <a:xfrm>
            <a:off x="7575550" y="3827463"/>
            <a:ext cx="1368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Document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62" name="Text Box 18"/>
          <p:cNvSpPr txBox="1">
            <a:spLocks noChangeArrowheads="1"/>
          </p:cNvSpPr>
          <p:nvPr/>
        </p:nvSpPr>
        <p:spPr bwMode="auto">
          <a:xfrm>
            <a:off x="8053388" y="4152900"/>
            <a:ext cx="868362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Work</a:t>
            </a:r>
          </a:p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Sequence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63" name="Text Box 19"/>
          <p:cNvSpPr txBox="1">
            <a:spLocks noChangeArrowheads="1"/>
          </p:cNvSpPr>
          <p:nvPr/>
        </p:nvSpPr>
        <p:spPr bwMode="auto">
          <a:xfrm>
            <a:off x="8124825" y="4556125"/>
            <a:ext cx="720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Section</a:t>
            </a:r>
          </a:p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64" name="Text Box 20"/>
          <p:cNvSpPr txBox="1">
            <a:spLocks noChangeArrowheads="1"/>
          </p:cNvSpPr>
          <p:nvPr/>
        </p:nvSpPr>
        <p:spPr bwMode="auto">
          <a:xfrm>
            <a:off x="8124825" y="4949825"/>
            <a:ext cx="720725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Branch</a:t>
            </a:r>
          </a:p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65" name="Text Box 21"/>
          <p:cNvSpPr txBox="1">
            <a:spLocks noChangeArrowheads="1"/>
          </p:cNvSpPr>
          <p:nvPr/>
        </p:nvSpPr>
        <p:spPr bwMode="auto">
          <a:xfrm>
            <a:off x="8116888" y="5338763"/>
            <a:ext cx="901700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Company</a:t>
            </a:r>
          </a:p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66" name="Text Box 22"/>
          <p:cNvSpPr txBox="1">
            <a:spLocks noChangeArrowheads="1"/>
          </p:cNvSpPr>
          <p:nvPr/>
        </p:nvSpPr>
        <p:spPr bwMode="auto">
          <a:xfrm>
            <a:off x="7758113" y="5734050"/>
            <a:ext cx="1258887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Worker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67" name="Text Box 23"/>
          <p:cNvSpPr txBox="1">
            <a:spLocks noChangeArrowheads="1"/>
          </p:cNvSpPr>
          <p:nvPr/>
        </p:nvSpPr>
        <p:spPr bwMode="auto">
          <a:xfrm>
            <a:off x="7210425" y="6105525"/>
            <a:ext cx="1258888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Checker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8568" name="Text Box 24"/>
          <p:cNvSpPr txBox="1">
            <a:spLocks noChangeArrowheads="1"/>
          </p:cNvSpPr>
          <p:nvPr/>
        </p:nvSpPr>
        <p:spPr bwMode="auto">
          <a:xfrm>
            <a:off x="6969125" y="6465888"/>
            <a:ext cx="1258888" cy="18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Approver</a:t>
            </a:r>
            <a:endParaRPr lang="th-TH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9570" name="Rectangle 2"/>
          <p:cNvSpPr>
            <a:spLocks noChangeArrowheads="1"/>
          </p:cNvSpPr>
          <p:nvPr/>
        </p:nvSpPr>
        <p:spPr bwMode="auto">
          <a:xfrm>
            <a:off x="323850" y="1471613"/>
            <a:ext cx="55245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400" b="1" u="sng">
                <a:solidFill>
                  <a:srgbClr val="000000"/>
                </a:solidFill>
                <a:latin typeface="Angsana New" pitchFamily="18" charset="-34"/>
              </a:rPr>
              <a:t>ชื่อไลน์</a:t>
            </a:r>
            <a:r>
              <a:rPr lang="en-US" sz="2400" b="1">
                <a:solidFill>
                  <a:srgbClr val="000000"/>
                </a:solidFill>
                <a:latin typeface="Angsana New" pitchFamily="18" charset="-34"/>
              </a:rPr>
              <a:t>  :</a:t>
            </a:r>
            <a:r>
              <a:rPr lang="en-US" sz="2400">
                <a:solidFill>
                  <a:srgbClr val="000000"/>
                </a:solidFill>
                <a:latin typeface="Angsana New" pitchFamily="18" charset="-34"/>
              </a:rPr>
              <a:t>  </a:t>
            </a:r>
            <a:r>
              <a:rPr lang="en-US" sz="2400" u="sng">
                <a:solidFill>
                  <a:srgbClr val="000000"/>
                </a:solidFill>
                <a:latin typeface="Angsana New" pitchFamily="18" charset="-34"/>
              </a:rPr>
              <a:t>243R/C Rainforce  SUB ASS’Y</a:t>
            </a:r>
          </a:p>
        </p:txBody>
      </p:sp>
      <p:sp>
        <p:nvSpPr>
          <p:cNvPr id="2029571" name="Rectangle 3"/>
          <p:cNvSpPr>
            <a:spLocks noChangeArrowheads="1"/>
          </p:cNvSpPr>
          <p:nvPr/>
        </p:nvSpPr>
        <p:spPr bwMode="auto">
          <a:xfrm>
            <a:off x="304800" y="3432175"/>
            <a:ext cx="2819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1800" u="sng">
                <a:solidFill>
                  <a:srgbClr val="000000"/>
                </a:solidFill>
                <a:latin typeface="Times New Roman" pitchFamily="18" charset="0"/>
              </a:rPr>
              <a:t>จำนวนที่ต้องการ</a:t>
            </a:r>
            <a:r>
              <a:rPr lang="th-TH" sz="1800">
                <a:solidFill>
                  <a:srgbClr val="000000"/>
                </a:solidFill>
                <a:latin typeface="Times New Roman" pitchFamily="18" charset="0"/>
              </a:rPr>
              <a:t>  890 ชิ้น</a:t>
            </a:r>
            <a:r>
              <a:rPr lang="en-US" sz="1800">
                <a:solidFill>
                  <a:srgbClr val="000000"/>
                </a:solidFill>
                <a:latin typeface="Times New Roman" pitchFamily="18" charset="0"/>
              </a:rPr>
              <a:t>/</a:t>
            </a:r>
            <a:r>
              <a:rPr lang="th-TH" sz="1800">
                <a:solidFill>
                  <a:srgbClr val="000000"/>
                </a:solidFill>
                <a:latin typeface="Times New Roman" pitchFamily="18" charset="0"/>
              </a:rPr>
              <a:t>กะ</a:t>
            </a:r>
            <a:endParaRPr lang="th-TH" sz="1800" u="sng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29572" name="Rectangle 4"/>
          <p:cNvSpPr>
            <a:spLocks noChangeArrowheads="1"/>
          </p:cNvSpPr>
          <p:nvPr/>
        </p:nvSpPr>
        <p:spPr bwMode="auto">
          <a:xfrm>
            <a:off x="5972175" y="1125538"/>
            <a:ext cx="2667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000" u="sng">
                <a:solidFill>
                  <a:srgbClr val="000000"/>
                </a:solidFill>
                <a:latin typeface="Times New Roman" pitchFamily="18" charset="0"/>
              </a:rPr>
              <a:t>ชื่อสินค้า</a:t>
            </a:r>
            <a:r>
              <a:rPr lang="en-US" sz="2000" u="sng">
                <a:solidFill>
                  <a:srgbClr val="000000"/>
                </a:solidFill>
                <a:latin typeface="Times New Roman" pitchFamily="18" charset="0"/>
              </a:rPr>
              <a:t>  :  </a:t>
            </a:r>
            <a:r>
              <a:rPr lang="th-TH" sz="2000" u="sng">
                <a:solidFill>
                  <a:srgbClr val="000000"/>
                </a:solidFill>
                <a:latin typeface="Times New Roman" pitchFamily="18" charset="0"/>
              </a:rPr>
              <a:t>รินฟอร์ส</a:t>
            </a:r>
          </a:p>
        </p:txBody>
      </p:sp>
      <p:sp>
        <p:nvSpPr>
          <p:cNvPr id="2029573" name="Rectangle 5"/>
          <p:cNvSpPr>
            <a:spLocks noChangeArrowheads="1"/>
          </p:cNvSpPr>
          <p:nvPr/>
        </p:nvSpPr>
        <p:spPr bwMode="auto">
          <a:xfrm>
            <a:off x="5940425" y="1484313"/>
            <a:ext cx="2667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000" u="sng">
                <a:solidFill>
                  <a:srgbClr val="000000"/>
                </a:solidFill>
                <a:latin typeface="Times New Roman" pitchFamily="18" charset="0"/>
              </a:rPr>
              <a:t>รหัสสินค้า</a:t>
            </a:r>
            <a:r>
              <a:rPr lang="en-US" sz="2000" u="sng">
                <a:solidFill>
                  <a:srgbClr val="000000"/>
                </a:solidFill>
                <a:latin typeface="Times New Roman" pitchFamily="18" charset="0"/>
              </a:rPr>
              <a:t>  :  </a:t>
            </a:r>
            <a:r>
              <a:rPr lang="th-TH" sz="2000" u="sng">
                <a:solidFill>
                  <a:srgbClr val="000000"/>
                </a:solidFill>
                <a:latin typeface="Times New Roman" pitchFamily="18" charset="0"/>
              </a:rPr>
              <a:t>13800 - 1600</a:t>
            </a:r>
          </a:p>
        </p:txBody>
      </p:sp>
      <p:sp>
        <p:nvSpPr>
          <p:cNvPr id="2029574" name="Rectangle 6"/>
          <p:cNvSpPr>
            <a:spLocks noChangeArrowheads="1"/>
          </p:cNvSpPr>
          <p:nvPr/>
        </p:nvSpPr>
        <p:spPr bwMode="auto">
          <a:xfrm>
            <a:off x="330200" y="1789113"/>
            <a:ext cx="2667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u="sng">
                <a:solidFill>
                  <a:srgbClr val="000000"/>
                </a:solidFill>
                <a:latin typeface="Times New Roman" pitchFamily="18" charset="0"/>
              </a:rPr>
              <a:t>Process</a:t>
            </a:r>
          </a:p>
        </p:txBody>
      </p:sp>
      <p:sp>
        <p:nvSpPr>
          <p:cNvPr id="2029575" name="Rectangle 7"/>
          <p:cNvSpPr>
            <a:spLocks noChangeArrowheads="1"/>
          </p:cNvSpPr>
          <p:nvPr/>
        </p:nvSpPr>
        <p:spPr bwMode="auto">
          <a:xfrm>
            <a:off x="1447800" y="2017713"/>
            <a:ext cx="685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1800">
                <a:solidFill>
                  <a:srgbClr val="000000"/>
                </a:solidFill>
                <a:latin typeface="Times New Roman" pitchFamily="18" charset="0"/>
              </a:rPr>
              <a:t>วัตถุดิบ</a:t>
            </a:r>
          </a:p>
        </p:txBody>
      </p:sp>
      <p:sp>
        <p:nvSpPr>
          <p:cNvPr id="2029576" name="Rectangle 8"/>
          <p:cNvSpPr>
            <a:spLocks noChangeArrowheads="1"/>
          </p:cNvSpPr>
          <p:nvPr/>
        </p:nvSpPr>
        <p:spPr bwMode="auto">
          <a:xfrm>
            <a:off x="1447800" y="2322513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</a:rPr>
              <a:t>(pipe)</a:t>
            </a:r>
          </a:p>
        </p:txBody>
      </p:sp>
      <p:sp>
        <p:nvSpPr>
          <p:cNvPr id="2029577" name="Rectangle 9"/>
          <p:cNvSpPr>
            <a:spLocks noChangeArrowheads="1"/>
          </p:cNvSpPr>
          <p:nvPr/>
        </p:nvSpPr>
        <p:spPr bwMode="auto">
          <a:xfrm>
            <a:off x="2438400" y="2246313"/>
            <a:ext cx="5334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Times New Roman" pitchFamily="18" charset="0"/>
              </a:rPr>
              <a:t>B-101</a:t>
            </a:r>
          </a:p>
        </p:txBody>
      </p:sp>
      <p:sp>
        <p:nvSpPr>
          <p:cNvPr id="2029578" name="Rectangle 10"/>
          <p:cNvSpPr>
            <a:spLocks noChangeArrowheads="1"/>
          </p:cNvSpPr>
          <p:nvPr/>
        </p:nvSpPr>
        <p:spPr bwMode="auto">
          <a:xfrm>
            <a:off x="2514600" y="1789113"/>
            <a:ext cx="38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Wingdings 2" pitchFamily="18" charset="2"/>
              </a:rPr>
              <a:t>j </a:t>
            </a: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latin typeface="Wingdings 2" pitchFamily="18" charset="2"/>
            </a:endParaRPr>
          </a:p>
        </p:txBody>
      </p:sp>
      <p:sp>
        <p:nvSpPr>
          <p:cNvPr id="2029579" name="Rectangle 11"/>
          <p:cNvSpPr>
            <a:spLocks noChangeArrowheads="1"/>
          </p:cNvSpPr>
          <p:nvPr/>
        </p:nvSpPr>
        <p:spPr bwMode="auto">
          <a:xfrm>
            <a:off x="3429000" y="2246313"/>
            <a:ext cx="5334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Times New Roman" pitchFamily="18" charset="0"/>
              </a:rPr>
              <a:t>B-102</a:t>
            </a:r>
          </a:p>
        </p:txBody>
      </p:sp>
      <p:sp>
        <p:nvSpPr>
          <p:cNvPr id="2029580" name="Rectangle 12"/>
          <p:cNvSpPr>
            <a:spLocks noChangeArrowheads="1"/>
          </p:cNvSpPr>
          <p:nvPr/>
        </p:nvSpPr>
        <p:spPr bwMode="auto">
          <a:xfrm>
            <a:off x="4419600" y="2246313"/>
            <a:ext cx="5334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Times New Roman" pitchFamily="18" charset="0"/>
              </a:rPr>
              <a:t>P-101</a:t>
            </a:r>
          </a:p>
        </p:txBody>
      </p:sp>
      <p:sp>
        <p:nvSpPr>
          <p:cNvPr id="2029581" name="Rectangle 13"/>
          <p:cNvSpPr>
            <a:spLocks noChangeArrowheads="1"/>
          </p:cNvSpPr>
          <p:nvPr/>
        </p:nvSpPr>
        <p:spPr bwMode="auto">
          <a:xfrm>
            <a:off x="5486400" y="2246313"/>
            <a:ext cx="6096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Times New Roman" pitchFamily="18" charset="0"/>
              </a:rPr>
              <a:t>SP-101</a:t>
            </a:r>
          </a:p>
        </p:txBody>
      </p:sp>
      <p:sp>
        <p:nvSpPr>
          <p:cNvPr id="2029582" name="Rectangle 14"/>
          <p:cNvSpPr>
            <a:spLocks noChangeArrowheads="1"/>
          </p:cNvSpPr>
          <p:nvPr/>
        </p:nvSpPr>
        <p:spPr bwMode="auto">
          <a:xfrm>
            <a:off x="6705600" y="2246313"/>
            <a:ext cx="609600" cy="304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  <a:latin typeface="Times New Roman" pitchFamily="18" charset="0"/>
              </a:rPr>
              <a:t>AC-101</a:t>
            </a:r>
          </a:p>
        </p:txBody>
      </p:sp>
      <p:sp>
        <p:nvSpPr>
          <p:cNvPr id="2029583" name="Rectangle 15"/>
          <p:cNvSpPr>
            <a:spLocks noChangeArrowheads="1"/>
          </p:cNvSpPr>
          <p:nvPr/>
        </p:nvSpPr>
        <p:spPr bwMode="auto">
          <a:xfrm>
            <a:off x="7772400" y="2246313"/>
            <a:ext cx="6858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th-TH" sz="1800">
                <a:solidFill>
                  <a:srgbClr val="000000"/>
                </a:solidFill>
                <a:latin typeface="Times New Roman" pitchFamily="18" charset="0"/>
              </a:rPr>
              <a:t>งานสำเร็จ</a:t>
            </a:r>
          </a:p>
        </p:txBody>
      </p:sp>
      <p:sp>
        <p:nvSpPr>
          <p:cNvPr id="2029584" name="Line 16"/>
          <p:cNvSpPr>
            <a:spLocks noChangeShapeType="1"/>
          </p:cNvSpPr>
          <p:nvPr/>
        </p:nvSpPr>
        <p:spPr bwMode="auto">
          <a:xfrm>
            <a:off x="2971800" y="23987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9585" name="Line 17"/>
          <p:cNvSpPr>
            <a:spLocks noChangeShapeType="1"/>
          </p:cNvSpPr>
          <p:nvPr/>
        </p:nvSpPr>
        <p:spPr bwMode="auto">
          <a:xfrm>
            <a:off x="2057400" y="239871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9586" name="Line 18"/>
          <p:cNvSpPr>
            <a:spLocks noChangeShapeType="1"/>
          </p:cNvSpPr>
          <p:nvPr/>
        </p:nvSpPr>
        <p:spPr bwMode="auto">
          <a:xfrm>
            <a:off x="3962400" y="23987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9587" name="Line 19"/>
          <p:cNvSpPr>
            <a:spLocks noChangeShapeType="1"/>
          </p:cNvSpPr>
          <p:nvPr/>
        </p:nvSpPr>
        <p:spPr bwMode="auto">
          <a:xfrm>
            <a:off x="4953000" y="2398713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9588" name="Line 20"/>
          <p:cNvSpPr>
            <a:spLocks noChangeShapeType="1"/>
          </p:cNvSpPr>
          <p:nvPr/>
        </p:nvSpPr>
        <p:spPr bwMode="auto">
          <a:xfrm>
            <a:off x="6096000" y="2398713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9589" name="Line 21"/>
          <p:cNvSpPr>
            <a:spLocks noChangeShapeType="1"/>
          </p:cNvSpPr>
          <p:nvPr/>
        </p:nvSpPr>
        <p:spPr bwMode="auto">
          <a:xfrm>
            <a:off x="7315200" y="2398713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9590" name="Rectangle 22"/>
          <p:cNvSpPr>
            <a:spLocks noChangeArrowheads="1"/>
          </p:cNvSpPr>
          <p:nvPr/>
        </p:nvSpPr>
        <p:spPr bwMode="auto">
          <a:xfrm>
            <a:off x="2209800" y="2390775"/>
            <a:ext cx="1066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</a:rPr>
              <a:t>(bending)</a:t>
            </a:r>
          </a:p>
        </p:txBody>
      </p:sp>
      <p:sp>
        <p:nvSpPr>
          <p:cNvPr id="2029591" name="Rectangle 23"/>
          <p:cNvSpPr>
            <a:spLocks noChangeArrowheads="1"/>
          </p:cNvSpPr>
          <p:nvPr/>
        </p:nvSpPr>
        <p:spPr bwMode="auto">
          <a:xfrm>
            <a:off x="3200400" y="2390775"/>
            <a:ext cx="990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</a:rPr>
              <a:t>(bending)</a:t>
            </a:r>
          </a:p>
        </p:txBody>
      </p:sp>
      <p:sp>
        <p:nvSpPr>
          <p:cNvPr id="2029592" name="Rectangle 24"/>
          <p:cNvSpPr>
            <a:spLocks noChangeArrowheads="1"/>
          </p:cNvSpPr>
          <p:nvPr/>
        </p:nvSpPr>
        <p:spPr bwMode="auto">
          <a:xfrm>
            <a:off x="4343400" y="2390775"/>
            <a:ext cx="990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</a:rPr>
              <a:t>(press)</a:t>
            </a:r>
          </a:p>
        </p:txBody>
      </p:sp>
      <p:sp>
        <p:nvSpPr>
          <p:cNvPr id="2029593" name="Rectangle 25"/>
          <p:cNvSpPr>
            <a:spLocks noChangeArrowheads="1"/>
          </p:cNvSpPr>
          <p:nvPr/>
        </p:nvSpPr>
        <p:spPr bwMode="auto">
          <a:xfrm>
            <a:off x="5105400" y="2551113"/>
            <a:ext cx="1676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</a:rPr>
              <a:t>(spot-welding)</a:t>
            </a:r>
          </a:p>
        </p:txBody>
      </p:sp>
      <p:sp>
        <p:nvSpPr>
          <p:cNvPr id="2029594" name="Rectangle 26"/>
          <p:cNvSpPr>
            <a:spLocks noChangeArrowheads="1"/>
          </p:cNvSpPr>
          <p:nvPr/>
        </p:nvSpPr>
        <p:spPr bwMode="auto">
          <a:xfrm>
            <a:off x="6400800" y="2390775"/>
            <a:ext cx="1676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</a:rPr>
              <a:t>(arc-welding)</a:t>
            </a:r>
          </a:p>
        </p:txBody>
      </p:sp>
      <p:sp>
        <p:nvSpPr>
          <p:cNvPr id="2029595" name="Rectangle 27"/>
          <p:cNvSpPr>
            <a:spLocks noChangeArrowheads="1"/>
          </p:cNvSpPr>
          <p:nvPr/>
        </p:nvSpPr>
        <p:spPr bwMode="auto">
          <a:xfrm>
            <a:off x="323850" y="2852738"/>
            <a:ext cx="990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u="sng">
                <a:solidFill>
                  <a:srgbClr val="000000"/>
                </a:solidFill>
                <a:latin typeface="Times New Roman" pitchFamily="18" charset="0"/>
              </a:rPr>
              <a:t>Lay-out</a:t>
            </a:r>
          </a:p>
        </p:txBody>
      </p:sp>
      <p:grpSp>
        <p:nvGrpSpPr>
          <p:cNvPr id="2" name="Group 28"/>
          <p:cNvGrpSpPr>
            <a:grpSpLocks/>
          </p:cNvGrpSpPr>
          <p:nvPr/>
        </p:nvGrpSpPr>
        <p:grpSpPr bwMode="auto">
          <a:xfrm>
            <a:off x="2743200" y="2708275"/>
            <a:ext cx="3581400" cy="1573213"/>
            <a:chOff x="1728" y="1200"/>
            <a:chExt cx="2256" cy="1296"/>
          </a:xfrm>
        </p:grpSpPr>
        <p:sp>
          <p:nvSpPr>
            <p:cNvPr id="2029597" name="Rectangle 29"/>
            <p:cNvSpPr>
              <a:spLocks noChangeArrowheads="1"/>
            </p:cNvSpPr>
            <p:nvPr/>
          </p:nvSpPr>
          <p:spPr bwMode="auto">
            <a:xfrm>
              <a:off x="2304" y="1488"/>
              <a:ext cx="33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Times New Roman" pitchFamily="18" charset="0"/>
                </a:rPr>
                <a:t>B-101</a:t>
              </a:r>
            </a:p>
          </p:txBody>
        </p:sp>
        <p:sp>
          <p:nvSpPr>
            <p:cNvPr id="2029598" name="Rectangle 30"/>
            <p:cNvSpPr>
              <a:spLocks noChangeArrowheads="1"/>
            </p:cNvSpPr>
            <p:nvPr/>
          </p:nvSpPr>
          <p:spPr bwMode="auto">
            <a:xfrm>
              <a:off x="2928" y="1488"/>
              <a:ext cx="33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Times New Roman" pitchFamily="18" charset="0"/>
                </a:rPr>
                <a:t>B-102</a:t>
              </a:r>
            </a:p>
          </p:txBody>
        </p:sp>
        <p:sp>
          <p:nvSpPr>
            <p:cNvPr id="2029599" name="Rectangle 31"/>
            <p:cNvSpPr>
              <a:spLocks noChangeArrowheads="1"/>
            </p:cNvSpPr>
            <p:nvPr/>
          </p:nvSpPr>
          <p:spPr bwMode="auto">
            <a:xfrm>
              <a:off x="3408" y="1728"/>
              <a:ext cx="336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Times New Roman" pitchFamily="18" charset="0"/>
                </a:rPr>
                <a:t>P-101</a:t>
              </a:r>
            </a:p>
          </p:txBody>
        </p:sp>
        <p:sp>
          <p:nvSpPr>
            <p:cNvPr id="2029600" name="Rectangle 32"/>
            <p:cNvSpPr>
              <a:spLocks noChangeArrowheads="1"/>
            </p:cNvSpPr>
            <p:nvPr/>
          </p:nvSpPr>
          <p:spPr bwMode="auto">
            <a:xfrm>
              <a:off x="2880" y="2016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Times New Roman" pitchFamily="18" charset="0"/>
                </a:rPr>
                <a:t>SP-101</a:t>
              </a:r>
            </a:p>
          </p:txBody>
        </p:sp>
        <p:sp>
          <p:nvSpPr>
            <p:cNvPr id="2029601" name="Rectangle 33"/>
            <p:cNvSpPr>
              <a:spLocks noChangeArrowheads="1"/>
            </p:cNvSpPr>
            <p:nvPr/>
          </p:nvSpPr>
          <p:spPr bwMode="auto">
            <a:xfrm>
              <a:off x="2304" y="2016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Times New Roman" pitchFamily="18" charset="0"/>
                </a:rPr>
                <a:t>AC-101</a:t>
              </a:r>
            </a:p>
          </p:txBody>
        </p:sp>
        <p:sp>
          <p:nvSpPr>
            <p:cNvPr id="2029602" name="Rectangle 34"/>
            <p:cNvSpPr>
              <a:spLocks noChangeArrowheads="1"/>
            </p:cNvSpPr>
            <p:nvPr/>
          </p:nvSpPr>
          <p:spPr bwMode="auto">
            <a:xfrm>
              <a:off x="1728" y="1584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1600">
                  <a:solidFill>
                    <a:srgbClr val="000000"/>
                  </a:solidFill>
                  <a:latin typeface="Times New Roman" pitchFamily="18" charset="0"/>
                </a:rPr>
                <a:t>วัตถุดิบ</a:t>
              </a:r>
            </a:p>
          </p:txBody>
        </p:sp>
        <p:sp>
          <p:nvSpPr>
            <p:cNvPr id="2029603" name="Rectangle 35"/>
            <p:cNvSpPr>
              <a:spLocks noChangeArrowheads="1"/>
            </p:cNvSpPr>
            <p:nvPr/>
          </p:nvSpPr>
          <p:spPr bwMode="auto">
            <a:xfrm>
              <a:off x="1728" y="1920"/>
              <a:ext cx="384" cy="1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1600">
                  <a:solidFill>
                    <a:srgbClr val="000000"/>
                  </a:solidFill>
                  <a:latin typeface="Times New Roman" pitchFamily="18" charset="0"/>
                </a:rPr>
                <a:t>งานสำเร็จ</a:t>
              </a:r>
            </a:p>
          </p:txBody>
        </p:sp>
        <p:sp>
          <p:nvSpPr>
            <p:cNvPr id="2029604" name="Rectangle 36"/>
            <p:cNvSpPr>
              <a:spLocks noChangeArrowheads="1"/>
            </p:cNvSpPr>
            <p:nvPr/>
          </p:nvSpPr>
          <p:spPr bwMode="auto">
            <a:xfrm>
              <a:off x="2352" y="1200"/>
              <a:ext cx="240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  <a:latin typeface="Wingdings 2" pitchFamily="18" charset="2"/>
                </a:rPr>
                <a:t>j </a:t>
              </a:r>
              <a:r>
                <a:rPr lang="en-US" sz="16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latin typeface="Wingdings 2" pitchFamily="18" charset="2"/>
              </a:endParaRPr>
            </a:p>
          </p:txBody>
        </p:sp>
        <p:sp>
          <p:nvSpPr>
            <p:cNvPr id="2029605" name="Rectangle 37"/>
            <p:cNvSpPr>
              <a:spLocks noChangeArrowheads="1"/>
            </p:cNvSpPr>
            <p:nvPr/>
          </p:nvSpPr>
          <p:spPr bwMode="auto">
            <a:xfrm>
              <a:off x="2976" y="1200"/>
              <a:ext cx="240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  <a:latin typeface="Wingdings 2" pitchFamily="18" charset="2"/>
                </a:rPr>
                <a:t>k </a:t>
              </a:r>
              <a:r>
                <a:rPr lang="en-US" sz="16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latin typeface="Wingdings 2" pitchFamily="18" charset="2"/>
              </a:endParaRPr>
            </a:p>
          </p:txBody>
        </p:sp>
        <p:sp>
          <p:nvSpPr>
            <p:cNvPr id="2029606" name="Rectangle 38"/>
            <p:cNvSpPr>
              <a:spLocks noChangeArrowheads="1"/>
            </p:cNvSpPr>
            <p:nvPr/>
          </p:nvSpPr>
          <p:spPr bwMode="auto">
            <a:xfrm>
              <a:off x="3744" y="1632"/>
              <a:ext cx="240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  <a:latin typeface="Wingdings 2" pitchFamily="18" charset="2"/>
                </a:rPr>
                <a:t>l </a:t>
              </a:r>
              <a:r>
                <a:rPr lang="en-US" sz="16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latin typeface="Wingdings 2" pitchFamily="18" charset="2"/>
              </a:endParaRPr>
            </a:p>
          </p:txBody>
        </p:sp>
        <p:sp>
          <p:nvSpPr>
            <p:cNvPr id="2029607" name="Rectangle 39"/>
            <p:cNvSpPr>
              <a:spLocks noChangeArrowheads="1"/>
            </p:cNvSpPr>
            <p:nvPr/>
          </p:nvSpPr>
          <p:spPr bwMode="auto">
            <a:xfrm>
              <a:off x="2928" y="2112"/>
              <a:ext cx="240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  <a:latin typeface="Wingdings 2" pitchFamily="18" charset="2"/>
                </a:rPr>
                <a:t>m</a:t>
              </a:r>
              <a:r>
                <a:rPr lang="en-US" sz="16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latin typeface="Wingdings 2" pitchFamily="18" charset="2"/>
              </a:endParaRPr>
            </a:p>
          </p:txBody>
        </p:sp>
        <p:sp>
          <p:nvSpPr>
            <p:cNvPr id="2029608" name="Rectangle 40"/>
            <p:cNvSpPr>
              <a:spLocks noChangeArrowheads="1"/>
            </p:cNvSpPr>
            <p:nvPr/>
          </p:nvSpPr>
          <p:spPr bwMode="auto">
            <a:xfrm>
              <a:off x="2352" y="2112"/>
              <a:ext cx="240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600">
                  <a:solidFill>
                    <a:srgbClr val="000000"/>
                  </a:solidFill>
                  <a:latin typeface="Wingdings 2" pitchFamily="18" charset="2"/>
                </a:rPr>
                <a:t>n </a:t>
              </a:r>
              <a:r>
                <a:rPr lang="en-US" sz="160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endParaRPr lang="en-US" sz="1600">
                <a:solidFill>
                  <a:srgbClr val="000000"/>
                </a:solidFill>
                <a:latin typeface="Wingdings 2" pitchFamily="18" charset="2"/>
              </a:endParaRPr>
            </a:p>
          </p:txBody>
        </p:sp>
      </p:grpSp>
      <p:sp>
        <p:nvSpPr>
          <p:cNvPr id="2029609" name="Rectangle 41"/>
          <p:cNvSpPr>
            <a:spLocks noChangeArrowheads="1"/>
          </p:cNvSpPr>
          <p:nvPr/>
        </p:nvSpPr>
        <p:spPr bwMode="auto">
          <a:xfrm>
            <a:off x="292100" y="3736975"/>
            <a:ext cx="281940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1800" u="sng">
                <a:solidFill>
                  <a:srgbClr val="000000"/>
                </a:solidFill>
                <a:latin typeface="Times New Roman" pitchFamily="18" charset="0"/>
              </a:rPr>
              <a:t>ทำงาน </a:t>
            </a:r>
            <a:r>
              <a:rPr lang="th-TH" sz="1800">
                <a:solidFill>
                  <a:srgbClr val="000000"/>
                </a:solidFill>
                <a:latin typeface="Times New Roman" pitchFamily="18" charset="0"/>
              </a:rPr>
              <a:t>   ทำงาน 1 กะ  (460 นาที)</a:t>
            </a:r>
            <a:endParaRPr lang="th-TH" sz="1800" u="sng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29610" name="Rectangle 42"/>
          <p:cNvSpPr>
            <a:spLocks noChangeArrowheads="1"/>
          </p:cNvSpPr>
          <p:nvPr/>
        </p:nvSpPr>
        <p:spPr bwMode="auto">
          <a:xfrm>
            <a:off x="3505200" y="1789113"/>
            <a:ext cx="38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Wingdings 2" pitchFamily="18" charset="2"/>
              </a:rPr>
              <a:t>k </a:t>
            </a: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latin typeface="Wingdings 2" pitchFamily="18" charset="2"/>
            </a:endParaRPr>
          </a:p>
        </p:txBody>
      </p:sp>
      <p:sp>
        <p:nvSpPr>
          <p:cNvPr id="2029611" name="Rectangle 43"/>
          <p:cNvSpPr>
            <a:spLocks noChangeArrowheads="1"/>
          </p:cNvSpPr>
          <p:nvPr/>
        </p:nvSpPr>
        <p:spPr bwMode="auto">
          <a:xfrm>
            <a:off x="4495800" y="1789113"/>
            <a:ext cx="38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Wingdings 2" pitchFamily="18" charset="2"/>
              </a:rPr>
              <a:t>l </a:t>
            </a: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latin typeface="Wingdings 2" pitchFamily="18" charset="2"/>
            </a:endParaRPr>
          </a:p>
        </p:txBody>
      </p:sp>
      <p:sp>
        <p:nvSpPr>
          <p:cNvPr id="2029612" name="Rectangle 44"/>
          <p:cNvSpPr>
            <a:spLocks noChangeArrowheads="1"/>
          </p:cNvSpPr>
          <p:nvPr/>
        </p:nvSpPr>
        <p:spPr bwMode="auto">
          <a:xfrm>
            <a:off x="5562600" y="1789113"/>
            <a:ext cx="38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Wingdings 2" pitchFamily="18" charset="2"/>
              </a:rPr>
              <a:t>m</a:t>
            </a: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latin typeface="Wingdings 2" pitchFamily="18" charset="2"/>
            </a:endParaRPr>
          </a:p>
        </p:txBody>
      </p:sp>
      <p:sp>
        <p:nvSpPr>
          <p:cNvPr id="2029613" name="Rectangle 45"/>
          <p:cNvSpPr>
            <a:spLocks noChangeArrowheads="1"/>
          </p:cNvSpPr>
          <p:nvPr/>
        </p:nvSpPr>
        <p:spPr bwMode="auto">
          <a:xfrm>
            <a:off x="6781800" y="1789113"/>
            <a:ext cx="3810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Wingdings 2" pitchFamily="18" charset="2"/>
              </a:rPr>
              <a:t>n </a:t>
            </a: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sz="1600">
              <a:solidFill>
                <a:srgbClr val="000000"/>
              </a:solidFill>
              <a:latin typeface="Wingdings 2" pitchFamily="18" charset="2"/>
            </a:endParaRPr>
          </a:p>
        </p:txBody>
      </p: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81000" y="4149725"/>
            <a:ext cx="8686800" cy="2635250"/>
            <a:chOff x="1056" y="2352"/>
            <a:chExt cx="3792" cy="1728"/>
          </a:xfrm>
        </p:grpSpPr>
        <p:sp>
          <p:nvSpPr>
            <p:cNvPr id="2029615" name="Rectangle 47"/>
            <p:cNvSpPr>
              <a:spLocks noChangeArrowheads="1"/>
            </p:cNvSpPr>
            <p:nvPr/>
          </p:nvSpPr>
          <p:spPr bwMode="auto">
            <a:xfrm>
              <a:off x="4125" y="2488"/>
              <a:ext cx="723" cy="1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800">
                  <a:solidFill>
                    <a:srgbClr val="000000"/>
                  </a:solidFill>
                </a:rPr>
                <a:t>REPORTED</a:t>
              </a:r>
            </a:p>
          </p:txBody>
        </p:sp>
        <p:sp>
          <p:nvSpPr>
            <p:cNvPr id="2029616" name="AutoShape 48"/>
            <p:cNvSpPr>
              <a:spLocks noChangeArrowheads="1"/>
            </p:cNvSpPr>
            <p:nvPr/>
          </p:nvSpPr>
          <p:spPr bwMode="auto">
            <a:xfrm>
              <a:off x="3878" y="3540"/>
              <a:ext cx="237" cy="156"/>
            </a:xfrm>
            <a:prstGeom prst="irregularSeal2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29617" name="Line 49"/>
            <p:cNvSpPr>
              <a:spLocks noChangeShapeType="1"/>
            </p:cNvSpPr>
            <p:nvPr/>
          </p:nvSpPr>
          <p:spPr bwMode="auto">
            <a:xfrm>
              <a:off x="1146" y="2922"/>
              <a:ext cx="35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18" name="Line 50"/>
            <p:cNvSpPr>
              <a:spLocks noChangeShapeType="1"/>
            </p:cNvSpPr>
            <p:nvPr/>
          </p:nvSpPr>
          <p:spPr bwMode="auto">
            <a:xfrm>
              <a:off x="1146" y="3078"/>
              <a:ext cx="35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19" name="Line 51"/>
            <p:cNvSpPr>
              <a:spLocks noChangeShapeType="1"/>
            </p:cNvSpPr>
            <p:nvPr/>
          </p:nvSpPr>
          <p:spPr bwMode="auto">
            <a:xfrm>
              <a:off x="1146" y="3236"/>
              <a:ext cx="35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20" name="Line 52"/>
            <p:cNvSpPr>
              <a:spLocks noChangeShapeType="1"/>
            </p:cNvSpPr>
            <p:nvPr/>
          </p:nvSpPr>
          <p:spPr bwMode="auto">
            <a:xfrm>
              <a:off x="1146" y="3550"/>
              <a:ext cx="35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21" name="Line 53"/>
            <p:cNvSpPr>
              <a:spLocks noChangeShapeType="1"/>
            </p:cNvSpPr>
            <p:nvPr/>
          </p:nvSpPr>
          <p:spPr bwMode="auto">
            <a:xfrm>
              <a:off x="1146" y="3392"/>
              <a:ext cx="35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22" name="Line 54"/>
            <p:cNvSpPr>
              <a:spLocks noChangeShapeType="1"/>
            </p:cNvSpPr>
            <p:nvPr/>
          </p:nvSpPr>
          <p:spPr bwMode="auto">
            <a:xfrm>
              <a:off x="1146" y="3706"/>
              <a:ext cx="35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23" name="Line 55"/>
            <p:cNvSpPr>
              <a:spLocks noChangeShapeType="1"/>
            </p:cNvSpPr>
            <p:nvPr/>
          </p:nvSpPr>
          <p:spPr bwMode="auto">
            <a:xfrm>
              <a:off x="1146" y="2744"/>
              <a:ext cx="0" cy="1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24" name="Line 56"/>
            <p:cNvSpPr>
              <a:spLocks noChangeShapeType="1"/>
            </p:cNvSpPr>
            <p:nvPr/>
          </p:nvSpPr>
          <p:spPr bwMode="auto">
            <a:xfrm>
              <a:off x="1146" y="3864"/>
              <a:ext cx="35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25" name="Line 57"/>
            <p:cNvSpPr>
              <a:spLocks noChangeShapeType="1"/>
            </p:cNvSpPr>
            <p:nvPr/>
          </p:nvSpPr>
          <p:spPr bwMode="auto">
            <a:xfrm flipH="1">
              <a:off x="4649" y="2744"/>
              <a:ext cx="0" cy="1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26" name="Rectangle 58"/>
            <p:cNvSpPr>
              <a:spLocks noChangeArrowheads="1"/>
            </p:cNvSpPr>
            <p:nvPr/>
          </p:nvSpPr>
          <p:spPr bwMode="auto">
            <a:xfrm>
              <a:off x="3372" y="3404"/>
              <a:ext cx="297" cy="14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1,000</a:t>
              </a:r>
            </a:p>
          </p:txBody>
        </p:sp>
        <p:sp>
          <p:nvSpPr>
            <p:cNvPr id="2029627" name="Rectangle 59"/>
            <p:cNvSpPr>
              <a:spLocks noChangeArrowheads="1"/>
            </p:cNvSpPr>
            <p:nvPr/>
          </p:nvSpPr>
          <p:spPr bwMode="auto">
            <a:xfrm>
              <a:off x="3610" y="3408"/>
              <a:ext cx="29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50</a:t>
              </a:r>
            </a:p>
          </p:txBody>
        </p:sp>
        <p:sp>
          <p:nvSpPr>
            <p:cNvPr id="2029628" name="Rectangle 60"/>
            <p:cNvSpPr>
              <a:spLocks noChangeArrowheads="1"/>
            </p:cNvSpPr>
            <p:nvPr/>
          </p:nvSpPr>
          <p:spPr bwMode="auto">
            <a:xfrm>
              <a:off x="3849" y="3060"/>
              <a:ext cx="29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1,971</a:t>
              </a:r>
            </a:p>
          </p:txBody>
        </p:sp>
        <p:sp>
          <p:nvSpPr>
            <p:cNvPr id="2029629" name="Rectangle 61"/>
            <p:cNvSpPr>
              <a:spLocks noChangeArrowheads="1"/>
            </p:cNvSpPr>
            <p:nvPr/>
          </p:nvSpPr>
          <p:spPr bwMode="auto">
            <a:xfrm>
              <a:off x="3849" y="3374"/>
              <a:ext cx="29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2,746</a:t>
              </a:r>
            </a:p>
          </p:txBody>
        </p:sp>
        <p:sp>
          <p:nvSpPr>
            <p:cNvPr id="2029630" name="Rectangle 62"/>
            <p:cNvSpPr>
              <a:spLocks noChangeArrowheads="1"/>
            </p:cNvSpPr>
            <p:nvPr/>
          </p:nvSpPr>
          <p:spPr bwMode="auto">
            <a:xfrm>
              <a:off x="3840" y="3546"/>
              <a:ext cx="296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951</a:t>
              </a:r>
            </a:p>
          </p:txBody>
        </p:sp>
        <p:sp>
          <p:nvSpPr>
            <p:cNvPr id="2029631" name="Line 63"/>
            <p:cNvSpPr>
              <a:spLocks noChangeShapeType="1"/>
            </p:cNvSpPr>
            <p:nvPr/>
          </p:nvSpPr>
          <p:spPr bwMode="auto">
            <a:xfrm>
              <a:off x="1324" y="2744"/>
              <a:ext cx="0" cy="1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32" name="Line 64"/>
            <p:cNvSpPr>
              <a:spLocks noChangeShapeType="1"/>
            </p:cNvSpPr>
            <p:nvPr/>
          </p:nvSpPr>
          <p:spPr bwMode="auto">
            <a:xfrm>
              <a:off x="2660" y="2862"/>
              <a:ext cx="0" cy="11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33" name="Line 65"/>
            <p:cNvSpPr>
              <a:spLocks noChangeShapeType="1"/>
            </p:cNvSpPr>
            <p:nvPr/>
          </p:nvSpPr>
          <p:spPr bwMode="auto">
            <a:xfrm>
              <a:off x="2808" y="2804"/>
              <a:ext cx="0" cy="1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34" name="Line 66"/>
            <p:cNvSpPr>
              <a:spLocks noChangeShapeType="1"/>
            </p:cNvSpPr>
            <p:nvPr/>
          </p:nvSpPr>
          <p:spPr bwMode="auto">
            <a:xfrm>
              <a:off x="2957" y="2862"/>
              <a:ext cx="0" cy="1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35" name="Line 67"/>
            <p:cNvSpPr>
              <a:spLocks noChangeShapeType="1"/>
            </p:cNvSpPr>
            <p:nvPr/>
          </p:nvSpPr>
          <p:spPr bwMode="auto">
            <a:xfrm>
              <a:off x="3106" y="2804"/>
              <a:ext cx="0" cy="10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36" name="Line 68"/>
            <p:cNvSpPr>
              <a:spLocks noChangeShapeType="1"/>
            </p:cNvSpPr>
            <p:nvPr/>
          </p:nvSpPr>
          <p:spPr bwMode="auto">
            <a:xfrm>
              <a:off x="3254" y="2862"/>
              <a:ext cx="0" cy="10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37" name="Line 69"/>
            <p:cNvSpPr>
              <a:spLocks noChangeShapeType="1"/>
            </p:cNvSpPr>
            <p:nvPr/>
          </p:nvSpPr>
          <p:spPr bwMode="auto">
            <a:xfrm>
              <a:off x="3403" y="2744"/>
              <a:ext cx="0" cy="1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38" name="Line 70"/>
            <p:cNvSpPr>
              <a:spLocks noChangeShapeType="1"/>
            </p:cNvSpPr>
            <p:nvPr/>
          </p:nvSpPr>
          <p:spPr bwMode="auto">
            <a:xfrm>
              <a:off x="3878" y="2744"/>
              <a:ext cx="0" cy="1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39" name="Line 71"/>
            <p:cNvSpPr>
              <a:spLocks noChangeShapeType="1"/>
            </p:cNvSpPr>
            <p:nvPr/>
          </p:nvSpPr>
          <p:spPr bwMode="auto">
            <a:xfrm>
              <a:off x="3640" y="2804"/>
              <a:ext cx="0" cy="10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40" name="Line 72"/>
            <p:cNvSpPr>
              <a:spLocks noChangeShapeType="1"/>
            </p:cNvSpPr>
            <p:nvPr/>
          </p:nvSpPr>
          <p:spPr bwMode="auto">
            <a:xfrm>
              <a:off x="4145" y="2744"/>
              <a:ext cx="0" cy="1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41" name="Line 73"/>
            <p:cNvSpPr>
              <a:spLocks noChangeShapeType="1"/>
            </p:cNvSpPr>
            <p:nvPr/>
          </p:nvSpPr>
          <p:spPr bwMode="auto">
            <a:xfrm>
              <a:off x="2511" y="2744"/>
              <a:ext cx="0" cy="1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42" name="Line 74"/>
            <p:cNvSpPr>
              <a:spLocks noChangeShapeType="1"/>
            </p:cNvSpPr>
            <p:nvPr/>
          </p:nvSpPr>
          <p:spPr bwMode="auto">
            <a:xfrm>
              <a:off x="1146" y="2744"/>
              <a:ext cx="35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43" name="Line 75"/>
            <p:cNvSpPr>
              <a:spLocks noChangeShapeType="1"/>
            </p:cNvSpPr>
            <p:nvPr/>
          </p:nvSpPr>
          <p:spPr bwMode="auto">
            <a:xfrm>
              <a:off x="2245" y="2744"/>
              <a:ext cx="0" cy="12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44" name="Rectangle 76"/>
            <p:cNvSpPr>
              <a:spLocks noChangeArrowheads="1"/>
            </p:cNvSpPr>
            <p:nvPr/>
          </p:nvSpPr>
          <p:spPr bwMode="auto">
            <a:xfrm>
              <a:off x="2570" y="2902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</a:p>
          </p:txBody>
        </p:sp>
        <p:sp>
          <p:nvSpPr>
            <p:cNvPr id="2029645" name="Rectangle 77"/>
            <p:cNvSpPr>
              <a:spLocks noChangeArrowheads="1"/>
            </p:cNvSpPr>
            <p:nvPr/>
          </p:nvSpPr>
          <p:spPr bwMode="auto">
            <a:xfrm>
              <a:off x="2898" y="2902"/>
              <a:ext cx="29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8</a:t>
              </a:r>
            </a:p>
          </p:txBody>
        </p:sp>
        <p:sp>
          <p:nvSpPr>
            <p:cNvPr id="2029646" name="Rectangle 78"/>
            <p:cNvSpPr>
              <a:spLocks noChangeArrowheads="1"/>
            </p:cNvSpPr>
            <p:nvPr/>
          </p:nvSpPr>
          <p:spPr bwMode="auto">
            <a:xfrm>
              <a:off x="3194" y="2902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10</a:t>
              </a:r>
            </a:p>
          </p:txBody>
        </p:sp>
        <p:sp>
          <p:nvSpPr>
            <p:cNvPr id="2029647" name="Line 79"/>
            <p:cNvSpPr>
              <a:spLocks noChangeShapeType="1"/>
            </p:cNvSpPr>
            <p:nvPr/>
          </p:nvSpPr>
          <p:spPr bwMode="auto">
            <a:xfrm rot="5514555">
              <a:off x="2600" y="2970"/>
              <a:ext cx="0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48" name="Line 80"/>
            <p:cNvSpPr>
              <a:spLocks noChangeShapeType="1"/>
            </p:cNvSpPr>
            <p:nvPr/>
          </p:nvSpPr>
          <p:spPr bwMode="auto">
            <a:xfrm rot="5514555">
              <a:off x="2898" y="2969"/>
              <a:ext cx="0" cy="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49" name="Line 81"/>
            <p:cNvSpPr>
              <a:spLocks noChangeShapeType="1"/>
            </p:cNvSpPr>
            <p:nvPr/>
          </p:nvSpPr>
          <p:spPr bwMode="auto">
            <a:xfrm rot="5514555">
              <a:off x="3165" y="2970"/>
              <a:ext cx="0" cy="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50" name="Rectangle 82"/>
            <p:cNvSpPr>
              <a:spLocks noChangeArrowheads="1"/>
            </p:cNvSpPr>
            <p:nvPr/>
          </p:nvSpPr>
          <p:spPr bwMode="auto">
            <a:xfrm>
              <a:off x="2570" y="3058"/>
              <a:ext cx="297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3</a:t>
              </a:r>
            </a:p>
          </p:txBody>
        </p:sp>
        <p:sp>
          <p:nvSpPr>
            <p:cNvPr id="2029651" name="Rectangle 83"/>
            <p:cNvSpPr>
              <a:spLocks noChangeArrowheads="1"/>
            </p:cNvSpPr>
            <p:nvPr/>
          </p:nvSpPr>
          <p:spPr bwMode="auto">
            <a:xfrm>
              <a:off x="2898" y="3058"/>
              <a:ext cx="296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11</a:t>
              </a:r>
            </a:p>
          </p:txBody>
        </p:sp>
        <p:sp>
          <p:nvSpPr>
            <p:cNvPr id="2029652" name="Rectangle 84"/>
            <p:cNvSpPr>
              <a:spLocks noChangeArrowheads="1"/>
            </p:cNvSpPr>
            <p:nvPr/>
          </p:nvSpPr>
          <p:spPr bwMode="auto">
            <a:xfrm>
              <a:off x="3194" y="3058"/>
              <a:ext cx="297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14</a:t>
              </a:r>
            </a:p>
          </p:txBody>
        </p:sp>
        <p:sp>
          <p:nvSpPr>
            <p:cNvPr id="2029653" name="Line 85"/>
            <p:cNvSpPr>
              <a:spLocks noChangeShapeType="1"/>
            </p:cNvSpPr>
            <p:nvPr/>
          </p:nvSpPr>
          <p:spPr bwMode="auto">
            <a:xfrm rot="5514555">
              <a:off x="2599" y="3127"/>
              <a:ext cx="2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54" name="Line 86"/>
            <p:cNvSpPr>
              <a:spLocks noChangeShapeType="1"/>
            </p:cNvSpPr>
            <p:nvPr/>
          </p:nvSpPr>
          <p:spPr bwMode="auto">
            <a:xfrm rot="5514555">
              <a:off x="2897" y="3126"/>
              <a:ext cx="2" cy="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55" name="Line 87"/>
            <p:cNvSpPr>
              <a:spLocks noChangeShapeType="1"/>
            </p:cNvSpPr>
            <p:nvPr/>
          </p:nvSpPr>
          <p:spPr bwMode="auto">
            <a:xfrm rot="5514555">
              <a:off x="3164" y="3127"/>
              <a:ext cx="2" cy="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56" name="Rectangle 88"/>
            <p:cNvSpPr>
              <a:spLocks noChangeArrowheads="1"/>
            </p:cNvSpPr>
            <p:nvPr/>
          </p:nvSpPr>
          <p:spPr bwMode="auto">
            <a:xfrm>
              <a:off x="2570" y="3216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</a:p>
          </p:txBody>
        </p:sp>
        <p:sp>
          <p:nvSpPr>
            <p:cNvPr id="2029657" name="Rectangle 89"/>
            <p:cNvSpPr>
              <a:spLocks noChangeArrowheads="1"/>
            </p:cNvSpPr>
            <p:nvPr/>
          </p:nvSpPr>
          <p:spPr bwMode="auto">
            <a:xfrm>
              <a:off x="2898" y="3216"/>
              <a:ext cx="29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9</a:t>
              </a:r>
            </a:p>
          </p:txBody>
        </p:sp>
        <p:sp>
          <p:nvSpPr>
            <p:cNvPr id="2029658" name="Rectangle 90"/>
            <p:cNvSpPr>
              <a:spLocks noChangeArrowheads="1"/>
            </p:cNvSpPr>
            <p:nvPr/>
          </p:nvSpPr>
          <p:spPr bwMode="auto">
            <a:xfrm>
              <a:off x="3194" y="3216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11</a:t>
              </a:r>
            </a:p>
          </p:txBody>
        </p:sp>
        <p:sp>
          <p:nvSpPr>
            <p:cNvPr id="2029659" name="Line 91"/>
            <p:cNvSpPr>
              <a:spLocks noChangeShapeType="1"/>
            </p:cNvSpPr>
            <p:nvPr/>
          </p:nvSpPr>
          <p:spPr bwMode="auto">
            <a:xfrm rot="5514555">
              <a:off x="2600" y="3284"/>
              <a:ext cx="0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60" name="Line 92"/>
            <p:cNvSpPr>
              <a:spLocks noChangeShapeType="1"/>
            </p:cNvSpPr>
            <p:nvPr/>
          </p:nvSpPr>
          <p:spPr bwMode="auto">
            <a:xfrm rot="5514555">
              <a:off x="2898" y="3283"/>
              <a:ext cx="0" cy="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61" name="Line 93"/>
            <p:cNvSpPr>
              <a:spLocks noChangeShapeType="1"/>
            </p:cNvSpPr>
            <p:nvPr/>
          </p:nvSpPr>
          <p:spPr bwMode="auto">
            <a:xfrm rot="5514555">
              <a:off x="3165" y="3284"/>
              <a:ext cx="0" cy="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62" name="Rectangle 94"/>
            <p:cNvSpPr>
              <a:spLocks noChangeArrowheads="1"/>
            </p:cNvSpPr>
            <p:nvPr/>
          </p:nvSpPr>
          <p:spPr bwMode="auto">
            <a:xfrm>
              <a:off x="2570" y="3374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5</a:t>
              </a:r>
            </a:p>
          </p:txBody>
        </p:sp>
        <p:sp>
          <p:nvSpPr>
            <p:cNvPr id="2029663" name="Rectangle 95"/>
            <p:cNvSpPr>
              <a:spLocks noChangeArrowheads="1"/>
            </p:cNvSpPr>
            <p:nvPr/>
          </p:nvSpPr>
          <p:spPr bwMode="auto">
            <a:xfrm>
              <a:off x="2898" y="3374"/>
              <a:ext cx="29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5</a:t>
              </a:r>
            </a:p>
          </p:txBody>
        </p:sp>
        <p:sp>
          <p:nvSpPr>
            <p:cNvPr id="2029664" name="Rectangle 96"/>
            <p:cNvSpPr>
              <a:spLocks noChangeArrowheads="1"/>
            </p:cNvSpPr>
            <p:nvPr/>
          </p:nvSpPr>
          <p:spPr bwMode="auto">
            <a:xfrm>
              <a:off x="3194" y="3374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10</a:t>
              </a:r>
            </a:p>
          </p:txBody>
        </p:sp>
        <p:sp>
          <p:nvSpPr>
            <p:cNvPr id="2029665" name="Line 97"/>
            <p:cNvSpPr>
              <a:spLocks noChangeShapeType="1"/>
            </p:cNvSpPr>
            <p:nvPr/>
          </p:nvSpPr>
          <p:spPr bwMode="auto">
            <a:xfrm rot="5514555">
              <a:off x="2600" y="3442"/>
              <a:ext cx="0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66" name="Line 98"/>
            <p:cNvSpPr>
              <a:spLocks noChangeShapeType="1"/>
            </p:cNvSpPr>
            <p:nvPr/>
          </p:nvSpPr>
          <p:spPr bwMode="auto">
            <a:xfrm rot="5514555">
              <a:off x="2898" y="3441"/>
              <a:ext cx="0" cy="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67" name="Line 99"/>
            <p:cNvSpPr>
              <a:spLocks noChangeShapeType="1"/>
            </p:cNvSpPr>
            <p:nvPr/>
          </p:nvSpPr>
          <p:spPr bwMode="auto">
            <a:xfrm rot="5514555">
              <a:off x="3165" y="3442"/>
              <a:ext cx="0" cy="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68" name="Rectangle 100"/>
            <p:cNvSpPr>
              <a:spLocks noChangeArrowheads="1"/>
            </p:cNvSpPr>
            <p:nvPr/>
          </p:nvSpPr>
          <p:spPr bwMode="auto">
            <a:xfrm>
              <a:off x="2570" y="3530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8</a:t>
              </a:r>
            </a:p>
          </p:txBody>
        </p:sp>
        <p:sp>
          <p:nvSpPr>
            <p:cNvPr id="2029669" name="Rectangle 101"/>
            <p:cNvSpPr>
              <a:spLocks noChangeArrowheads="1"/>
            </p:cNvSpPr>
            <p:nvPr/>
          </p:nvSpPr>
          <p:spPr bwMode="auto">
            <a:xfrm>
              <a:off x="2898" y="3530"/>
              <a:ext cx="29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21</a:t>
              </a:r>
            </a:p>
          </p:txBody>
        </p:sp>
        <p:sp>
          <p:nvSpPr>
            <p:cNvPr id="2029670" name="Rectangle 102"/>
            <p:cNvSpPr>
              <a:spLocks noChangeArrowheads="1"/>
            </p:cNvSpPr>
            <p:nvPr/>
          </p:nvSpPr>
          <p:spPr bwMode="auto">
            <a:xfrm>
              <a:off x="3194" y="3530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29</a:t>
              </a:r>
            </a:p>
          </p:txBody>
        </p:sp>
        <p:sp>
          <p:nvSpPr>
            <p:cNvPr id="2029671" name="Line 103"/>
            <p:cNvSpPr>
              <a:spLocks noChangeShapeType="1"/>
            </p:cNvSpPr>
            <p:nvPr/>
          </p:nvSpPr>
          <p:spPr bwMode="auto">
            <a:xfrm rot="5514555">
              <a:off x="2600" y="3598"/>
              <a:ext cx="0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72" name="Line 104"/>
            <p:cNvSpPr>
              <a:spLocks noChangeShapeType="1"/>
            </p:cNvSpPr>
            <p:nvPr/>
          </p:nvSpPr>
          <p:spPr bwMode="auto">
            <a:xfrm rot="5514555">
              <a:off x="2898" y="3597"/>
              <a:ext cx="0" cy="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73" name="Line 105"/>
            <p:cNvSpPr>
              <a:spLocks noChangeShapeType="1"/>
            </p:cNvSpPr>
            <p:nvPr/>
          </p:nvSpPr>
          <p:spPr bwMode="auto">
            <a:xfrm rot="5514555">
              <a:off x="3165" y="3598"/>
              <a:ext cx="0" cy="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74" name="Line 106"/>
            <p:cNvSpPr>
              <a:spLocks noChangeShapeType="1"/>
            </p:cNvSpPr>
            <p:nvPr/>
          </p:nvSpPr>
          <p:spPr bwMode="auto">
            <a:xfrm>
              <a:off x="2511" y="2862"/>
              <a:ext cx="8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75" name="Line 107"/>
            <p:cNvSpPr>
              <a:spLocks noChangeShapeType="1"/>
            </p:cNvSpPr>
            <p:nvPr/>
          </p:nvSpPr>
          <p:spPr bwMode="auto">
            <a:xfrm>
              <a:off x="2511" y="2804"/>
              <a:ext cx="8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76" name="Rectangle 108"/>
            <p:cNvSpPr>
              <a:spLocks noChangeArrowheads="1"/>
            </p:cNvSpPr>
            <p:nvPr/>
          </p:nvSpPr>
          <p:spPr bwMode="auto">
            <a:xfrm>
              <a:off x="2112" y="2400"/>
              <a:ext cx="1344" cy="1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600" b="1" i="1">
                  <a:solidFill>
                    <a:srgbClr val="000000"/>
                  </a:solidFill>
                  <a:latin typeface="Angsana New" pitchFamily="18" charset="-34"/>
                </a:rPr>
                <a:t>KOTEI BETSU NORYOKU HYO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solidFill>
                    <a:srgbClr val="000000"/>
                  </a:solidFill>
                  <a:latin typeface="Angsana New" pitchFamily="18" charset="-34"/>
                </a:rPr>
                <a:t>ตารางความสามารถในการทำงานแต่ละ PROCESS</a:t>
              </a:r>
            </a:p>
          </p:txBody>
        </p:sp>
        <p:sp>
          <p:nvSpPr>
            <p:cNvPr id="2029677" name="Rectangle 109"/>
            <p:cNvSpPr>
              <a:spLocks noChangeArrowheads="1"/>
            </p:cNvSpPr>
            <p:nvPr/>
          </p:nvSpPr>
          <p:spPr bwMode="auto">
            <a:xfrm>
              <a:off x="4293" y="2539"/>
              <a:ext cx="356" cy="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endParaRPr lang="en-US" sz="900">
                <a:solidFill>
                  <a:srgbClr val="000000"/>
                </a:solidFill>
              </a:endParaRPr>
            </a:p>
          </p:txBody>
        </p:sp>
        <p:sp>
          <p:nvSpPr>
            <p:cNvPr id="2029678" name="Rectangle 110"/>
            <p:cNvSpPr>
              <a:spLocks noChangeArrowheads="1"/>
            </p:cNvSpPr>
            <p:nvPr/>
          </p:nvSpPr>
          <p:spPr bwMode="auto">
            <a:xfrm>
              <a:off x="3937" y="2539"/>
              <a:ext cx="356" cy="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endParaRPr lang="en-US" sz="900">
                <a:solidFill>
                  <a:srgbClr val="000000"/>
                </a:solidFill>
              </a:endParaRPr>
            </a:p>
          </p:txBody>
        </p:sp>
        <p:sp>
          <p:nvSpPr>
            <p:cNvPr id="2029679" name="Rectangle 111"/>
            <p:cNvSpPr>
              <a:spLocks noChangeArrowheads="1"/>
            </p:cNvSpPr>
            <p:nvPr/>
          </p:nvSpPr>
          <p:spPr bwMode="auto">
            <a:xfrm>
              <a:off x="3581" y="2539"/>
              <a:ext cx="356" cy="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endParaRPr lang="en-US" sz="900">
                <a:solidFill>
                  <a:srgbClr val="000000"/>
                </a:solidFill>
              </a:endParaRPr>
            </a:p>
          </p:txBody>
        </p:sp>
        <p:sp>
          <p:nvSpPr>
            <p:cNvPr id="2029680" name="Rectangle 112"/>
            <p:cNvSpPr>
              <a:spLocks noChangeArrowheads="1"/>
            </p:cNvSpPr>
            <p:nvPr/>
          </p:nvSpPr>
          <p:spPr bwMode="auto">
            <a:xfrm>
              <a:off x="3905" y="2471"/>
              <a:ext cx="455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800">
                  <a:solidFill>
                    <a:srgbClr val="000000"/>
                  </a:solidFill>
                </a:rPr>
                <a:t>CHECKED</a:t>
              </a:r>
            </a:p>
          </p:txBody>
        </p:sp>
        <p:sp>
          <p:nvSpPr>
            <p:cNvPr id="2029681" name="Rectangle 113"/>
            <p:cNvSpPr>
              <a:spLocks noChangeArrowheads="1"/>
            </p:cNvSpPr>
            <p:nvPr/>
          </p:nvSpPr>
          <p:spPr bwMode="auto">
            <a:xfrm>
              <a:off x="3442" y="2471"/>
              <a:ext cx="602" cy="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800">
                  <a:solidFill>
                    <a:srgbClr val="000000"/>
                  </a:solidFill>
                </a:rPr>
                <a:t>APPROVED</a:t>
              </a:r>
            </a:p>
          </p:txBody>
        </p:sp>
        <p:sp>
          <p:nvSpPr>
            <p:cNvPr id="2029682" name="Line 114"/>
            <p:cNvSpPr>
              <a:spLocks noChangeShapeType="1"/>
            </p:cNvSpPr>
            <p:nvPr/>
          </p:nvSpPr>
          <p:spPr bwMode="auto">
            <a:xfrm>
              <a:off x="3581" y="2471"/>
              <a:ext cx="1068" cy="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83" name="Line 115"/>
            <p:cNvSpPr>
              <a:spLocks noChangeShapeType="1"/>
            </p:cNvSpPr>
            <p:nvPr/>
          </p:nvSpPr>
          <p:spPr bwMode="auto">
            <a:xfrm>
              <a:off x="3581" y="2590"/>
              <a:ext cx="10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84" name="Line 116"/>
            <p:cNvSpPr>
              <a:spLocks noChangeShapeType="1"/>
            </p:cNvSpPr>
            <p:nvPr/>
          </p:nvSpPr>
          <p:spPr bwMode="auto">
            <a:xfrm>
              <a:off x="3581" y="2650"/>
              <a:ext cx="1068" cy="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85" name="Line 117"/>
            <p:cNvSpPr>
              <a:spLocks noChangeShapeType="1"/>
            </p:cNvSpPr>
            <p:nvPr/>
          </p:nvSpPr>
          <p:spPr bwMode="auto">
            <a:xfrm>
              <a:off x="3558" y="2471"/>
              <a:ext cx="0" cy="179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86" name="Line 118"/>
            <p:cNvSpPr>
              <a:spLocks noChangeShapeType="1"/>
            </p:cNvSpPr>
            <p:nvPr/>
          </p:nvSpPr>
          <p:spPr bwMode="auto">
            <a:xfrm>
              <a:off x="3937" y="2474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87" name="Line 119"/>
            <p:cNvSpPr>
              <a:spLocks noChangeShapeType="1"/>
            </p:cNvSpPr>
            <p:nvPr/>
          </p:nvSpPr>
          <p:spPr bwMode="auto">
            <a:xfrm>
              <a:off x="4293" y="2474"/>
              <a:ext cx="0" cy="1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88" name="Line 120"/>
            <p:cNvSpPr>
              <a:spLocks noChangeShapeType="1"/>
            </p:cNvSpPr>
            <p:nvPr/>
          </p:nvSpPr>
          <p:spPr bwMode="auto">
            <a:xfrm>
              <a:off x="4670" y="2471"/>
              <a:ext cx="0" cy="179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689" name="Rectangle 121"/>
            <p:cNvSpPr>
              <a:spLocks noChangeArrowheads="1"/>
            </p:cNvSpPr>
            <p:nvPr/>
          </p:nvSpPr>
          <p:spPr bwMode="auto">
            <a:xfrm>
              <a:off x="3728" y="2395"/>
              <a:ext cx="268" cy="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1200">
                  <a:solidFill>
                    <a:srgbClr val="000000"/>
                  </a:solidFill>
                  <a:latin typeface="Angsana New" pitchFamily="18" charset="-34"/>
                </a:rPr>
                <a:t>วันที่บันทึก</a:t>
              </a: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29690" name="Rectangle 122"/>
            <p:cNvSpPr>
              <a:spLocks noChangeArrowheads="1"/>
            </p:cNvSpPr>
            <p:nvPr/>
          </p:nvSpPr>
          <p:spPr bwMode="auto">
            <a:xfrm>
              <a:off x="4056" y="2395"/>
              <a:ext cx="356" cy="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22 / 6 / 2001</a:t>
              </a:r>
            </a:p>
          </p:txBody>
        </p:sp>
        <p:sp>
          <p:nvSpPr>
            <p:cNvPr id="2029691" name="Rectangle 123"/>
            <p:cNvSpPr>
              <a:spLocks noChangeArrowheads="1"/>
            </p:cNvSpPr>
            <p:nvPr/>
          </p:nvSpPr>
          <p:spPr bwMode="auto">
            <a:xfrm>
              <a:off x="1293" y="2510"/>
              <a:ext cx="565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LINE </a:t>
              </a:r>
              <a:r>
                <a:rPr lang="en-US" sz="1200">
                  <a:solidFill>
                    <a:srgbClr val="000000"/>
                  </a:solidFill>
                  <a:latin typeface="Times New Roman"/>
                </a:rPr>
                <a:t>…………………</a:t>
              </a: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29692" name="Rectangle 124"/>
            <p:cNvSpPr>
              <a:spLocks noChangeArrowheads="1"/>
            </p:cNvSpPr>
            <p:nvPr/>
          </p:nvSpPr>
          <p:spPr bwMode="auto">
            <a:xfrm>
              <a:off x="1353" y="2588"/>
              <a:ext cx="564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PART No. </a:t>
              </a:r>
              <a:r>
                <a:rPr lang="en-US" sz="1200">
                  <a:solidFill>
                    <a:srgbClr val="000000"/>
                  </a:solidFill>
                  <a:latin typeface="Times New Roman"/>
                </a:rPr>
                <a:t>…………………</a:t>
              </a: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29693" name="Rectangle 125"/>
            <p:cNvSpPr>
              <a:spLocks noChangeArrowheads="1"/>
            </p:cNvSpPr>
            <p:nvPr/>
          </p:nvSpPr>
          <p:spPr bwMode="auto">
            <a:xfrm>
              <a:off x="1412" y="2666"/>
              <a:ext cx="565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PART NAME </a:t>
              </a:r>
              <a:r>
                <a:rPr lang="en-US" sz="1200">
                  <a:solidFill>
                    <a:srgbClr val="000000"/>
                  </a:solidFill>
                  <a:latin typeface="Times New Roman"/>
                </a:rPr>
                <a:t>…………………</a:t>
              </a: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29694" name="Rectangle 126"/>
            <p:cNvSpPr>
              <a:spLocks noChangeArrowheads="1"/>
            </p:cNvSpPr>
            <p:nvPr/>
          </p:nvSpPr>
          <p:spPr bwMode="auto">
            <a:xfrm>
              <a:off x="1561" y="2490"/>
              <a:ext cx="148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243R/C</a:t>
              </a:r>
            </a:p>
          </p:txBody>
        </p:sp>
        <p:sp>
          <p:nvSpPr>
            <p:cNvPr id="2029695" name="Rectangle 127"/>
            <p:cNvSpPr>
              <a:spLocks noChangeArrowheads="1"/>
            </p:cNvSpPr>
            <p:nvPr/>
          </p:nvSpPr>
          <p:spPr bwMode="auto">
            <a:xfrm>
              <a:off x="1590" y="2588"/>
              <a:ext cx="387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13800-1600</a:t>
              </a:r>
            </a:p>
          </p:txBody>
        </p:sp>
        <p:sp>
          <p:nvSpPr>
            <p:cNvPr id="2029696" name="Rectangle 128"/>
            <p:cNvSpPr>
              <a:spLocks noChangeArrowheads="1"/>
            </p:cNvSpPr>
            <p:nvPr/>
          </p:nvSpPr>
          <p:spPr bwMode="auto">
            <a:xfrm>
              <a:off x="1590" y="2646"/>
              <a:ext cx="565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1200">
                  <a:solidFill>
                    <a:srgbClr val="000000"/>
                  </a:solidFill>
                  <a:latin typeface="Angsana New" pitchFamily="18" charset="-34"/>
                </a:rPr>
                <a:t>รินฟอร์ส</a:t>
              </a: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29697" name="Rectangle 129"/>
            <p:cNvSpPr>
              <a:spLocks noChangeArrowheads="1"/>
            </p:cNvSpPr>
            <p:nvPr/>
          </p:nvSpPr>
          <p:spPr bwMode="auto">
            <a:xfrm>
              <a:off x="2601" y="2666"/>
              <a:ext cx="564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DEPARTMENT  </a:t>
              </a:r>
              <a:r>
                <a:rPr lang="en-US" sz="1200">
                  <a:solidFill>
                    <a:srgbClr val="000000"/>
                  </a:solidFill>
                  <a:latin typeface="Times New Roman"/>
                </a:rPr>
                <a:t>………………</a:t>
              </a: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..</a:t>
              </a:r>
            </a:p>
          </p:txBody>
        </p:sp>
        <p:sp>
          <p:nvSpPr>
            <p:cNvPr id="2029698" name="Rectangle 130"/>
            <p:cNvSpPr>
              <a:spLocks noChangeArrowheads="1"/>
            </p:cNvSpPr>
            <p:nvPr/>
          </p:nvSpPr>
          <p:spPr bwMode="auto">
            <a:xfrm>
              <a:off x="4324" y="2592"/>
              <a:ext cx="296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>
                  <a:solidFill>
                    <a:srgbClr val="000000"/>
                  </a:solidFill>
                  <a:latin typeface="Angsana New" pitchFamily="18" charset="-34"/>
                </a:rPr>
                <a:t>MRDANGI</a:t>
              </a:r>
            </a:p>
          </p:txBody>
        </p:sp>
        <p:sp>
          <p:nvSpPr>
            <p:cNvPr id="2029699" name="Rectangle 131"/>
            <p:cNvSpPr>
              <a:spLocks noChangeArrowheads="1"/>
            </p:cNvSpPr>
            <p:nvPr/>
          </p:nvSpPr>
          <p:spPr bwMode="auto">
            <a:xfrm>
              <a:off x="3967" y="2666"/>
              <a:ext cx="267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ชื่อ- สกุล</a:t>
              </a:r>
              <a:r>
                <a:rPr lang="en-US" sz="1200">
                  <a:solidFill>
                    <a:srgbClr val="000000"/>
                  </a:solidFill>
                  <a:latin typeface="Times New Roman"/>
                </a:rPr>
                <a:t>…………………………</a:t>
              </a: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 </a:t>
              </a:r>
            </a:p>
          </p:txBody>
        </p:sp>
        <p:sp>
          <p:nvSpPr>
            <p:cNvPr id="2029700" name="Rectangle 132"/>
            <p:cNvSpPr>
              <a:spLocks noChangeArrowheads="1"/>
            </p:cNvSpPr>
            <p:nvPr/>
          </p:nvSpPr>
          <p:spPr bwMode="auto">
            <a:xfrm>
              <a:off x="1502" y="2764"/>
              <a:ext cx="534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PROCESS</a:t>
              </a:r>
            </a:p>
          </p:txBody>
        </p:sp>
        <p:sp>
          <p:nvSpPr>
            <p:cNvPr id="2029701" name="Rectangle 133"/>
            <p:cNvSpPr>
              <a:spLocks noChangeArrowheads="1"/>
            </p:cNvSpPr>
            <p:nvPr/>
          </p:nvSpPr>
          <p:spPr bwMode="auto">
            <a:xfrm>
              <a:off x="1146" y="2764"/>
              <a:ext cx="237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NO.</a:t>
              </a:r>
            </a:p>
          </p:txBody>
        </p:sp>
        <p:sp>
          <p:nvSpPr>
            <p:cNvPr id="2029702" name="Rectangle 134"/>
            <p:cNvSpPr>
              <a:spLocks noChangeArrowheads="1"/>
            </p:cNvSpPr>
            <p:nvPr/>
          </p:nvSpPr>
          <p:spPr bwMode="auto">
            <a:xfrm>
              <a:off x="2126" y="2764"/>
              <a:ext cx="534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CODE</a:t>
              </a:r>
            </a:p>
          </p:txBody>
        </p:sp>
        <p:sp>
          <p:nvSpPr>
            <p:cNvPr id="2029703" name="Rectangle 135"/>
            <p:cNvSpPr>
              <a:spLocks noChangeArrowheads="1"/>
            </p:cNvSpPr>
            <p:nvPr/>
          </p:nvSpPr>
          <p:spPr bwMode="auto">
            <a:xfrm>
              <a:off x="2392" y="2764"/>
              <a:ext cx="536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700">
                  <a:solidFill>
                    <a:srgbClr val="000000"/>
                  </a:solidFill>
                  <a:latin typeface="Angsana New" pitchFamily="18" charset="-34"/>
                </a:rPr>
                <a:t>HANDING TIME</a:t>
              </a:r>
            </a:p>
          </p:txBody>
        </p:sp>
        <p:sp>
          <p:nvSpPr>
            <p:cNvPr id="2029704" name="Rectangle 136"/>
            <p:cNvSpPr>
              <a:spLocks noChangeArrowheads="1"/>
            </p:cNvSpPr>
            <p:nvPr/>
          </p:nvSpPr>
          <p:spPr bwMode="auto">
            <a:xfrm>
              <a:off x="2689" y="2764"/>
              <a:ext cx="536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700">
                  <a:solidFill>
                    <a:srgbClr val="000000"/>
                  </a:solidFill>
                  <a:latin typeface="Angsana New" pitchFamily="18" charset="-34"/>
                </a:rPr>
                <a:t>MACHINE TIME</a:t>
              </a:r>
            </a:p>
          </p:txBody>
        </p:sp>
        <p:sp>
          <p:nvSpPr>
            <p:cNvPr id="2029705" name="Rectangle 137"/>
            <p:cNvSpPr>
              <a:spLocks noChangeArrowheads="1"/>
            </p:cNvSpPr>
            <p:nvPr/>
          </p:nvSpPr>
          <p:spPr bwMode="auto">
            <a:xfrm>
              <a:off x="2987" y="2764"/>
              <a:ext cx="534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700">
                  <a:solidFill>
                    <a:srgbClr val="000000"/>
                  </a:solidFill>
                  <a:latin typeface="Angsana New" pitchFamily="18" charset="-34"/>
                </a:rPr>
                <a:t>FINISH TIME</a:t>
              </a:r>
            </a:p>
          </p:txBody>
        </p:sp>
        <p:sp>
          <p:nvSpPr>
            <p:cNvPr id="2029706" name="Rectangle 138"/>
            <p:cNvSpPr>
              <a:spLocks noChangeArrowheads="1"/>
            </p:cNvSpPr>
            <p:nvPr/>
          </p:nvSpPr>
          <p:spPr bwMode="auto">
            <a:xfrm>
              <a:off x="2808" y="2744"/>
              <a:ext cx="298" cy="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>
                  <a:solidFill>
                    <a:srgbClr val="000000"/>
                  </a:solidFill>
                  <a:latin typeface="Angsana New" pitchFamily="18" charset="-34"/>
                </a:rPr>
                <a:t>BASIC TIME</a:t>
              </a:r>
            </a:p>
          </p:txBody>
        </p:sp>
        <p:sp>
          <p:nvSpPr>
            <p:cNvPr id="2029707" name="Rectangle 139"/>
            <p:cNvSpPr>
              <a:spLocks noChangeArrowheads="1"/>
            </p:cNvSpPr>
            <p:nvPr/>
          </p:nvSpPr>
          <p:spPr bwMode="auto">
            <a:xfrm>
              <a:off x="2511" y="2862"/>
              <a:ext cx="149" cy="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800">
                  <a:solidFill>
                    <a:srgbClr val="000000"/>
                  </a:solidFill>
                  <a:latin typeface="Angsana New" pitchFamily="18" charset="-34"/>
                </a:rPr>
                <a:t>MIN.</a:t>
              </a:r>
            </a:p>
          </p:txBody>
        </p:sp>
        <p:sp>
          <p:nvSpPr>
            <p:cNvPr id="2029708" name="Rectangle 140"/>
            <p:cNvSpPr>
              <a:spLocks noChangeArrowheads="1"/>
            </p:cNvSpPr>
            <p:nvPr/>
          </p:nvSpPr>
          <p:spPr bwMode="auto">
            <a:xfrm>
              <a:off x="2660" y="2862"/>
              <a:ext cx="148" cy="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800">
                  <a:solidFill>
                    <a:srgbClr val="000000"/>
                  </a:solidFill>
                  <a:latin typeface="Angsana New" pitchFamily="18" charset="-34"/>
                </a:rPr>
                <a:t>SEC.</a:t>
              </a:r>
            </a:p>
          </p:txBody>
        </p:sp>
        <p:sp>
          <p:nvSpPr>
            <p:cNvPr id="2029709" name="Rectangle 141"/>
            <p:cNvSpPr>
              <a:spLocks noChangeArrowheads="1"/>
            </p:cNvSpPr>
            <p:nvPr/>
          </p:nvSpPr>
          <p:spPr bwMode="auto">
            <a:xfrm>
              <a:off x="2808" y="2862"/>
              <a:ext cx="149" cy="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800">
                  <a:solidFill>
                    <a:srgbClr val="000000"/>
                  </a:solidFill>
                  <a:latin typeface="Angsana New" pitchFamily="18" charset="-34"/>
                </a:rPr>
                <a:t>MIN.</a:t>
              </a:r>
            </a:p>
          </p:txBody>
        </p:sp>
        <p:sp>
          <p:nvSpPr>
            <p:cNvPr id="2029710" name="Rectangle 142"/>
            <p:cNvSpPr>
              <a:spLocks noChangeArrowheads="1"/>
            </p:cNvSpPr>
            <p:nvPr/>
          </p:nvSpPr>
          <p:spPr bwMode="auto">
            <a:xfrm>
              <a:off x="2957" y="2862"/>
              <a:ext cx="149" cy="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800">
                  <a:solidFill>
                    <a:srgbClr val="000000"/>
                  </a:solidFill>
                  <a:latin typeface="Angsana New" pitchFamily="18" charset="-34"/>
                </a:rPr>
                <a:t>SEC.</a:t>
              </a:r>
            </a:p>
          </p:txBody>
        </p:sp>
        <p:sp>
          <p:nvSpPr>
            <p:cNvPr id="2029711" name="Rectangle 143"/>
            <p:cNvSpPr>
              <a:spLocks noChangeArrowheads="1"/>
            </p:cNvSpPr>
            <p:nvPr/>
          </p:nvSpPr>
          <p:spPr bwMode="auto">
            <a:xfrm>
              <a:off x="3106" y="2862"/>
              <a:ext cx="148" cy="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800">
                  <a:solidFill>
                    <a:srgbClr val="000000"/>
                  </a:solidFill>
                  <a:latin typeface="Angsana New" pitchFamily="18" charset="-34"/>
                </a:rPr>
                <a:t>MIN.</a:t>
              </a:r>
            </a:p>
          </p:txBody>
        </p:sp>
        <p:sp>
          <p:nvSpPr>
            <p:cNvPr id="2029712" name="Rectangle 144"/>
            <p:cNvSpPr>
              <a:spLocks noChangeArrowheads="1"/>
            </p:cNvSpPr>
            <p:nvPr/>
          </p:nvSpPr>
          <p:spPr bwMode="auto">
            <a:xfrm>
              <a:off x="3254" y="2862"/>
              <a:ext cx="149" cy="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800">
                  <a:solidFill>
                    <a:srgbClr val="000000"/>
                  </a:solidFill>
                  <a:latin typeface="Angsana New" pitchFamily="18" charset="-34"/>
                </a:rPr>
                <a:t>SEC.</a:t>
              </a:r>
            </a:p>
          </p:txBody>
        </p:sp>
        <p:sp>
          <p:nvSpPr>
            <p:cNvPr id="2029713" name="Line 145"/>
            <p:cNvSpPr>
              <a:spLocks noChangeShapeType="1"/>
            </p:cNvSpPr>
            <p:nvPr/>
          </p:nvSpPr>
          <p:spPr bwMode="auto">
            <a:xfrm>
              <a:off x="3403" y="2804"/>
              <a:ext cx="4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14" name="Rectangle 146"/>
            <p:cNvSpPr>
              <a:spLocks noChangeArrowheads="1"/>
            </p:cNvSpPr>
            <p:nvPr/>
          </p:nvSpPr>
          <p:spPr bwMode="auto">
            <a:xfrm>
              <a:off x="3491" y="2744"/>
              <a:ext cx="297" cy="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>
                  <a:solidFill>
                    <a:srgbClr val="000000"/>
                  </a:solidFill>
                  <a:latin typeface="Angsana New" pitchFamily="18" charset="-34"/>
                </a:rPr>
                <a:t>TOOLING</a:t>
              </a:r>
            </a:p>
          </p:txBody>
        </p:sp>
        <p:sp>
          <p:nvSpPr>
            <p:cNvPr id="2029715" name="Rectangle 147"/>
            <p:cNvSpPr>
              <a:spLocks noChangeArrowheads="1"/>
            </p:cNvSpPr>
            <p:nvPr/>
          </p:nvSpPr>
          <p:spPr bwMode="auto">
            <a:xfrm>
              <a:off x="3640" y="2824"/>
              <a:ext cx="268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700">
                  <a:solidFill>
                    <a:srgbClr val="000000"/>
                  </a:solidFill>
                  <a:latin typeface="Angsana New" pitchFamily="18" charset="-34"/>
                </a:rPr>
                <a:t>CHANGING 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700">
                  <a:solidFill>
                    <a:srgbClr val="000000"/>
                  </a:solidFill>
                  <a:latin typeface="Angsana New" pitchFamily="18" charset="-34"/>
                </a:rPr>
                <a:t>TIME</a:t>
              </a:r>
            </a:p>
          </p:txBody>
        </p:sp>
        <p:sp>
          <p:nvSpPr>
            <p:cNvPr id="2029716" name="Rectangle 148"/>
            <p:cNvSpPr>
              <a:spLocks noChangeArrowheads="1"/>
            </p:cNvSpPr>
            <p:nvPr/>
          </p:nvSpPr>
          <p:spPr bwMode="auto">
            <a:xfrm>
              <a:off x="3403" y="2824"/>
              <a:ext cx="237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700">
                  <a:solidFill>
                    <a:srgbClr val="000000"/>
                  </a:solidFill>
                  <a:latin typeface="Angsana New" pitchFamily="18" charset="-34"/>
                </a:rPr>
                <a:t>PCS./ CHANG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700">
                  <a:solidFill>
                    <a:srgbClr val="000000"/>
                  </a:solidFill>
                  <a:latin typeface="Angsana New" pitchFamily="18" charset="-34"/>
                </a:rPr>
                <a:t>1 TIME</a:t>
              </a:r>
            </a:p>
          </p:txBody>
        </p:sp>
        <p:sp>
          <p:nvSpPr>
            <p:cNvPr id="2029717" name="Rectangle 149"/>
            <p:cNvSpPr>
              <a:spLocks noChangeArrowheads="1"/>
            </p:cNvSpPr>
            <p:nvPr/>
          </p:nvSpPr>
          <p:spPr bwMode="auto">
            <a:xfrm>
              <a:off x="3849" y="2772"/>
              <a:ext cx="296" cy="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CAPACITY</a:t>
              </a:r>
            </a:p>
          </p:txBody>
        </p:sp>
        <p:sp>
          <p:nvSpPr>
            <p:cNvPr id="2029718" name="Rectangle 150"/>
            <p:cNvSpPr>
              <a:spLocks noChangeArrowheads="1"/>
            </p:cNvSpPr>
            <p:nvPr/>
          </p:nvSpPr>
          <p:spPr bwMode="auto">
            <a:xfrm>
              <a:off x="3849" y="2832"/>
              <a:ext cx="296" cy="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 (951)</a:t>
              </a:r>
            </a:p>
          </p:txBody>
        </p:sp>
        <p:sp>
          <p:nvSpPr>
            <p:cNvPr id="2029719" name="Rectangle 151"/>
            <p:cNvSpPr>
              <a:spLocks noChangeArrowheads="1"/>
            </p:cNvSpPr>
            <p:nvPr/>
          </p:nvSpPr>
          <p:spPr bwMode="auto">
            <a:xfrm>
              <a:off x="4174" y="2784"/>
              <a:ext cx="268" cy="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HANDING</a:t>
              </a:r>
            </a:p>
          </p:txBody>
        </p:sp>
        <p:sp>
          <p:nvSpPr>
            <p:cNvPr id="2029720" name="Rectangle 152"/>
            <p:cNvSpPr>
              <a:spLocks noChangeArrowheads="1"/>
            </p:cNvSpPr>
            <p:nvPr/>
          </p:nvSpPr>
          <p:spPr bwMode="auto">
            <a:xfrm>
              <a:off x="4174" y="2842"/>
              <a:ext cx="268" cy="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MACHINE</a:t>
              </a:r>
            </a:p>
          </p:txBody>
        </p:sp>
        <p:sp>
          <p:nvSpPr>
            <p:cNvPr id="2029721" name="Line 153"/>
            <p:cNvSpPr>
              <a:spLocks noChangeShapeType="1"/>
            </p:cNvSpPr>
            <p:nvPr/>
          </p:nvSpPr>
          <p:spPr bwMode="auto">
            <a:xfrm>
              <a:off x="4442" y="2804"/>
              <a:ext cx="1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22" name="Line 154"/>
            <p:cNvSpPr>
              <a:spLocks noChangeShapeType="1"/>
            </p:cNvSpPr>
            <p:nvPr/>
          </p:nvSpPr>
          <p:spPr bwMode="auto">
            <a:xfrm>
              <a:off x="4442" y="2862"/>
              <a:ext cx="1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23" name="Rectangle 155"/>
            <p:cNvSpPr>
              <a:spLocks noChangeArrowheads="1"/>
            </p:cNvSpPr>
            <p:nvPr/>
          </p:nvSpPr>
          <p:spPr bwMode="auto">
            <a:xfrm>
              <a:off x="3849" y="2902"/>
              <a:ext cx="296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2,760</a:t>
              </a:r>
            </a:p>
          </p:txBody>
        </p:sp>
        <p:sp>
          <p:nvSpPr>
            <p:cNvPr id="2029724" name="Line 156"/>
            <p:cNvSpPr>
              <a:spLocks noChangeShapeType="1"/>
            </p:cNvSpPr>
            <p:nvPr/>
          </p:nvSpPr>
          <p:spPr bwMode="auto">
            <a:xfrm rot="5514555">
              <a:off x="3521" y="3128"/>
              <a:ext cx="0" cy="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25" name="Line 157"/>
            <p:cNvSpPr>
              <a:spLocks noChangeShapeType="1"/>
            </p:cNvSpPr>
            <p:nvPr/>
          </p:nvSpPr>
          <p:spPr bwMode="auto">
            <a:xfrm rot="5514555">
              <a:off x="3758" y="3128"/>
              <a:ext cx="0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26" name="Rectangle 158"/>
            <p:cNvSpPr>
              <a:spLocks noChangeArrowheads="1"/>
            </p:cNvSpPr>
            <p:nvPr/>
          </p:nvSpPr>
          <p:spPr bwMode="auto">
            <a:xfrm>
              <a:off x="3849" y="3218"/>
              <a:ext cx="296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2,509</a:t>
              </a:r>
            </a:p>
          </p:txBody>
        </p:sp>
        <p:sp>
          <p:nvSpPr>
            <p:cNvPr id="2029727" name="Line 159"/>
            <p:cNvSpPr>
              <a:spLocks noChangeShapeType="1"/>
            </p:cNvSpPr>
            <p:nvPr/>
          </p:nvSpPr>
          <p:spPr bwMode="auto">
            <a:xfrm rot="5514555">
              <a:off x="3521" y="3282"/>
              <a:ext cx="0" cy="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28" name="Line 160"/>
            <p:cNvSpPr>
              <a:spLocks noChangeShapeType="1"/>
            </p:cNvSpPr>
            <p:nvPr/>
          </p:nvSpPr>
          <p:spPr bwMode="auto">
            <a:xfrm rot="5514555">
              <a:off x="3758" y="3282"/>
              <a:ext cx="0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29" name="Line 161"/>
            <p:cNvSpPr>
              <a:spLocks noChangeShapeType="1"/>
            </p:cNvSpPr>
            <p:nvPr/>
          </p:nvSpPr>
          <p:spPr bwMode="auto">
            <a:xfrm>
              <a:off x="4205" y="3160"/>
              <a:ext cx="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30" name="Line 162"/>
            <p:cNvSpPr>
              <a:spLocks noChangeShapeType="1"/>
            </p:cNvSpPr>
            <p:nvPr/>
          </p:nvSpPr>
          <p:spPr bwMode="auto">
            <a:xfrm>
              <a:off x="4205" y="3140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31" name="Line 163"/>
            <p:cNvSpPr>
              <a:spLocks noChangeShapeType="1"/>
            </p:cNvSpPr>
            <p:nvPr/>
          </p:nvSpPr>
          <p:spPr bwMode="auto">
            <a:xfrm>
              <a:off x="4352" y="3140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32" name="Line 164"/>
            <p:cNvSpPr>
              <a:spLocks noChangeShapeType="1"/>
            </p:cNvSpPr>
            <p:nvPr/>
          </p:nvSpPr>
          <p:spPr bwMode="auto">
            <a:xfrm>
              <a:off x="4352" y="3160"/>
              <a:ext cx="23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33" name="Line 165"/>
            <p:cNvSpPr>
              <a:spLocks noChangeShapeType="1"/>
            </p:cNvSpPr>
            <p:nvPr/>
          </p:nvSpPr>
          <p:spPr bwMode="auto">
            <a:xfrm>
              <a:off x="4590" y="3140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34" name="Rectangle 166"/>
            <p:cNvSpPr>
              <a:spLocks noChangeArrowheads="1"/>
            </p:cNvSpPr>
            <p:nvPr/>
          </p:nvSpPr>
          <p:spPr bwMode="auto">
            <a:xfrm>
              <a:off x="4234" y="3120"/>
              <a:ext cx="90" cy="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3</a:t>
              </a:r>
            </a:p>
          </p:txBody>
        </p:sp>
        <p:sp>
          <p:nvSpPr>
            <p:cNvPr id="2029735" name="Rectangle 167"/>
            <p:cNvSpPr>
              <a:spLocks noChangeArrowheads="1"/>
            </p:cNvSpPr>
            <p:nvPr/>
          </p:nvSpPr>
          <p:spPr bwMode="auto">
            <a:xfrm>
              <a:off x="4442" y="3120"/>
              <a:ext cx="60" cy="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11</a:t>
              </a:r>
            </a:p>
          </p:txBody>
        </p:sp>
        <p:sp>
          <p:nvSpPr>
            <p:cNvPr id="2029736" name="Line 168"/>
            <p:cNvSpPr>
              <a:spLocks noChangeShapeType="1"/>
            </p:cNvSpPr>
            <p:nvPr/>
          </p:nvSpPr>
          <p:spPr bwMode="auto">
            <a:xfrm>
              <a:off x="4205" y="3016"/>
              <a:ext cx="11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37" name="Line 169"/>
            <p:cNvSpPr>
              <a:spLocks noChangeShapeType="1"/>
            </p:cNvSpPr>
            <p:nvPr/>
          </p:nvSpPr>
          <p:spPr bwMode="auto">
            <a:xfrm>
              <a:off x="4205" y="2996"/>
              <a:ext cx="0" cy="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38" name="Line 170"/>
            <p:cNvSpPr>
              <a:spLocks noChangeShapeType="1"/>
            </p:cNvSpPr>
            <p:nvPr/>
          </p:nvSpPr>
          <p:spPr bwMode="auto">
            <a:xfrm>
              <a:off x="4324" y="2996"/>
              <a:ext cx="0" cy="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39" name="Line 171"/>
            <p:cNvSpPr>
              <a:spLocks noChangeShapeType="1"/>
            </p:cNvSpPr>
            <p:nvPr/>
          </p:nvSpPr>
          <p:spPr bwMode="auto">
            <a:xfrm>
              <a:off x="4324" y="3016"/>
              <a:ext cx="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40" name="Line 172"/>
            <p:cNvSpPr>
              <a:spLocks noChangeShapeType="1"/>
            </p:cNvSpPr>
            <p:nvPr/>
          </p:nvSpPr>
          <p:spPr bwMode="auto">
            <a:xfrm>
              <a:off x="4383" y="2996"/>
              <a:ext cx="0" cy="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41" name="Rectangle 173"/>
            <p:cNvSpPr>
              <a:spLocks noChangeArrowheads="1"/>
            </p:cNvSpPr>
            <p:nvPr/>
          </p:nvSpPr>
          <p:spPr bwMode="auto">
            <a:xfrm>
              <a:off x="4234" y="2976"/>
              <a:ext cx="59" cy="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</a:p>
          </p:txBody>
        </p:sp>
        <p:sp>
          <p:nvSpPr>
            <p:cNvPr id="2029742" name="Rectangle 174"/>
            <p:cNvSpPr>
              <a:spLocks noChangeArrowheads="1"/>
            </p:cNvSpPr>
            <p:nvPr/>
          </p:nvSpPr>
          <p:spPr bwMode="auto">
            <a:xfrm>
              <a:off x="4324" y="2976"/>
              <a:ext cx="59" cy="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8</a:t>
              </a:r>
            </a:p>
          </p:txBody>
        </p:sp>
        <p:sp>
          <p:nvSpPr>
            <p:cNvPr id="2029743" name="Line 175"/>
            <p:cNvSpPr>
              <a:spLocks noChangeShapeType="1"/>
            </p:cNvSpPr>
            <p:nvPr/>
          </p:nvSpPr>
          <p:spPr bwMode="auto">
            <a:xfrm>
              <a:off x="4205" y="3314"/>
              <a:ext cx="11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44" name="Line 176"/>
            <p:cNvSpPr>
              <a:spLocks noChangeShapeType="1"/>
            </p:cNvSpPr>
            <p:nvPr/>
          </p:nvSpPr>
          <p:spPr bwMode="auto">
            <a:xfrm>
              <a:off x="4205" y="3294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45" name="Line 177"/>
            <p:cNvSpPr>
              <a:spLocks noChangeShapeType="1"/>
            </p:cNvSpPr>
            <p:nvPr/>
          </p:nvSpPr>
          <p:spPr bwMode="auto">
            <a:xfrm>
              <a:off x="4324" y="3294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46" name="Line 178"/>
            <p:cNvSpPr>
              <a:spLocks noChangeShapeType="1"/>
            </p:cNvSpPr>
            <p:nvPr/>
          </p:nvSpPr>
          <p:spPr bwMode="auto">
            <a:xfrm>
              <a:off x="4293" y="3314"/>
              <a:ext cx="2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47" name="Line 179"/>
            <p:cNvSpPr>
              <a:spLocks noChangeShapeType="1"/>
            </p:cNvSpPr>
            <p:nvPr/>
          </p:nvSpPr>
          <p:spPr bwMode="auto">
            <a:xfrm>
              <a:off x="4502" y="3294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48" name="Rectangle 180"/>
            <p:cNvSpPr>
              <a:spLocks noChangeArrowheads="1"/>
            </p:cNvSpPr>
            <p:nvPr/>
          </p:nvSpPr>
          <p:spPr bwMode="auto">
            <a:xfrm>
              <a:off x="4234" y="3274"/>
              <a:ext cx="59" cy="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</a:p>
          </p:txBody>
        </p:sp>
        <p:sp>
          <p:nvSpPr>
            <p:cNvPr id="2029749" name="Rectangle 181"/>
            <p:cNvSpPr>
              <a:spLocks noChangeArrowheads="1"/>
            </p:cNvSpPr>
            <p:nvPr/>
          </p:nvSpPr>
          <p:spPr bwMode="auto">
            <a:xfrm>
              <a:off x="4383" y="3274"/>
              <a:ext cx="59" cy="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9</a:t>
              </a:r>
            </a:p>
          </p:txBody>
        </p:sp>
        <p:sp>
          <p:nvSpPr>
            <p:cNvPr id="2029750" name="Line 182"/>
            <p:cNvSpPr>
              <a:spLocks noChangeShapeType="1"/>
            </p:cNvSpPr>
            <p:nvPr/>
          </p:nvSpPr>
          <p:spPr bwMode="auto">
            <a:xfrm>
              <a:off x="4205" y="3472"/>
              <a:ext cx="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51" name="Line 183"/>
            <p:cNvSpPr>
              <a:spLocks noChangeShapeType="1"/>
            </p:cNvSpPr>
            <p:nvPr/>
          </p:nvSpPr>
          <p:spPr bwMode="auto">
            <a:xfrm>
              <a:off x="4205" y="3452"/>
              <a:ext cx="0" cy="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52" name="Line 184"/>
            <p:cNvSpPr>
              <a:spLocks noChangeShapeType="1"/>
            </p:cNvSpPr>
            <p:nvPr/>
          </p:nvSpPr>
          <p:spPr bwMode="auto">
            <a:xfrm>
              <a:off x="4293" y="3452"/>
              <a:ext cx="0" cy="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53" name="Line 185"/>
            <p:cNvSpPr>
              <a:spLocks noChangeShapeType="1"/>
            </p:cNvSpPr>
            <p:nvPr/>
          </p:nvSpPr>
          <p:spPr bwMode="auto">
            <a:xfrm>
              <a:off x="4293" y="3472"/>
              <a:ext cx="5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54" name="Line 186"/>
            <p:cNvSpPr>
              <a:spLocks noChangeShapeType="1"/>
            </p:cNvSpPr>
            <p:nvPr/>
          </p:nvSpPr>
          <p:spPr bwMode="auto">
            <a:xfrm>
              <a:off x="4352" y="3452"/>
              <a:ext cx="0" cy="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55" name="Rectangle 187"/>
            <p:cNvSpPr>
              <a:spLocks noChangeArrowheads="1"/>
            </p:cNvSpPr>
            <p:nvPr/>
          </p:nvSpPr>
          <p:spPr bwMode="auto">
            <a:xfrm>
              <a:off x="4205" y="3432"/>
              <a:ext cx="88" cy="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5</a:t>
              </a:r>
            </a:p>
          </p:txBody>
        </p:sp>
        <p:sp>
          <p:nvSpPr>
            <p:cNvPr id="2029756" name="Rectangle 188"/>
            <p:cNvSpPr>
              <a:spLocks noChangeArrowheads="1"/>
            </p:cNvSpPr>
            <p:nvPr/>
          </p:nvSpPr>
          <p:spPr bwMode="auto">
            <a:xfrm>
              <a:off x="4293" y="3432"/>
              <a:ext cx="59" cy="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5</a:t>
              </a:r>
            </a:p>
          </p:txBody>
        </p:sp>
        <p:sp>
          <p:nvSpPr>
            <p:cNvPr id="2029757" name="Line 189"/>
            <p:cNvSpPr>
              <a:spLocks noChangeShapeType="1"/>
            </p:cNvSpPr>
            <p:nvPr/>
          </p:nvSpPr>
          <p:spPr bwMode="auto">
            <a:xfrm>
              <a:off x="4205" y="3628"/>
              <a:ext cx="14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58" name="Line 190"/>
            <p:cNvSpPr>
              <a:spLocks noChangeShapeType="1"/>
            </p:cNvSpPr>
            <p:nvPr/>
          </p:nvSpPr>
          <p:spPr bwMode="auto">
            <a:xfrm>
              <a:off x="4205" y="3608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59" name="Line 191"/>
            <p:cNvSpPr>
              <a:spLocks noChangeShapeType="1"/>
            </p:cNvSpPr>
            <p:nvPr/>
          </p:nvSpPr>
          <p:spPr bwMode="auto">
            <a:xfrm>
              <a:off x="4352" y="3608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60" name="Line 192"/>
            <p:cNvSpPr>
              <a:spLocks noChangeShapeType="1"/>
            </p:cNvSpPr>
            <p:nvPr/>
          </p:nvSpPr>
          <p:spPr bwMode="auto">
            <a:xfrm>
              <a:off x="4352" y="3628"/>
              <a:ext cx="2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61" name="Line 193"/>
            <p:cNvSpPr>
              <a:spLocks noChangeShapeType="1"/>
            </p:cNvSpPr>
            <p:nvPr/>
          </p:nvSpPr>
          <p:spPr bwMode="auto">
            <a:xfrm>
              <a:off x="4561" y="3608"/>
              <a:ext cx="0" cy="4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62" name="Rectangle 194"/>
            <p:cNvSpPr>
              <a:spLocks noChangeArrowheads="1"/>
            </p:cNvSpPr>
            <p:nvPr/>
          </p:nvSpPr>
          <p:spPr bwMode="auto">
            <a:xfrm>
              <a:off x="4234" y="3590"/>
              <a:ext cx="9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8</a:t>
              </a:r>
            </a:p>
          </p:txBody>
        </p:sp>
        <p:sp>
          <p:nvSpPr>
            <p:cNvPr id="2029763" name="Rectangle 195"/>
            <p:cNvSpPr>
              <a:spLocks noChangeArrowheads="1"/>
            </p:cNvSpPr>
            <p:nvPr/>
          </p:nvSpPr>
          <p:spPr bwMode="auto">
            <a:xfrm>
              <a:off x="4412" y="3590"/>
              <a:ext cx="90" cy="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900">
                  <a:solidFill>
                    <a:srgbClr val="000000"/>
                  </a:solidFill>
                  <a:latin typeface="Angsana New" pitchFamily="18" charset="-34"/>
                </a:rPr>
                <a:t>21</a:t>
              </a:r>
            </a:p>
          </p:txBody>
        </p:sp>
        <p:sp>
          <p:nvSpPr>
            <p:cNvPr id="2029764" name="Line 196"/>
            <p:cNvSpPr>
              <a:spLocks noChangeShapeType="1"/>
            </p:cNvSpPr>
            <p:nvPr/>
          </p:nvSpPr>
          <p:spPr bwMode="auto">
            <a:xfrm>
              <a:off x="2245" y="4022"/>
              <a:ext cx="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65" name="Rectangle 197"/>
            <p:cNvSpPr>
              <a:spLocks noChangeArrowheads="1"/>
            </p:cNvSpPr>
            <p:nvPr/>
          </p:nvSpPr>
          <p:spPr bwMode="auto">
            <a:xfrm>
              <a:off x="2274" y="3864"/>
              <a:ext cx="208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TOTAL</a:t>
              </a:r>
            </a:p>
          </p:txBody>
        </p:sp>
        <p:sp>
          <p:nvSpPr>
            <p:cNvPr id="2029766" name="Rectangle 198"/>
            <p:cNvSpPr>
              <a:spLocks noChangeArrowheads="1"/>
            </p:cNvSpPr>
            <p:nvPr/>
          </p:nvSpPr>
          <p:spPr bwMode="auto">
            <a:xfrm>
              <a:off x="2660" y="3904"/>
              <a:ext cx="148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20</a:t>
              </a:r>
            </a:p>
          </p:txBody>
        </p:sp>
        <p:sp>
          <p:nvSpPr>
            <p:cNvPr id="2029767" name="Line 199"/>
            <p:cNvSpPr>
              <a:spLocks noChangeShapeType="1"/>
            </p:cNvSpPr>
            <p:nvPr/>
          </p:nvSpPr>
          <p:spPr bwMode="auto">
            <a:xfrm rot="5514555">
              <a:off x="2600" y="3912"/>
              <a:ext cx="0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68" name="Rectangle 200"/>
            <p:cNvSpPr>
              <a:spLocks noChangeArrowheads="1"/>
            </p:cNvSpPr>
            <p:nvPr/>
          </p:nvSpPr>
          <p:spPr bwMode="auto">
            <a:xfrm>
              <a:off x="1344" y="3236"/>
              <a:ext cx="33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PRESS</a:t>
              </a:r>
            </a:p>
          </p:txBody>
        </p:sp>
        <p:sp>
          <p:nvSpPr>
            <p:cNvPr id="2029769" name="Rectangle 201"/>
            <p:cNvSpPr>
              <a:spLocks noChangeArrowheads="1"/>
            </p:cNvSpPr>
            <p:nvPr/>
          </p:nvSpPr>
          <p:spPr bwMode="auto">
            <a:xfrm>
              <a:off x="2274" y="3236"/>
              <a:ext cx="208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P-101</a:t>
              </a:r>
            </a:p>
          </p:txBody>
        </p:sp>
        <p:sp>
          <p:nvSpPr>
            <p:cNvPr id="2029770" name="Rectangle 202"/>
            <p:cNvSpPr>
              <a:spLocks noChangeArrowheads="1"/>
            </p:cNvSpPr>
            <p:nvPr/>
          </p:nvSpPr>
          <p:spPr bwMode="auto">
            <a:xfrm>
              <a:off x="1086" y="3216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3</a:t>
              </a:r>
            </a:p>
          </p:txBody>
        </p:sp>
        <p:sp>
          <p:nvSpPr>
            <p:cNvPr id="2029771" name="Rectangle 203"/>
            <p:cNvSpPr>
              <a:spLocks noChangeArrowheads="1"/>
            </p:cNvSpPr>
            <p:nvPr/>
          </p:nvSpPr>
          <p:spPr bwMode="auto">
            <a:xfrm>
              <a:off x="1344" y="2922"/>
              <a:ext cx="432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BENDING</a:t>
              </a:r>
            </a:p>
          </p:txBody>
        </p:sp>
        <p:sp>
          <p:nvSpPr>
            <p:cNvPr id="2029772" name="Rectangle 204"/>
            <p:cNvSpPr>
              <a:spLocks noChangeArrowheads="1"/>
            </p:cNvSpPr>
            <p:nvPr/>
          </p:nvSpPr>
          <p:spPr bwMode="auto">
            <a:xfrm>
              <a:off x="2274" y="2922"/>
              <a:ext cx="208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B-101</a:t>
              </a:r>
            </a:p>
          </p:txBody>
        </p:sp>
        <p:sp>
          <p:nvSpPr>
            <p:cNvPr id="2029773" name="Rectangle 205"/>
            <p:cNvSpPr>
              <a:spLocks noChangeArrowheads="1"/>
            </p:cNvSpPr>
            <p:nvPr/>
          </p:nvSpPr>
          <p:spPr bwMode="auto">
            <a:xfrm>
              <a:off x="1086" y="2902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29774" name="Rectangle 206"/>
            <p:cNvSpPr>
              <a:spLocks noChangeArrowheads="1"/>
            </p:cNvSpPr>
            <p:nvPr/>
          </p:nvSpPr>
          <p:spPr bwMode="auto">
            <a:xfrm>
              <a:off x="1344" y="3078"/>
              <a:ext cx="432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BENDING</a:t>
              </a:r>
            </a:p>
          </p:txBody>
        </p:sp>
        <p:sp>
          <p:nvSpPr>
            <p:cNvPr id="2029775" name="Rectangle 207"/>
            <p:cNvSpPr>
              <a:spLocks noChangeArrowheads="1"/>
            </p:cNvSpPr>
            <p:nvPr/>
          </p:nvSpPr>
          <p:spPr bwMode="auto">
            <a:xfrm>
              <a:off x="2274" y="3078"/>
              <a:ext cx="208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B-102</a:t>
              </a:r>
            </a:p>
          </p:txBody>
        </p:sp>
        <p:sp>
          <p:nvSpPr>
            <p:cNvPr id="2029776" name="Rectangle 208"/>
            <p:cNvSpPr>
              <a:spLocks noChangeArrowheads="1"/>
            </p:cNvSpPr>
            <p:nvPr/>
          </p:nvSpPr>
          <p:spPr bwMode="auto">
            <a:xfrm>
              <a:off x="1086" y="3058"/>
              <a:ext cx="297" cy="1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</a:p>
          </p:txBody>
        </p:sp>
        <p:sp>
          <p:nvSpPr>
            <p:cNvPr id="2029777" name="Rectangle 209"/>
            <p:cNvSpPr>
              <a:spLocks noChangeArrowheads="1"/>
            </p:cNvSpPr>
            <p:nvPr/>
          </p:nvSpPr>
          <p:spPr bwMode="auto">
            <a:xfrm>
              <a:off x="1344" y="3392"/>
              <a:ext cx="601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SPOT-WELDING</a:t>
              </a:r>
            </a:p>
          </p:txBody>
        </p:sp>
        <p:sp>
          <p:nvSpPr>
            <p:cNvPr id="2029778" name="Rectangle 210"/>
            <p:cNvSpPr>
              <a:spLocks noChangeArrowheads="1"/>
            </p:cNvSpPr>
            <p:nvPr/>
          </p:nvSpPr>
          <p:spPr bwMode="auto">
            <a:xfrm>
              <a:off x="2274" y="3392"/>
              <a:ext cx="208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SP-101</a:t>
              </a:r>
            </a:p>
          </p:txBody>
        </p:sp>
        <p:sp>
          <p:nvSpPr>
            <p:cNvPr id="2029779" name="Rectangle 211"/>
            <p:cNvSpPr>
              <a:spLocks noChangeArrowheads="1"/>
            </p:cNvSpPr>
            <p:nvPr/>
          </p:nvSpPr>
          <p:spPr bwMode="auto">
            <a:xfrm>
              <a:off x="1086" y="3374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4</a:t>
              </a:r>
            </a:p>
          </p:txBody>
        </p:sp>
        <p:sp>
          <p:nvSpPr>
            <p:cNvPr id="2029780" name="Rectangle 212"/>
            <p:cNvSpPr>
              <a:spLocks noChangeArrowheads="1"/>
            </p:cNvSpPr>
            <p:nvPr/>
          </p:nvSpPr>
          <p:spPr bwMode="auto">
            <a:xfrm>
              <a:off x="1344" y="3570"/>
              <a:ext cx="576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ARC-WELDING</a:t>
              </a:r>
            </a:p>
          </p:txBody>
        </p:sp>
        <p:sp>
          <p:nvSpPr>
            <p:cNvPr id="2029781" name="Rectangle 213"/>
            <p:cNvSpPr>
              <a:spLocks noChangeArrowheads="1"/>
            </p:cNvSpPr>
            <p:nvPr/>
          </p:nvSpPr>
          <p:spPr bwMode="auto">
            <a:xfrm>
              <a:off x="2274" y="3550"/>
              <a:ext cx="208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AC-101</a:t>
              </a:r>
            </a:p>
          </p:txBody>
        </p:sp>
        <p:sp>
          <p:nvSpPr>
            <p:cNvPr id="2029782" name="Rectangle 214"/>
            <p:cNvSpPr>
              <a:spLocks noChangeArrowheads="1"/>
            </p:cNvSpPr>
            <p:nvPr/>
          </p:nvSpPr>
          <p:spPr bwMode="auto">
            <a:xfrm>
              <a:off x="1086" y="3530"/>
              <a:ext cx="297" cy="1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5</a:t>
              </a:r>
            </a:p>
          </p:txBody>
        </p:sp>
        <p:sp>
          <p:nvSpPr>
            <p:cNvPr id="2029783" name="Rectangle 215"/>
            <p:cNvSpPr>
              <a:spLocks noChangeArrowheads="1"/>
            </p:cNvSpPr>
            <p:nvPr/>
          </p:nvSpPr>
          <p:spPr bwMode="auto">
            <a:xfrm>
              <a:off x="3908" y="2646"/>
              <a:ext cx="563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1200">
                  <a:solidFill>
                    <a:srgbClr val="000000"/>
                  </a:solidFill>
                  <a:latin typeface="Angsana New" pitchFamily="18" charset="-34"/>
                </a:rPr>
                <a:t>นายขยัน      ขันแข็ง</a:t>
              </a: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29784" name="Rectangle 216"/>
            <p:cNvSpPr>
              <a:spLocks noChangeArrowheads="1"/>
            </p:cNvSpPr>
            <p:nvPr/>
          </p:nvSpPr>
          <p:spPr bwMode="auto">
            <a:xfrm>
              <a:off x="2808" y="2646"/>
              <a:ext cx="564" cy="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>
                  <a:solidFill>
                    <a:srgbClr val="000000"/>
                  </a:solidFill>
                  <a:latin typeface="Angsana New" pitchFamily="18" charset="-34"/>
                </a:rPr>
                <a:t>PRODUCTION</a:t>
              </a:r>
            </a:p>
          </p:txBody>
        </p:sp>
        <p:sp>
          <p:nvSpPr>
            <p:cNvPr id="2029785" name="Rectangle 217"/>
            <p:cNvSpPr>
              <a:spLocks noChangeArrowheads="1"/>
            </p:cNvSpPr>
            <p:nvPr/>
          </p:nvSpPr>
          <p:spPr bwMode="auto">
            <a:xfrm>
              <a:off x="3967" y="2592"/>
              <a:ext cx="297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>
                  <a:solidFill>
                    <a:srgbClr val="000000"/>
                  </a:solidFill>
                  <a:latin typeface="Angsana New" pitchFamily="18" charset="-34"/>
                </a:rPr>
                <a:t>MRDUM</a:t>
              </a:r>
            </a:p>
          </p:txBody>
        </p:sp>
        <p:sp>
          <p:nvSpPr>
            <p:cNvPr id="2029786" name="Rectangle 218"/>
            <p:cNvSpPr>
              <a:spLocks noChangeArrowheads="1"/>
            </p:cNvSpPr>
            <p:nvPr/>
          </p:nvSpPr>
          <p:spPr bwMode="auto">
            <a:xfrm>
              <a:off x="3610" y="2592"/>
              <a:ext cx="298" cy="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>
                  <a:solidFill>
                    <a:srgbClr val="000000"/>
                  </a:solidFill>
                  <a:latin typeface="Angsana New" pitchFamily="18" charset="-34"/>
                </a:rPr>
                <a:t>MR.DEN</a:t>
              </a:r>
            </a:p>
          </p:txBody>
        </p:sp>
        <p:sp>
          <p:nvSpPr>
            <p:cNvPr id="2029787" name="Rectangle 219"/>
            <p:cNvSpPr>
              <a:spLocks noChangeArrowheads="1"/>
            </p:cNvSpPr>
            <p:nvPr/>
          </p:nvSpPr>
          <p:spPr bwMode="auto">
            <a:xfrm>
              <a:off x="1056" y="2352"/>
              <a:ext cx="3683" cy="1728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1" lang="en-US" sz="1200">
                <a:solidFill>
                  <a:srgbClr val="000000"/>
                </a:solidFill>
                <a:latin typeface="Arial Narrow" pitchFamily="34" charset="0"/>
              </a:endParaRPr>
            </a:p>
          </p:txBody>
        </p:sp>
        <p:sp>
          <p:nvSpPr>
            <p:cNvPr id="2029788" name="Line 220"/>
            <p:cNvSpPr>
              <a:spLocks noChangeShapeType="1"/>
            </p:cNvSpPr>
            <p:nvPr/>
          </p:nvSpPr>
          <p:spPr bwMode="auto">
            <a:xfrm rot="5514555">
              <a:off x="3525" y="2994"/>
              <a:ext cx="0" cy="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89" name="Line 221"/>
            <p:cNvSpPr>
              <a:spLocks noChangeShapeType="1"/>
            </p:cNvSpPr>
            <p:nvPr/>
          </p:nvSpPr>
          <p:spPr bwMode="auto">
            <a:xfrm rot="5514555">
              <a:off x="3762" y="2994"/>
              <a:ext cx="0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90" name="Line 222"/>
            <p:cNvSpPr>
              <a:spLocks noChangeShapeType="1"/>
            </p:cNvSpPr>
            <p:nvPr/>
          </p:nvSpPr>
          <p:spPr bwMode="auto">
            <a:xfrm rot="5514555">
              <a:off x="3525" y="3618"/>
              <a:ext cx="0" cy="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91" name="Line 223"/>
            <p:cNvSpPr>
              <a:spLocks noChangeShapeType="1"/>
            </p:cNvSpPr>
            <p:nvPr/>
          </p:nvSpPr>
          <p:spPr bwMode="auto">
            <a:xfrm rot="5514555">
              <a:off x="3762" y="3618"/>
              <a:ext cx="0" cy="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92" name="Oval 224"/>
            <p:cNvSpPr>
              <a:spLocks noChangeArrowheads="1"/>
            </p:cNvSpPr>
            <p:nvPr/>
          </p:nvSpPr>
          <p:spPr bwMode="auto">
            <a:xfrm>
              <a:off x="1056" y="3792"/>
              <a:ext cx="480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1</a:t>
              </a:r>
            </a:p>
          </p:txBody>
        </p:sp>
        <p:sp>
          <p:nvSpPr>
            <p:cNvPr id="2029793" name="Oval 225"/>
            <p:cNvSpPr>
              <a:spLocks noChangeArrowheads="1"/>
            </p:cNvSpPr>
            <p:nvPr/>
          </p:nvSpPr>
          <p:spPr bwMode="auto">
            <a:xfrm>
              <a:off x="2112" y="3744"/>
              <a:ext cx="480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3</a:t>
              </a:r>
            </a:p>
          </p:txBody>
        </p:sp>
        <p:sp>
          <p:nvSpPr>
            <p:cNvPr id="2029794" name="Oval 226"/>
            <p:cNvSpPr>
              <a:spLocks noChangeArrowheads="1"/>
            </p:cNvSpPr>
            <p:nvPr/>
          </p:nvSpPr>
          <p:spPr bwMode="auto">
            <a:xfrm>
              <a:off x="3840" y="3792"/>
              <a:ext cx="480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6</a:t>
              </a:r>
            </a:p>
          </p:txBody>
        </p:sp>
        <p:sp>
          <p:nvSpPr>
            <p:cNvPr id="2029795" name="Oval 227"/>
            <p:cNvSpPr>
              <a:spLocks noChangeArrowheads="1"/>
            </p:cNvSpPr>
            <p:nvPr/>
          </p:nvSpPr>
          <p:spPr bwMode="auto">
            <a:xfrm>
              <a:off x="1584" y="3840"/>
              <a:ext cx="480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2</a:t>
              </a:r>
            </a:p>
          </p:txBody>
        </p:sp>
        <p:sp>
          <p:nvSpPr>
            <p:cNvPr id="2029796" name="Line 228"/>
            <p:cNvSpPr>
              <a:spLocks noChangeShapeType="1"/>
            </p:cNvSpPr>
            <p:nvPr/>
          </p:nvSpPr>
          <p:spPr bwMode="auto">
            <a:xfrm flipH="1" flipV="1">
              <a:off x="1584" y="3648"/>
              <a:ext cx="144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97" name="Line 229"/>
            <p:cNvSpPr>
              <a:spLocks noChangeShapeType="1"/>
            </p:cNvSpPr>
            <p:nvPr/>
          </p:nvSpPr>
          <p:spPr bwMode="auto">
            <a:xfrm flipH="1" flipV="1">
              <a:off x="4368" y="3648"/>
              <a:ext cx="96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98" name="Line 230"/>
            <p:cNvSpPr>
              <a:spLocks noChangeShapeType="1"/>
            </p:cNvSpPr>
            <p:nvPr/>
          </p:nvSpPr>
          <p:spPr bwMode="auto">
            <a:xfrm flipV="1">
              <a:off x="1248" y="369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799" name="AutoShape 231"/>
            <p:cNvSpPr>
              <a:spLocks/>
            </p:cNvSpPr>
            <p:nvPr/>
          </p:nvSpPr>
          <p:spPr bwMode="auto">
            <a:xfrm rot="5366215">
              <a:off x="3960" y="3624"/>
              <a:ext cx="96" cy="240"/>
            </a:xfrm>
            <a:prstGeom prst="rightBrace">
              <a:avLst>
                <a:gd name="adj1" fmla="val 208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800" name="Line 232"/>
            <p:cNvSpPr>
              <a:spLocks noChangeShapeType="1"/>
            </p:cNvSpPr>
            <p:nvPr/>
          </p:nvSpPr>
          <p:spPr bwMode="auto">
            <a:xfrm flipV="1">
              <a:off x="2352" y="3648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801" name="Oval 233"/>
            <p:cNvSpPr>
              <a:spLocks noChangeArrowheads="1"/>
            </p:cNvSpPr>
            <p:nvPr/>
          </p:nvSpPr>
          <p:spPr bwMode="auto">
            <a:xfrm>
              <a:off x="2736" y="3792"/>
              <a:ext cx="480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4</a:t>
              </a:r>
            </a:p>
          </p:txBody>
        </p:sp>
        <p:sp>
          <p:nvSpPr>
            <p:cNvPr id="2029802" name="AutoShape 234"/>
            <p:cNvSpPr>
              <a:spLocks/>
            </p:cNvSpPr>
            <p:nvPr/>
          </p:nvSpPr>
          <p:spPr bwMode="auto">
            <a:xfrm rot="5366215">
              <a:off x="2927" y="3360"/>
              <a:ext cx="96" cy="768"/>
            </a:xfrm>
            <a:prstGeom prst="rightBrace">
              <a:avLst>
                <a:gd name="adj1" fmla="val 6666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803" name="Oval 235"/>
            <p:cNvSpPr>
              <a:spLocks noChangeArrowheads="1"/>
            </p:cNvSpPr>
            <p:nvPr/>
          </p:nvSpPr>
          <p:spPr bwMode="auto">
            <a:xfrm>
              <a:off x="3312" y="3792"/>
              <a:ext cx="480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5</a:t>
              </a:r>
            </a:p>
          </p:txBody>
        </p:sp>
        <p:sp>
          <p:nvSpPr>
            <p:cNvPr id="2029804" name="AutoShape 236"/>
            <p:cNvSpPr>
              <a:spLocks/>
            </p:cNvSpPr>
            <p:nvPr/>
          </p:nvSpPr>
          <p:spPr bwMode="auto">
            <a:xfrm rot="5366215">
              <a:off x="3575" y="3527"/>
              <a:ext cx="96" cy="432"/>
            </a:xfrm>
            <a:prstGeom prst="rightBrace">
              <a:avLst>
                <a:gd name="adj1" fmla="val 37500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29805" name="Oval 237"/>
            <p:cNvSpPr>
              <a:spLocks noChangeArrowheads="1"/>
            </p:cNvSpPr>
            <p:nvPr/>
          </p:nvSpPr>
          <p:spPr bwMode="auto">
            <a:xfrm>
              <a:off x="4224" y="3888"/>
              <a:ext cx="480" cy="14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7</a:t>
              </a:r>
            </a:p>
          </p:txBody>
        </p:sp>
      </p:grpSp>
      <p:sp>
        <p:nvSpPr>
          <p:cNvPr id="2029806" name="WordArt 238"/>
          <p:cNvSpPr>
            <a:spLocks noChangeArrowheads="1" noChangeShapeType="1" noTextEdit="1"/>
          </p:cNvSpPr>
          <p:nvPr/>
        </p:nvSpPr>
        <p:spPr bwMode="auto">
          <a:xfrm>
            <a:off x="5562600" y="3902075"/>
            <a:ext cx="3152775" cy="152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3600" b="1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FF00FF"/>
                </a:solidFill>
                <a:latin typeface="Arial Black"/>
              </a:rPr>
              <a:t>460*60=27600SEC</a:t>
            </a:r>
            <a:endParaRPr lang="th-TH" sz="3600" b="1" kern="10">
              <a:ln w="9525">
                <a:solidFill>
                  <a:srgbClr val="000000"/>
                </a:solidFill>
                <a:round/>
                <a:headEnd/>
                <a:tailEnd/>
              </a:ln>
              <a:solidFill>
                <a:srgbClr val="FF00FF"/>
              </a:solidFill>
              <a:latin typeface="Arial Black"/>
            </a:endParaRPr>
          </a:p>
        </p:txBody>
      </p:sp>
      <p:sp>
        <p:nvSpPr>
          <p:cNvPr id="2029807" name="Rectangle 239"/>
          <p:cNvSpPr>
            <a:spLocks noChangeArrowheads="1"/>
          </p:cNvSpPr>
          <p:nvPr/>
        </p:nvSpPr>
        <p:spPr bwMode="auto">
          <a:xfrm>
            <a:off x="323850" y="1074738"/>
            <a:ext cx="1066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u="sng">
                <a:solidFill>
                  <a:srgbClr val="000000"/>
                </a:solidFill>
                <a:latin typeface="Times New Roman" pitchFamily="18" charset="0"/>
              </a:rPr>
              <a:t>ตัวอย่าง</a:t>
            </a:r>
            <a:endParaRPr lang="en-US" sz="3200" u="sng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29808" name="Text Box 240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29810" name="Line 242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29811" name="Text Box 243"/>
          <p:cNvSpPr txBox="1">
            <a:spLocks noChangeArrowheads="1"/>
          </p:cNvSpPr>
          <p:nvPr/>
        </p:nvSpPr>
        <p:spPr bwMode="auto">
          <a:xfrm>
            <a:off x="1314450" y="1235075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Example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9812" name="Text Box 244"/>
          <p:cNvSpPr txBox="1">
            <a:spLocks noChangeArrowheads="1"/>
          </p:cNvSpPr>
          <p:nvPr/>
        </p:nvSpPr>
        <p:spPr bwMode="auto">
          <a:xfrm>
            <a:off x="3962400" y="1616075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Line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9813" name="Text Box 245"/>
          <p:cNvSpPr txBox="1">
            <a:spLocks noChangeArrowheads="1"/>
          </p:cNvSpPr>
          <p:nvPr/>
        </p:nvSpPr>
        <p:spPr bwMode="auto">
          <a:xfrm>
            <a:off x="7740650" y="1268413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Part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9814" name="Text Box 246"/>
          <p:cNvSpPr txBox="1">
            <a:spLocks noChangeArrowheads="1"/>
          </p:cNvSpPr>
          <p:nvPr/>
        </p:nvSpPr>
        <p:spPr bwMode="auto">
          <a:xfrm>
            <a:off x="8078788" y="1641475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Part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29815" name="Text Box 247"/>
          <p:cNvSpPr txBox="1">
            <a:spLocks noChangeArrowheads="1"/>
          </p:cNvSpPr>
          <p:nvPr/>
        </p:nvSpPr>
        <p:spPr bwMode="auto">
          <a:xfrm>
            <a:off x="7659688" y="2466975"/>
            <a:ext cx="9366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Finished Goods</a:t>
            </a:r>
            <a:endParaRPr lang="th-TH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0594" name="Rectangle 2"/>
          <p:cNvSpPr>
            <a:spLocks noChangeArrowheads="1"/>
          </p:cNvSpPr>
          <p:nvPr/>
        </p:nvSpPr>
        <p:spPr bwMode="auto">
          <a:xfrm>
            <a:off x="179388" y="1268413"/>
            <a:ext cx="1374775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 smtClean="0">
                <a:solidFill>
                  <a:srgbClr val="333399"/>
                </a:solidFill>
                <a:latin typeface="Angsana New" pitchFamily="18" charset="-34"/>
              </a:rPr>
              <a:t> </a:t>
            </a:r>
            <a:r>
              <a:rPr lang="th-TH" sz="3200" b="1" u="sng" smtClean="0">
                <a:solidFill>
                  <a:srgbClr val="333399"/>
                </a:solidFill>
                <a:latin typeface="Angsana New" pitchFamily="18" charset="-34"/>
              </a:rPr>
              <a:t>วิธีจัดทำ</a:t>
            </a:r>
          </a:p>
        </p:txBody>
      </p:sp>
      <p:sp>
        <p:nvSpPr>
          <p:cNvPr id="2030595" name="Rectangle 3"/>
          <p:cNvSpPr>
            <a:spLocks noChangeArrowheads="1"/>
          </p:cNvSpPr>
          <p:nvPr/>
        </p:nvSpPr>
        <p:spPr bwMode="auto">
          <a:xfrm>
            <a:off x="406400" y="1943100"/>
            <a:ext cx="8534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1  :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ใส่หมายเลขเรียงลำดับ กระบวนการทั้งหมดว่ามีกี่กระบวนการ 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(</a:t>
            </a:r>
            <a:r>
              <a:rPr lang="ja-JP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Process</a:t>
            </a:r>
            <a:r>
              <a:rPr lang="ja-JP" altLang="en-US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)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  <a:endParaRPr lang="en-US" smtClean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0596" name="Rectangle 4"/>
          <p:cNvSpPr>
            <a:spLocks noChangeArrowheads="1"/>
          </p:cNvSpPr>
          <p:nvPr/>
        </p:nvSpPr>
        <p:spPr bwMode="auto">
          <a:xfrm>
            <a:off x="407988" y="2759075"/>
            <a:ext cx="5791200" cy="482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2  :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ใส่ชื่อเรียกกระบวน 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(</a:t>
            </a:r>
            <a:r>
              <a:rPr lang="en-US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p</a:t>
            </a:r>
            <a:r>
              <a:rPr lang="ja-JP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rocess</a:t>
            </a:r>
            <a:r>
              <a:rPr lang="ja-JP" altLang="en-US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 </a:t>
            </a:r>
            <a:r>
              <a:rPr lang="en-US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name)</a:t>
            </a:r>
          </a:p>
        </p:txBody>
      </p:sp>
      <p:sp>
        <p:nvSpPr>
          <p:cNvPr id="2030597" name="Rectangle 5"/>
          <p:cNvSpPr>
            <a:spLocks noChangeArrowheads="1"/>
          </p:cNvSpPr>
          <p:nvPr/>
        </p:nvSpPr>
        <p:spPr bwMode="auto">
          <a:xfrm>
            <a:off x="400050" y="3581400"/>
            <a:ext cx="5791200" cy="482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3  :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ใส่หมายเลขเครื่องจักรของแต่ละกระบวนการ</a:t>
            </a:r>
            <a:endParaRPr lang="ja-JP" altLang="en-US" smtClean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0598" name="Rectangle 6"/>
          <p:cNvSpPr>
            <a:spLocks noChangeArrowheads="1"/>
          </p:cNvSpPr>
          <p:nvPr/>
        </p:nvSpPr>
        <p:spPr bwMode="auto">
          <a:xfrm>
            <a:off x="406400" y="4356100"/>
            <a:ext cx="6626225" cy="482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4  :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ลงบันทึกเวลาโดยแบ่งเป็น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0599" name="Rectangle 7"/>
          <p:cNvSpPr>
            <a:spLocks noChangeArrowheads="1"/>
          </p:cNvSpPr>
          <p:nvPr/>
        </p:nvSpPr>
        <p:spPr bwMode="auto">
          <a:xfrm>
            <a:off x="1692275" y="5046663"/>
            <a:ext cx="69119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(1) เวลาที่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คน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ทำงาน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 คือ เวลาที่พนักงานทำงานโดยไม่คิดเวลาในการเดิน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0600" name="Rectangle 8"/>
          <p:cNvSpPr>
            <a:spLocks noChangeArrowheads="1"/>
          </p:cNvSpPr>
          <p:nvPr/>
        </p:nvSpPr>
        <p:spPr bwMode="auto">
          <a:xfrm>
            <a:off x="1700213" y="5856288"/>
            <a:ext cx="5791200" cy="482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</a:pP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(2) เวลาที่เครื่องจักรทำงาน</a:t>
            </a:r>
          </a:p>
        </p:txBody>
      </p:sp>
      <p:sp>
        <p:nvSpPr>
          <p:cNvPr id="2030601" name="Text Box 9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0603" name="Line 11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30604" name="Rectangle 2"/>
          <p:cNvSpPr>
            <a:spLocks noChangeArrowheads="1"/>
          </p:cNvSpPr>
          <p:nvPr/>
        </p:nvSpPr>
        <p:spPr bwMode="auto">
          <a:xfrm>
            <a:off x="1339850" y="1281113"/>
            <a:ext cx="3024188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1200" b="1" smtClean="0">
                <a:solidFill>
                  <a:srgbClr val="333399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333399"/>
                </a:solidFill>
                <a:ea typeface="MS PGothic" pitchFamily="34" charset="-128"/>
                <a:sym typeface="Wingdings" pitchFamily="2" charset="2"/>
              </a:rPr>
              <a:t>How to make machine capacity sheet?</a:t>
            </a:r>
            <a:endParaRPr lang="th-TH" sz="1200" b="1" smtClean="0">
              <a:solidFill>
                <a:srgbClr val="333399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0605" name="Rectangle 3"/>
          <p:cNvSpPr>
            <a:spLocks noChangeArrowheads="1"/>
          </p:cNvSpPr>
          <p:nvPr/>
        </p:nvSpPr>
        <p:spPr bwMode="auto">
          <a:xfrm>
            <a:off x="1801813" y="2217738"/>
            <a:ext cx="69342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1 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List up how many process and put the process no. in sequence</a:t>
            </a:r>
          </a:p>
        </p:txBody>
      </p:sp>
      <p:sp>
        <p:nvSpPr>
          <p:cNvPr id="2030606" name="Rectangle 4"/>
          <p:cNvSpPr>
            <a:spLocks noChangeArrowheads="1"/>
          </p:cNvSpPr>
          <p:nvPr/>
        </p:nvSpPr>
        <p:spPr bwMode="auto">
          <a:xfrm>
            <a:off x="1797050" y="3055938"/>
            <a:ext cx="3313113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2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Fill process name of each process</a:t>
            </a:r>
            <a:endParaRPr lang="en-US" altLang="ja-JP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0607" name="Rectangle 5"/>
          <p:cNvSpPr>
            <a:spLocks noChangeArrowheads="1"/>
          </p:cNvSpPr>
          <p:nvPr/>
        </p:nvSpPr>
        <p:spPr bwMode="auto">
          <a:xfrm>
            <a:off x="1784350" y="3883025"/>
            <a:ext cx="6338888" cy="482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3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Fill Machine no. of each process</a:t>
            </a:r>
            <a:endParaRPr lang="ja-JP" altLang="en-US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0608" name="Rectangle 6"/>
          <p:cNvSpPr>
            <a:spLocks noChangeArrowheads="1"/>
          </p:cNvSpPr>
          <p:nvPr/>
        </p:nvSpPr>
        <p:spPr bwMode="auto">
          <a:xfrm>
            <a:off x="1773238" y="4640263"/>
            <a:ext cx="3459162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4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Fill the time as following :</a:t>
            </a:r>
          </a:p>
        </p:txBody>
      </p:sp>
      <p:sp>
        <p:nvSpPr>
          <p:cNvPr id="2030609" name="Rectangle 7"/>
          <p:cNvSpPr>
            <a:spLocks noChangeArrowheads="1"/>
          </p:cNvSpPr>
          <p:nvPr/>
        </p:nvSpPr>
        <p:spPr bwMode="auto">
          <a:xfrm>
            <a:off x="2025650" y="5478463"/>
            <a:ext cx="199707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(1) Handling Time</a:t>
            </a:r>
          </a:p>
        </p:txBody>
      </p:sp>
      <p:sp>
        <p:nvSpPr>
          <p:cNvPr id="2030610" name="Rectangle 7"/>
          <p:cNvSpPr>
            <a:spLocks noChangeArrowheads="1"/>
          </p:cNvSpPr>
          <p:nvPr/>
        </p:nvSpPr>
        <p:spPr bwMode="auto">
          <a:xfrm>
            <a:off x="2022475" y="6237288"/>
            <a:ext cx="221297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(2) Machine Time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618" name="Rectangle 2"/>
          <p:cNvSpPr>
            <a:spLocks noChangeArrowheads="1"/>
          </p:cNvSpPr>
          <p:nvPr/>
        </p:nvSpPr>
        <p:spPr bwMode="auto">
          <a:xfrm>
            <a:off x="762000" y="4340225"/>
            <a:ext cx="57912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1619" name="Rectangle 3"/>
          <p:cNvSpPr>
            <a:spLocks noChangeArrowheads="1"/>
          </p:cNvSpPr>
          <p:nvPr/>
        </p:nvSpPr>
        <p:spPr bwMode="auto">
          <a:xfrm>
            <a:off x="827088" y="1819275"/>
            <a:ext cx="81724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(1) จำนวนที่เปลี่ยน 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คือ จำนวนที่ครบจำนวนการผลิต แล้วทำการเปลี่ยนอุปกรณ์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1620" name="Rectangle 4"/>
          <p:cNvSpPr>
            <a:spLocks noChangeArrowheads="1"/>
          </p:cNvSpPr>
          <p:nvPr/>
        </p:nvSpPr>
        <p:spPr bwMode="auto">
          <a:xfrm>
            <a:off x="395288" y="1171575"/>
            <a:ext cx="5791200" cy="482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5  :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การเปลี่ยนเครื่องมือ </a:t>
            </a:r>
            <a:r>
              <a:rPr lang="th-TH" altLang="th-TH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แบ่งเป็น</a:t>
            </a:r>
            <a:endParaRPr lang="en-US" smtClean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1621" name="Rectangle 5"/>
          <p:cNvSpPr>
            <a:spLocks noChangeArrowheads="1"/>
          </p:cNvSpPr>
          <p:nvPr/>
        </p:nvSpPr>
        <p:spPr bwMode="auto">
          <a:xfrm>
            <a:off x="390525" y="3149600"/>
            <a:ext cx="5791200" cy="431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6  : 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ความสามารถในการผลิต  (ต่อ 1 กะ)</a:t>
            </a:r>
          </a:p>
        </p:txBody>
      </p:sp>
      <p:sp>
        <p:nvSpPr>
          <p:cNvPr id="2031622" name="Rectangle 6"/>
          <p:cNvSpPr>
            <a:spLocks noChangeArrowheads="1"/>
          </p:cNvSpPr>
          <p:nvPr/>
        </p:nvSpPr>
        <p:spPr bwMode="auto">
          <a:xfrm>
            <a:off x="895350" y="4086225"/>
            <a:ext cx="2041525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400" b="1" smtClean="0">
                <a:solidFill>
                  <a:srgbClr val="000000"/>
                </a:solidFill>
                <a:latin typeface="Angsana New" pitchFamily="18" charset="-34"/>
              </a:rPr>
              <a:t>ความสามารถการผลิต</a:t>
            </a:r>
          </a:p>
        </p:txBody>
      </p:sp>
      <p:sp>
        <p:nvSpPr>
          <p:cNvPr id="2031623" name="Rectangle 7"/>
          <p:cNvSpPr>
            <a:spLocks noChangeArrowheads="1"/>
          </p:cNvSpPr>
          <p:nvPr/>
        </p:nvSpPr>
        <p:spPr bwMode="auto">
          <a:xfrm>
            <a:off x="1055688" y="4437063"/>
            <a:ext cx="1727200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</a:rPr>
              <a:t>Production Capacity</a:t>
            </a:r>
          </a:p>
        </p:txBody>
      </p:sp>
      <p:sp>
        <p:nvSpPr>
          <p:cNvPr id="2031624" name="Rectangle 8"/>
          <p:cNvSpPr>
            <a:spLocks noChangeArrowheads="1"/>
          </p:cNvSpPr>
          <p:nvPr/>
        </p:nvSpPr>
        <p:spPr bwMode="auto">
          <a:xfrm>
            <a:off x="3203575" y="4216400"/>
            <a:ext cx="288925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smtClean="0">
                <a:solidFill>
                  <a:srgbClr val="000000"/>
                </a:solidFill>
                <a:latin typeface="Angsana New" pitchFamily="18" charset="-34"/>
              </a:rPr>
              <a:t>=</a:t>
            </a:r>
          </a:p>
        </p:txBody>
      </p:sp>
      <p:sp>
        <p:nvSpPr>
          <p:cNvPr id="2031625" name="Rectangle 9"/>
          <p:cNvSpPr>
            <a:spLocks noChangeArrowheads="1"/>
          </p:cNvSpPr>
          <p:nvPr/>
        </p:nvSpPr>
        <p:spPr bwMode="auto">
          <a:xfrm>
            <a:off x="4273550" y="4084638"/>
            <a:ext cx="3352800" cy="382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th-TH" sz="2400" b="1" smtClean="0">
                <a:solidFill>
                  <a:srgbClr val="000000"/>
                </a:solidFill>
                <a:latin typeface="Angsana New" pitchFamily="18" charset="-34"/>
              </a:rPr>
              <a:t>เวลาทำงาน 1 กะ</a:t>
            </a:r>
          </a:p>
        </p:txBody>
      </p:sp>
      <p:sp>
        <p:nvSpPr>
          <p:cNvPr id="2031626" name="Rectangle 10"/>
          <p:cNvSpPr>
            <a:spLocks noChangeArrowheads="1"/>
          </p:cNvSpPr>
          <p:nvPr/>
        </p:nvSpPr>
        <p:spPr bwMode="auto">
          <a:xfrm>
            <a:off x="3513138" y="4457700"/>
            <a:ext cx="51562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th-TH" sz="2400" b="1" smtClean="0">
                <a:solidFill>
                  <a:srgbClr val="000000"/>
                </a:solidFill>
                <a:latin typeface="Angsana New" pitchFamily="18" charset="-34"/>
              </a:rPr>
              <a:t>เวลาที่ทำงานเสร็จ</a:t>
            </a:r>
            <a:r>
              <a:rPr lang="en-US" sz="2400" b="1" smtClean="0">
                <a:solidFill>
                  <a:srgbClr val="000000"/>
                </a:solidFill>
                <a:latin typeface="Angsana New" pitchFamily="18" charset="-34"/>
              </a:rPr>
              <a:t> 1 </a:t>
            </a:r>
            <a:r>
              <a:rPr lang="th-TH" sz="2400" b="1" smtClean="0">
                <a:solidFill>
                  <a:srgbClr val="000000"/>
                </a:solidFill>
                <a:latin typeface="Angsana New" pitchFamily="18" charset="-34"/>
              </a:rPr>
              <a:t>ชิ้น + เวลาในการเปลี่ยนอุปกรณ์</a:t>
            </a:r>
            <a:r>
              <a:rPr lang="en-US" sz="2400" b="1" smtClean="0">
                <a:solidFill>
                  <a:srgbClr val="000000"/>
                </a:solidFill>
                <a:latin typeface="Angsana New" pitchFamily="18" charset="-34"/>
              </a:rPr>
              <a:t> /</a:t>
            </a:r>
            <a:r>
              <a:rPr lang="th-TH" sz="2400" b="1" smtClean="0">
                <a:solidFill>
                  <a:srgbClr val="000000"/>
                </a:solidFill>
                <a:latin typeface="Angsana New" pitchFamily="18" charset="-34"/>
              </a:rPr>
              <a:t> ชิ้น</a:t>
            </a:r>
          </a:p>
        </p:txBody>
      </p:sp>
      <p:sp>
        <p:nvSpPr>
          <p:cNvPr id="2031627" name="Line 11"/>
          <p:cNvSpPr>
            <a:spLocks noChangeShapeType="1"/>
          </p:cNvSpPr>
          <p:nvPr/>
        </p:nvSpPr>
        <p:spPr bwMode="auto">
          <a:xfrm>
            <a:off x="3635375" y="4441825"/>
            <a:ext cx="4897438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31628" name="AutoShape 12"/>
          <p:cNvSpPr>
            <a:spLocks noChangeArrowheads="1"/>
          </p:cNvSpPr>
          <p:nvPr/>
        </p:nvSpPr>
        <p:spPr bwMode="auto">
          <a:xfrm>
            <a:off x="468313" y="3924300"/>
            <a:ext cx="8280400" cy="1160463"/>
          </a:xfrm>
          <a:prstGeom prst="roundRect">
            <a:avLst>
              <a:gd name="adj" fmla="val 16667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31629" name="Rectangle 13"/>
          <p:cNvSpPr>
            <a:spLocks noChangeArrowheads="1"/>
          </p:cNvSpPr>
          <p:nvPr/>
        </p:nvSpPr>
        <p:spPr bwMode="auto">
          <a:xfrm>
            <a:off x="387350" y="5249863"/>
            <a:ext cx="5791200" cy="4826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7  : 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ช่องหมายเหตุ</a:t>
            </a:r>
          </a:p>
        </p:txBody>
      </p:sp>
      <p:sp>
        <p:nvSpPr>
          <p:cNvPr id="2031630" name="Rectangle 14"/>
          <p:cNvSpPr>
            <a:spLocks noChangeArrowheads="1"/>
          </p:cNvSpPr>
          <p:nvPr/>
        </p:nvSpPr>
        <p:spPr bwMode="auto">
          <a:xfrm>
            <a:off x="1141413" y="6064250"/>
            <a:ext cx="2016125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400" b="1" smtClean="0">
                <a:solidFill>
                  <a:srgbClr val="000000"/>
                </a:solidFill>
                <a:latin typeface="Angsana New" pitchFamily="18" charset="-34"/>
              </a:rPr>
              <a:t>เวลาที่ทำงานด้วยคน</a:t>
            </a:r>
          </a:p>
        </p:txBody>
      </p:sp>
      <p:sp>
        <p:nvSpPr>
          <p:cNvPr id="2031631" name="Rectangle 15"/>
          <p:cNvSpPr>
            <a:spLocks noChangeArrowheads="1"/>
          </p:cNvSpPr>
          <p:nvPr/>
        </p:nvSpPr>
        <p:spPr bwMode="auto">
          <a:xfrm>
            <a:off x="5076825" y="6064250"/>
            <a:ext cx="21590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400" b="1" smtClean="0">
                <a:solidFill>
                  <a:srgbClr val="000000"/>
                </a:solidFill>
                <a:latin typeface="Angsana New" pitchFamily="18" charset="-34"/>
              </a:rPr>
              <a:t>เวลาที่เครื่องจักรทำงาน</a:t>
            </a: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3086100" y="6165850"/>
            <a:ext cx="838200" cy="304800"/>
            <a:chOff x="2005" y="3676"/>
            <a:chExt cx="528" cy="192"/>
          </a:xfrm>
        </p:grpSpPr>
        <p:sp>
          <p:nvSpPr>
            <p:cNvPr id="2031633" name="Line 17"/>
            <p:cNvSpPr>
              <a:spLocks noChangeShapeType="1"/>
            </p:cNvSpPr>
            <p:nvPr/>
          </p:nvSpPr>
          <p:spPr bwMode="auto">
            <a:xfrm>
              <a:off x="2005" y="377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31634" name="Line 18"/>
            <p:cNvSpPr>
              <a:spLocks noChangeShapeType="1"/>
            </p:cNvSpPr>
            <p:nvPr/>
          </p:nvSpPr>
          <p:spPr bwMode="auto">
            <a:xfrm>
              <a:off x="2005" y="36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31635" name="Line 19"/>
            <p:cNvSpPr>
              <a:spLocks noChangeShapeType="1"/>
            </p:cNvSpPr>
            <p:nvPr/>
          </p:nvSpPr>
          <p:spPr bwMode="auto">
            <a:xfrm>
              <a:off x="2533" y="36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7262813" y="6165850"/>
            <a:ext cx="838200" cy="304800"/>
            <a:chOff x="3903" y="3676"/>
            <a:chExt cx="528" cy="192"/>
          </a:xfrm>
        </p:grpSpPr>
        <p:sp>
          <p:nvSpPr>
            <p:cNvPr id="2031637" name="Line 21"/>
            <p:cNvSpPr>
              <a:spLocks noChangeShapeType="1"/>
            </p:cNvSpPr>
            <p:nvPr/>
          </p:nvSpPr>
          <p:spPr bwMode="auto">
            <a:xfrm>
              <a:off x="3903" y="3772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31638" name="Line 22"/>
            <p:cNvSpPr>
              <a:spLocks noChangeShapeType="1"/>
            </p:cNvSpPr>
            <p:nvPr/>
          </p:nvSpPr>
          <p:spPr bwMode="auto">
            <a:xfrm>
              <a:off x="3903" y="36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31639" name="Line 23"/>
            <p:cNvSpPr>
              <a:spLocks noChangeShapeType="1"/>
            </p:cNvSpPr>
            <p:nvPr/>
          </p:nvSpPr>
          <p:spPr bwMode="auto">
            <a:xfrm>
              <a:off x="4431" y="367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2031640" name="Text Box 24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1642" name="Text Box 26"/>
          <p:cNvSpPr txBox="1">
            <a:spLocks noChangeArrowheads="1"/>
          </p:cNvSpPr>
          <p:nvPr/>
        </p:nvSpPr>
        <p:spPr bwMode="auto">
          <a:xfrm>
            <a:off x="827088" y="2378075"/>
            <a:ext cx="55102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(2) เวลาที่ใช้ในการเปลี่ยน  คือ เวลาที่ใช้ในการเปลี่ยนรุ่น</a:t>
            </a:r>
            <a:endParaRPr lang="th-TH" b="1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1643" name="Line 27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31644" name="Rectangle 12"/>
          <p:cNvSpPr>
            <a:spLocks noChangeArrowheads="1"/>
          </p:cNvSpPr>
          <p:nvPr/>
        </p:nvSpPr>
        <p:spPr bwMode="auto">
          <a:xfrm>
            <a:off x="1738313" y="1476375"/>
            <a:ext cx="350202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5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Fill Tool Change data as following :</a:t>
            </a:r>
          </a:p>
        </p:txBody>
      </p:sp>
      <p:sp>
        <p:nvSpPr>
          <p:cNvPr id="2031645" name="Rectangle 7"/>
          <p:cNvSpPr>
            <a:spLocks noChangeArrowheads="1"/>
          </p:cNvSpPr>
          <p:nvPr/>
        </p:nvSpPr>
        <p:spPr bwMode="auto">
          <a:xfrm>
            <a:off x="3708400" y="2095500"/>
            <a:ext cx="4013200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(1) How many pieces for 1 times changing</a:t>
            </a:r>
          </a:p>
        </p:txBody>
      </p:sp>
      <p:sp>
        <p:nvSpPr>
          <p:cNvPr id="2031646" name="Rectangle 7"/>
          <p:cNvSpPr>
            <a:spLocks noChangeArrowheads="1"/>
          </p:cNvSpPr>
          <p:nvPr/>
        </p:nvSpPr>
        <p:spPr bwMode="auto">
          <a:xfrm>
            <a:off x="3708400" y="2720975"/>
            <a:ext cx="2212975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(2) Change over  time</a:t>
            </a:r>
          </a:p>
        </p:txBody>
      </p:sp>
      <p:sp>
        <p:nvSpPr>
          <p:cNvPr id="2031647" name="Rectangle 13"/>
          <p:cNvSpPr>
            <a:spLocks noChangeArrowheads="1"/>
          </p:cNvSpPr>
          <p:nvPr/>
        </p:nvSpPr>
        <p:spPr bwMode="auto">
          <a:xfrm>
            <a:off x="1717675" y="3416300"/>
            <a:ext cx="57912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6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: Production Capacity (for 1 shift)</a:t>
            </a:r>
          </a:p>
        </p:txBody>
      </p:sp>
      <p:sp>
        <p:nvSpPr>
          <p:cNvPr id="2031648" name="Rectangle 32"/>
          <p:cNvSpPr>
            <a:spLocks noChangeArrowheads="1"/>
          </p:cNvSpPr>
          <p:nvPr/>
        </p:nvSpPr>
        <p:spPr bwMode="auto">
          <a:xfrm>
            <a:off x="6646863" y="4111625"/>
            <a:ext cx="17272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Working Time/Shift</a:t>
            </a:r>
          </a:p>
        </p:txBody>
      </p:sp>
      <p:sp>
        <p:nvSpPr>
          <p:cNvPr id="2031649" name="Rectangle 33"/>
          <p:cNvSpPr>
            <a:spLocks noChangeArrowheads="1"/>
          </p:cNvSpPr>
          <p:nvPr/>
        </p:nvSpPr>
        <p:spPr bwMode="auto">
          <a:xfrm>
            <a:off x="3952875" y="4749800"/>
            <a:ext cx="17272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Cycle Time (Pcs/Sec)</a:t>
            </a:r>
          </a:p>
        </p:txBody>
      </p:sp>
      <p:sp>
        <p:nvSpPr>
          <p:cNvPr id="2031650" name="Rectangle 34"/>
          <p:cNvSpPr>
            <a:spLocks noChangeArrowheads="1"/>
          </p:cNvSpPr>
          <p:nvPr/>
        </p:nvSpPr>
        <p:spPr bwMode="auto">
          <a:xfrm>
            <a:off x="6461125" y="4749800"/>
            <a:ext cx="1727200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Changing Time/Pcs</a:t>
            </a:r>
          </a:p>
        </p:txBody>
      </p:sp>
      <p:sp>
        <p:nvSpPr>
          <p:cNvPr id="2031651" name="Rectangle 23"/>
          <p:cNvSpPr>
            <a:spLocks noChangeArrowheads="1"/>
          </p:cNvSpPr>
          <p:nvPr/>
        </p:nvSpPr>
        <p:spPr bwMode="auto">
          <a:xfrm>
            <a:off x="1758950" y="5530850"/>
            <a:ext cx="3024188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7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 : Fill time line in remarks column</a:t>
            </a:r>
          </a:p>
        </p:txBody>
      </p:sp>
      <p:sp>
        <p:nvSpPr>
          <p:cNvPr id="2031652" name="Rectangle 24"/>
          <p:cNvSpPr>
            <a:spLocks noChangeArrowheads="1"/>
          </p:cNvSpPr>
          <p:nvPr/>
        </p:nvSpPr>
        <p:spPr bwMode="auto">
          <a:xfrm>
            <a:off x="1449388" y="6464300"/>
            <a:ext cx="136842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Handling Time</a:t>
            </a:r>
            <a:endParaRPr lang="th-TH" sz="1200" b="1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1653" name="Rectangle 24"/>
          <p:cNvSpPr>
            <a:spLocks noChangeArrowheads="1"/>
          </p:cNvSpPr>
          <p:nvPr/>
        </p:nvSpPr>
        <p:spPr bwMode="auto">
          <a:xfrm>
            <a:off x="5546725" y="6464300"/>
            <a:ext cx="136842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Machine Time</a:t>
            </a:r>
            <a:endParaRPr lang="th-TH" sz="1200" b="1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642" name="Rectangle 2"/>
          <p:cNvSpPr>
            <a:spLocks noChangeArrowheads="1"/>
          </p:cNvSpPr>
          <p:nvPr/>
        </p:nvSpPr>
        <p:spPr bwMode="auto">
          <a:xfrm>
            <a:off x="139700" y="1074738"/>
            <a:ext cx="8842375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>
                <a:solidFill>
                  <a:srgbClr val="000000"/>
                </a:solidFill>
                <a:latin typeface="Times New Roman" pitchFamily="18" charset="0"/>
              </a:rPr>
              <a:t>ตัวอย่างการเขียนเส้นเวลาใน</a:t>
            </a:r>
            <a:r>
              <a:rPr lang="th-TH" sz="3200" b="1">
                <a:solidFill>
                  <a:srgbClr val="000000"/>
                </a:solidFill>
              </a:rPr>
              <a:t>ใบแสดงความสามารถในการทำงานของเครื่องจักร</a:t>
            </a:r>
          </a:p>
        </p:txBody>
      </p:sp>
      <p:graphicFrame>
        <p:nvGraphicFramePr>
          <p:cNvPr id="2032643" name="Group 3"/>
          <p:cNvGraphicFramePr>
            <a:graphicFrameLocks noGrp="1"/>
          </p:cNvGraphicFramePr>
          <p:nvPr>
            <p:ph/>
          </p:nvPr>
        </p:nvGraphicFramePr>
        <p:xfrm>
          <a:off x="457200" y="1908175"/>
          <a:ext cx="8229600" cy="4833938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1095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335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368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366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32665" name="Text Box 25"/>
          <p:cNvSpPr txBox="1">
            <a:spLocks noChangeArrowheads="1"/>
          </p:cNvSpPr>
          <p:nvPr/>
        </p:nvSpPr>
        <p:spPr bwMode="auto">
          <a:xfrm>
            <a:off x="468313" y="1955800"/>
            <a:ext cx="27352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  <a:latin typeface="Angsana New" pitchFamily="18" charset="-34"/>
              </a:rPr>
              <a:t>1</a:t>
            </a:r>
            <a:r>
              <a:rPr lang="th-TH" sz="2000" b="1">
                <a:solidFill>
                  <a:srgbClr val="000000"/>
                </a:solidFill>
                <a:latin typeface="Angsana New" pitchFamily="18" charset="-34"/>
              </a:rPr>
              <a:t>. คนทำงานแล้วตามด้วยเครื่องจักรทำงาน เช่น ป้อนงานแล้วกดสวิตซ์</a:t>
            </a:r>
            <a:endParaRPr lang="th-TH" sz="200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2666" name="Rectangle 26"/>
          <p:cNvSpPr>
            <a:spLocks noChangeArrowheads="1"/>
          </p:cNvSpPr>
          <p:nvPr/>
        </p:nvSpPr>
        <p:spPr bwMode="auto">
          <a:xfrm>
            <a:off x="5935663" y="1938338"/>
            <a:ext cx="261620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th-TH" sz="2000" b="1">
                <a:solidFill>
                  <a:srgbClr val="000000"/>
                </a:solidFill>
                <a:latin typeface="Angsana New" pitchFamily="18" charset="-34"/>
              </a:rPr>
              <a:t>เขียนเส้นเต็มแสดงการทำงานของคน และตามด้วยเส้นประแสดงเวลาการทำงานของเครื่องจักร</a:t>
            </a:r>
          </a:p>
        </p:txBody>
      </p:sp>
      <p:grpSp>
        <p:nvGrpSpPr>
          <p:cNvPr id="2" name="Group 27"/>
          <p:cNvGrpSpPr>
            <a:grpSpLocks/>
          </p:cNvGrpSpPr>
          <p:nvPr/>
        </p:nvGrpSpPr>
        <p:grpSpPr bwMode="auto">
          <a:xfrm>
            <a:off x="3492500" y="2319338"/>
            <a:ext cx="2206625" cy="300037"/>
            <a:chOff x="2200" y="1565"/>
            <a:chExt cx="1390" cy="189"/>
          </a:xfrm>
        </p:grpSpPr>
        <p:sp>
          <p:nvSpPr>
            <p:cNvPr id="2032668" name="Line 28"/>
            <p:cNvSpPr>
              <a:spLocks noChangeShapeType="1"/>
            </p:cNvSpPr>
            <p:nvPr/>
          </p:nvSpPr>
          <p:spPr bwMode="auto">
            <a:xfrm>
              <a:off x="2210" y="1679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69" name="Line 29"/>
            <p:cNvSpPr>
              <a:spLocks noChangeShapeType="1"/>
            </p:cNvSpPr>
            <p:nvPr/>
          </p:nvSpPr>
          <p:spPr bwMode="auto">
            <a:xfrm>
              <a:off x="2891" y="1679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70" name="Line 30"/>
            <p:cNvSpPr>
              <a:spLocks noChangeShapeType="1"/>
            </p:cNvSpPr>
            <p:nvPr/>
          </p:nvSpPr>
          <p:spPr bwMode="auto">
            <a:xfrm>
              <a:off x="2200" y="1565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71" name="Line 31"/>
            <p:cNvSpPr>
              <a:spLocks noChangeShapeType="1"/>
            </p:cNvSpPr>
            <p:nvPr/>
          </p:nvSpPr>
          <p:spPr bwMode="auto">
            <a:xfrm>
              <a:off x="2880" y="1570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72" name="Line 32"/>
            <p:cNvSpPr>
              <a:spLocks noChangeShapeType="1"/>
            </p:cNvSpPr>
            <p:nvPr/>
          </p:nvSpPr>
          <p:spPr bwMode="auto">
            <a:xfrm>
              <a:off x="3590" y="157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</p:grpSp>
      <p:sp>
        <p:nvSpPr>
          <p:cNvPr id="2032673" name="Text Box 33"/>
          <p:cNvSpPr txBox="1">
            <a:spLocks noChangeArrowheads="1"/>
          </p:cNvSpPr>
          <p:nvPr/>
        </p:nvSpPr>
        <p:spPr bwMode="auto">
          <a:xfrm>
            <a:off x="468313" y="3036888"/>
            <a:ext cx="2735262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  <a:latin typeface="Angsana New" pitchFamily="18" charset="-34"/>
              </a:rPr>
              <a:t>2</a:t>
            </a:r>
            <a:r>
              <a:rPr lang="th-TH" sz="2000" b="1">
                <a:solidFill>
                  <a:srgbClr val="000000"/>
                </a:solidFill>
                <a:latin typeface="Angsana New" pitchFamily="18" charset="-34"/>
              </a:rPr>
              <a:t>. คนทำงานแล้วตามด้วยเครื่องจักรทำงาน เช่น เครื่องจักรปั๊มงานออกมาแล้วคนทำการหยิบชิ้นงานออก</a:t>
            </a:r>
            <a:endParaRPr lang="th-TH" sz="2000">
              <a:solidFill>
                <a:srgbClr val="000000"/>
              </a:solidFill>
              <a:latin typeface="Angsana New" pitchFamily="18" charset="-34"/>
            </a:endParaRPr>
          </a:p>
        </p:txBody>
      </p: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3492500" y="3548063"/>
            <a:ext cx="2206625" cy="300037"/>
            <a:chOff x="2200" y="2123"/>
            <a:chExt cx="1390" cy="189"/>
          </a:xfrm>
        </p:grpSpPr>
        <p:sp>
          <p:nvSpPr>
            <p:cNvPr id="2032675" name="Line 35"/>
            <p:cNvSpPr>
              <a:spLocks noChangeShapeType="1"/>
            </p:cNvSpPr>
            <p:nvPr/>
          </p:nvSpPr>
          <p:spPr bwMode="auto">
            <a:xfrm>
              <a:off x="2210" y="2237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76" name="Line 36"/>
            <p:cNvSpPr>
              <a:spLocks noChangeShapeType="1"/>
            </p:cNvSpPr>
            <p:nvPr/>
          </p:nvSpPr>
          <p:spPr bwMode="auto">
            <a:xfrm>
              <a:off x="2891" y="2237"/>
              <a:ext cx="6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77" name="Line 37"/>
            <p:cNvSpPr>
              <a:spLocks noChangeShapeType="1"/>
            </p:cNvSpPr>
            <p:nvPr/>
          </p:nvSpPr>
          <p:spPr bwMode="auto">
            <a:xfrm>
              <a:off x="2200" y="2123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78" name="Line 38"/>
            <p:cNvSpPr>
              <a:spLocks noChangeShapeType="1"/>
            </p:cNvSpPr>
            <p:nvPr/>
          </p:nvSpPr>
          <p:spPr bwMode="auto">
            <a:xfrm>
              <a:off x="2880" y="2128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79" name="Line 39"/>
            <p:cNvSpPr>
              <a:spLocks noChangeShapeType="1"/>
            </p:cNvSpPr>
            <p:nvPr/>
          </p:nvSpPr>
          <p:spPr bwMode="auto">
            <a:xfrm>
              <a:off x="3590" y="213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</p:grpSp>
      <p:sp>
        <p:nvSpPr>
          <p:cNvPr id="2032680" name="Rectangle 40"/>
          <p:cNvSpPr>
            <a:spLocks noChangeArrowheads="1"/>
          </p:cNvSpPr>
          <p:nvPr/>
        </p:nvSpPr>
        <p:spPr bwMode="auto">
          <a:xfrm>
            <a:off x="5988050" y="3101975"/>
            <a:ext cx="261620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th-TH" sz="2000" b="1">
                <a:solidFill>
                  <a:srgbClr val="000000"/>
                </a:solidFill>
                <a:latin typeface="Times New Roman" pitchFamily="18" charset="0"/>
              </a:rPr>
              <a:t>เขียนเส้นประแสดงเวลาการทำงานของเครื่องจักร และตามด้วยเส้นเต็มแสดงของการทำงานของคน </a:t>
            </a:r>
          </a:p>
        </p:txBody>
      </p:sp>
      <p:sp>
        <p:nvSpPr>
          <p:cNvPr id="2032681" name="Text Box 41"/>
          <p:cNvSpPr txBox="1">
            <a:spLocks noChangeArrowheads="1"/>
          </p:cNvSpPr>
          <p:nvPr/>
        </p:nvSpPr>
        <p:spPr bwMode="auto">
          <a:xfrm>
            <a:off x="468313" y="4437063"/>
            <a:ext cx="2735262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  <a:latin typeface="Angsana New" pitchFamily="18" charset="-34"/>
              </a:rPr>
              <a:t>3</a:t>
            </a:r>
            <a:r>
              <a:rPr lang="th-TH" sz="2000" b="1">
                <a:solidFill>
                  <a:srgbClr val="000000"/>
                </a:solidFill>
                <a:latin typeface="Angsana New" pitchFamily="18" charset="-34"/>
              </a:rPr>
              <a:t>. คนทำงานในระหว่างที่เครื่องจักรทำงาน เช่น แขวนชิ้นงานเข้าเครื่อง </a:t>
            </a:r>
            <a:r>
              <a:rPr lang="en-US" sz="2000" b="1">
                <a:solidFill>
                  <a:srgbClr val="000000"/>
                </a:solidFill>
                <a:latin typeface="Angsana New" pitchFamily="18" charset="-34"/>
              </a:rPr>
              <a:t>Painting</a:t>
            </a:r>
            <a:endParaRPr lang="th-TH" sz="2000">
              <a:solidFill>
                <a:srgbClr val="000000"/>
              </a:solidFill>
              <a:latin typeface="Angsana New" pitchFamily="18" charset="-34"/>
            </a:endParaRPr>
          </a:p>
        </p:txBody>
      </p:sp>
      <p:grpSp>
        <p:nvGrpSpPr>
          <p:cNvPr id="4" name="Group 42"/>
          <p:cNvGrpSpPr>
            <a:grpSpLocks/>
          </p:cNvGrpSpPr>
          <p:nvPr/>
        </p:nvGrpSpPr>
        <p:grpSpPr bwMode="auto">
          <a:xfrm>
            <a:off x="3492500" y="4813300"/>
            <a:ext cx="2206625" cy="576263"/>
            <a:chOff x="2200" y="2880"/>
            <a:chExt cx="1390" cy="363"/>
          </a:xfrm>
        </p:grpSpPr>
        <p:sp>
          <p:nvSpPr>
            <p:cNvPr id="2032683" name="Line 43"/>
            <p:cNvSpPr>
              <a:spLocks noChangeShapeType="1"/>
            </p:cNvSpPr>
            <p:nvPr/>
          </p:nvSpPr>
          <p:spPr bwMode="auto">
            <a:xfrm>
              <a:off x="2699" y="3062"/>
              <a:ext cx="3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84" name="Line 44"/>
            <p:cNvSpPr>
              <a:spLocks noChangeShapeType="1"/>
            </p:cNvSpPr>
            <p:nvPr/>
          </p:nvSpPr>
          <p:spPr bwMode="auto">
            <a:xfrm>
              <a:off x="2200" y="2964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85" name="Line 45"/>
            <p:cNvSpPr>
              <a:spLocks noChangeShapeType="1"/>
            </p:cNvSpPr>
            <p:nvPr/>
          </p:nvSpPr>
          <p:spPr bwMode="auto">
            <a:xfrm>
              <a:off x="3590" y="2972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86" name="Line 46"/>
            <p:cNvSpPr>
              <a:spLocks noChangeShapeType="1"/>
            </p:cNvSpPr>
            <p:nvPr/>
          </p:nvSpPr>
          <p:spPr bwMode="auto">
            <a:xfrm>
              <a:off x="2200" y="3062"/>
              <a:ext cx="1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87" name="Line 47"/>
            <p:cNvSpPr>
              <a:spLocks noChangeShapeType="1"/>
            </p:cNvSpPr>
            <p:nvPr/>
          </p:nvSpPr>
          <p:spPr bwMode="auto">
            <a:xfrm>
              <a:off x="3008" y="297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88" name="Line 48"/>
            <p:cNvSpPr>
              <a:spLocks noChangeShapeType="1"/>
            </p:cNvSpPr>
            <p:nvPr/>
          </p:nvSpPr>
          <p:spPr bwMode="auto">
            <a:xfrm>
              <a:off x="2699" y="2971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89" name="Oval 49"/>
            <p:cNvSpPr>
              <a:spLocks noChangeArrowheads="1"/>
            </p:cNvSpPr>
            <p:nvPr/>
          </p:nvSpPr>
          <p:spPr bwMode="auto">
            <a:xfrm>
              <a:off x="2629" y="2880"/>
              <a:ext cx="453" cy="363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prstDash val="sysDot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</p:grpSp>
      <p:sp>
        <p:nvSpPr>
          <p:cNvPr id="2032690" name="Rectangle 50"/>
          <p:cNvSpPr>
            <a:spLocks noChangeArrowheads="1"/>
          </p:cNvSpPr>
          <p:nvPr/>
        </p:nvSpPr>
        <p:spPr bwMode="auto">
          <a:xfrm>
            <a:off x="5988050" y="4505325"/>
            <a:ext cx="261620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th-TH" sz="2000" b="1">
                <a:solidFill>
                  <a:srgbClr val="000000"/>
                </a:solidFill>
                <a:latin typeface="Times New Roman" pitchFamily="18" charset="0"/>
              </a:rPr>
              <a:t>เขียนเส้นเต็มแสดงการทำงานด้วยคน บนเส้นประแสดงการทำงานของเครื่องจักร</a:t>
            </a:r>
          </a:p>
        </p:txBody>
      </p:sp>
      <p:sp>
        <p:nvSpPr>
          <p:cNvPr id="2032691" name="Text Box 51"/>
          <p:cNvSpPr txBox="1">
            <a:spLocks noChangeArrowheads="1"/>
          </p:cNvSpPr>
          <p:nvPr/>
        </p:nvSpPr>
        <p:spPr bwMode="auto">
          <a:xfrm>
            <a:off x="455613" y="5849938"/>
            <a:ext cx="2735262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b="1">
                <a:solidFill>
                  <a:srgbClr val="000000"/>
                </a:solidFill>
                <a:latin typeface="Angsana New" pitchFamily="18" charset="-34"/>
              </a:rPr>
              <a:t>4</a:t>
            </a:r>
            <a:r>
              <a:rPr lang="th-TH" sz="2000" b="1">
                <a:solidFill>
                  <a:srgbClr val="000000"/>
                </a:solidFill>
                <a:latin typeface="Angsana New" pitchFamily="18" charset="-34"/>
              </a:rPr>
              <a:t>. เครื่องจักรทำงานอัตโนมัติโดยไม่เกี่ยวข้องกับคนทำงาน</a:t>
            </a:r>
            <a:endParaRPr lang="th-TH" sz="2000">
              <a:solidFill>
                <a:srgbClr val="000000"/>
              </a:solidFill>
              <a:latin typeface="Angsana New" pitchFamily="18" charset="-34"/>
            </a:endParaRPr>
          </a:p>
        </p:txBody>
      </p:sp>
      <p:grpSp>
        <p:nvGrpSpPr>
          <p:cNvPr id="5" name="Group 52"/>
          <p:cNvGrpSpPr>
            <a:grpSpLocks/>
          </p:cNvGrpSpPr>
          <p:nvPr/>
        </p:nvGrpSpPr>
        <p:grpSpPr bwMode="auto">
          <a:xfrm>
            <a:off x="3479800" y="6132513"/>
            <a:ext cx="2206625" cy="300037"/>
            <a:chOff x="2200" y="3719"/>
            <a:chExt cx="1390" cy="189"/>
          </a:xfrm>
        </p:grpSpPr>
        <p:sp>
          <p:nvSpPr>
            <p:cNvPr id="2032693" name="Line 53"/>
            <p:cNvSpPr>
              <a:spLocks noChangeShapeType="1"/>
            </p:cNvSpPr>
            <p:nvPr/>
          </p:nvSpPr>
          <p:spPr bwMode="auto">
            <a:xfrm>
              <a:off x="2200" y="3719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94" name="Line 54"/>
            <p:cNvSpPr>
              <a:spLocks noChangeShapeType="1"/>
            </p:cNvSpPr>
            <p:nvPr/>
          </p:nvSpPr>
          <p:spPr bwMode="auto">
            <a:xfrm>
              <a:off x="3590" y="3727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2695" name="Line 55"/>
            <p:cNvSpPr>
              <a:spLocks noChangeShapeType="1"/>
            </p:cNvSpPr>
            <p:nvPr/>
          </p:nvSpPr>
          <p:spPr bwMode="auto">
            <a:xfrm>
              <a:off x="2200" y="3817"/>
              <a:ext cx="136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</p:grpSp>
      <p:sp>
        <p:nvSpPr>
          <p:cNvPr id="2032696" name="Rectangle 56"/>
          <p:cNvSpPr>
            <a:spLocks noChangeArrowheads="1"/>
          </p:cNvSpPr>
          <p:nvPr/>
        </p:nvSpPr>
        <p:spPr bwMode="auto">
          <a:xfrm>
            <a:off x="5999163" y="5838825"/>
            <a:ext cx="2616200" cy="652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th-TH" sz="2000" b="1">
                <a:solidFill>
                  <a:srgbClr val="000000"/>
                </a:solidFill>
                <a:latin typeface="Times New Roman" pitchFamily="18" charset="0"/>
              </a:rPr>
              <a:t>เขียนเส้นประแสดงการทำงานของเครื่องจักร</a:t>
            </a:r>
          </a:p>
        </p:txBody>
      </p:sp>
      <p:sp>
        <p:nvSpPr>
          <p:cNvPr id="2032697" name="Text Box 57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2699" name="Line 59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32700" name="Rectangle 2"/>
          <p:cNvSpPr>
            <a:spLocks noChangeArrowheads="1"/>
          </p:cNvSpPr>
          <p:nvPr/>
        </p:nvSpPr>
        <p:spPr bwMode="auto">
          <a:xfrm>
            <a:off x="2306638" y="1552575"/>
            <a:ext cx="43942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Example of time line drawing in Machine Capacity Sheet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01" name="Text Box 25"/>
          <p:cNvSpPr txBox="1">
            <a:spLocks noChangeArrowheads="1"/>
          </p:cNvSpPr>
          <p:nvPr/>
        </p:nvSpPr>
        <p:spPr bwMode="auto">
          <a:xfrm>
            <a:off x="442913" y="2509838"/>
            <a:ext cx="295116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Work by human then work by machine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02" name="Text Box 25"/>
          <p:cNvSpPr txBox="1">
            <a:spLocks noChangeArrowheads="1"/>
          </p:cNvSpPr>
          <p:nvPr/>
        </p:nvSpPr>
        <p:spPr bwMode="auto">
          <a:xfrm>
            <a:off x="442913" y="2751138"/>
            <a:ext cx="27368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u="sng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Example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: Load part then push switch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03" name="Rectangle 26"/>
          <p:cNvSpPr>
            <a:spLocks noChangeArrowheads="1"/>
          </p:cNvSpPr>
          <p:nvPr/>
        </p:nvSpPr>
        <p:spPr bwMode="auto">
          <a:xfrm>
            <a:off x="5940425" y="2593975"/>
            <a:ext cx="2616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 the line for human work then draw the dash line for machine work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04" name="Text Box 25"/>
          <p:cNvSpPr txBox="1">
            <a:spLocks noChangeArrowheads="1"/>
          </p:cNvSpPr>
          <p:nvPr/>
        </p:nvSpPr>
        <p:spPr bwMode="auto">
          <a:xfrm>
            <a:off x="458788" y="3822700"/>
            <a:ext cx="29527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Work by machine then work by human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05" name="Text Box 25"/>
          <p:cNvSpPr txBox="1">
            <a:spLocks noChangeArrowheads="1"/>
          </p:cNvSpPr>
          <p:nvPr/>
        </p:nvSpPr>
        <p:spPr bwMode="auto">
          <a:xfrm>
            <a:off x="468313" y="4025900"/>
            <a:ext cx="259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u="sng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Example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 Press part then unload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part from machine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06" name="Rectangle 26"/>
          <p:cNvSpPr>
            <a:spLocks noChangeArrowheads="1"/>
          </p:cNvSpPr>
          <p:nvPr/>
        </p:nvSpPr>
        <p:spPr bwMode="auto">
          <a:xfrm>
            <a:off x="5988050" y="3822700"/>
            <a:ext cx="2616200" cy="6397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 the dash line for machine work then draw the line for human work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07" name="Text Box 25"/>
          <p:cNvSpPr txBox="1">
            <a:spLocks noChangeArrowheads="1"/>
          </p:cNvSpPr>
          <p:nvPr/>
        </p:nvSpPr>
        <p:spPr bwMode="auto">
          <a:xfrm>
            <a:off x="450850" y="5170488"/>
            <a:ext cx="2592388" cy="23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Human works as machine works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08" name="Text Box 25"/>
          <p:cNvSpPr txBox="1">
            <a:spLocks noChangeArrowheads="1"/>
          </p:cNvSpPr>
          <p:nvPr/>
        </p:nvSpPr>
        <p:spPr bwMode="auto">
          <a:xfrm>
            <a:off x="450850" y="5343525"/>
            <a:ext cx="27368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u="sng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Example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: Hang part on the jig in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paining line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09" name="Rectangle 26"/>
          <p:cNvSpPr>
            <a:spLocks noChangeArrowheads="1"/>
          </p:cNvSpPr>
          <p:nvPr/>
        </p:nvSpPr>
        <p:spPr bwMode="auto">
          <a:xfrm>
            <a:off x="5988050" y="5262563"/>
            <a:ext cx="2616200" cy="457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 the line for human work on the dash line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10" name="Text Box 25"/>
          <p:cNvSpPr txBox="1">
            <a:spLocks noChangeArrowheads="1"/>
          </p:cNvSpPr>
          <p:nvPr/>
        </p:nvSpPr>
        <p:spPr bwMode="auto">
          <a:xfrm>
            <a:off x="463550" y="6397625"/>
            <a:ext cx="18002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Only machine work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2711" name="Rectangle 26"/>
          <p:cNvSpPr>
            <a:spLocks noChangeArrowheads="1"/>
          </p:cNvSpPr>
          <p:nvPr/>
        </p:nvSpPr>
        <p:spPr bwMode="auto">
          <a:xfrm>
            <a:off x="5986463" y="6402388"/>
            <a:ext cx="2879725" cy="2746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 the dash line for machine work</a:t>
            </a:r>
            <a:endParaRPr lang="th-TH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 bwMode="auto">
          <a:xfrm>
            <a:off x="1643042" y="4357694"/>
            <a:ext cx="3571900" cy="714380"/>
          </a:xfrm>
          <a:prstGeom prst="rect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ngsana New" pitchFamily="18" charset="-34"/>
            </a:endParaRPr>
          </a:p>
        </p:txBody>
      </p:sp>
      <p:sp>
        <p:nvSpPr>
          <p:cNvPr id="2017282" name="Rectangle 2"/>
          <p:cNvSpPr>
            <a:spLocks noChangeArrowheads="1"/>
          </p:cNvSpPr>
          <p:nvPr/>
        </p:nvSpPr>
        <p:spPr bwMode="auto">
          <a:xfrm>
            <a:off x="0" y="152400"/>
            <a:ext cx="6858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5400" b="1">
              <a:solidFill>
                <a:srgbClr val="000000"/>
              </a:solidFill>
              <a:latin typeface="Times New Roman" pitchFamily="18" charset="0"/>
              <a:cs typeface="DilleniaUPC" pitchFamily="18" charset="-34"/>
            </a:endParaRPr>
          </a:p>
        </p:txBody>
      </p:sp>
      <p:sp>
        <p:nvSpPr>
          <p:cNvPr id="2017283" name="Line 3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17284" name="Text Box 4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17286" name="Text Box 6"/>
          <p:cNvSpPr txBox="1">
            <a:spLocks noChangeArrowheads="1"/>
          </p:cNvSpPr>
          <p:nvPr/>
        </p:nvSpPr>
        <p:spPr bwMode="auto">
          <a:xfrm>
            <a:off x="179388" y="1268413"/>
            <a:ext cx="4608512" cy="57943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ngsana New" pitchFamily="18" charset="-34"/>
              </a:rPr>
              <a:t>งานมาตรฐาน</a:t>
            </a:r>
            <a:endParaRPr lang="en-US" sz="32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ngsana New" pitchFamily="18" charset="-34"/>
            </a:endParaRPr>
          </a:p>
        </p:txBody>
      </p:sp>
      <p:sp>
        <p:nvSpPr>
          <p:cNvPr id="2017287" name="Text Box 7"/>
          <p:cNvSpPr txBox="1">
            <a:spLocks noChangeArrowheads="1"/>
          </p:cNvSpPr>
          <p:nvPr/>
        </p:nvSpPr>
        <p:spPr bwMode="auto">
          <a:xfrm>
            <a:off x="1835150" y="1484313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Standardized Work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17288" name="Text Box 8"/>
          <p:cNvSpPr txBox="1">
            <a:spLocks noChangeArrowheads="1"/>
          </p:cNvSpPr>
          <p:nvPr/>
        </p:nvSpPr>
        <p:spPr bwMode="auto">
          <a:xfrm>
            <a:off x="1095375" y="2271713"/>
            <a:ext cx="20177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1)</a:t>
            </a: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ตารางจับเวลา</a:t>
            </a:r>
          </a:p>
        </p:txBody>
      </p:sp>
      <p:sp>
        <p:nvSpPr>
          <p:cNvPr id="2017289" name="Text Box 9"/>
          <p:cNvSpPr txBox="1">
            <a:spLocks noChangeArrowheads="1"/>
          </p:cNvSpPr>
          <p:nvPr/>
        </p:nvSpPr>
        <p:spPr bwMode="auto">
          <a:xfrm>
            <a:off x="1095375" y="3027363"/>
            <a:ext cx="40116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2)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เอกสารงานมาตรฐาน 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รายการ</a:t>
            </a:r>
          </a:p>
        </p:txBody>
      </p:sp>
      <p:sp>
        <p:nvSpPr>
          <p:cNvPr id="2017290" name="Text Box 10"/>
          <p:cNvSpPr txBox="1">
            <a:spLocks noChangeArrowheads="1"/>
          </p:cNvSpPr>
          <p:nvPr/>
        </p:nvSpPr>
        <p:spPr bwMode="auto">
          <a:xfrm>
            <a:off x="1095375" y="5762625"/>
            <a:ext cx="25241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แผนภาพภาระงาน</a:t>
            </a:r>
          </a:p>
        </p:txBody>
      </p:sp>
      <p:sp>
        <p:nvSpPr>
          <p:cNvPr id="2017291" name="Text Box 11"/>
          <p:cNvSpPr txBox="1">
            <a:spLocks noChangeArrowheads="1"/>
          </p:cNvSpPr>
          <p:nvPr/>
        </p:nvSpPr>
        <p:spPr bwMode="auto">
          <a:xfrm>
            <a:off x="1763713" y="3687763"/>
            <a:ext cx="60944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2.1)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ใบแสดงความสามารถในการทำงานของเครื่องจักร</a:t>
            </a:r>
          </a:p>
        </p:txBody>
      </p:sp>
      <p:sp>
        <p:nvSpPr>
          <p:cNvPr id="2017292" name="Text Box 12"/>
          <p:cNvSpPr txBox="1">
            <a:spLocks noChangeArrowheads="1"/>
          </p:cNvSpPr>
          <p:nvPr/>
        </p:nvSpPr>
        <p:spPr bwMode="auto">
          <a:xfrm>
            <a:off x="1763713" y="4314825"/>
            <a:ext cx="33289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2.2)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ตารางงานมาตรฐานผสม</a:t>
            </a:r>
          </a:p>
        </p:txBody>
      </p:sp>
      <p:sp>
        <p:nvSpPr>
          <p:cNvPr id="2017293" name="Text Box 13"/>
          <p:cNvSpPr txBox="1">
            <a:spLocks noChangeArrowheads="1"/>
          </p:cNvSpPr>
          <p:nvPr/>
        </p:nvSpPr>
        <p:spPr bwMode="auto">
          <a:xfrm>
            <a:off x="1763713" y="4949825"/>
            <a:ext cx="31289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2.3)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แผนภาพงานมาตรฐาน</a:t>
            </a:r>
          </a:p>
        </p:txBody>
      </p:sp>
      <p:sp>
        <p:nvSpPr>
          <p:cNvPr id="2017294" name="Text Box 14"/>
          <p:cNvSpPr txBox="1">
            <a:spLocks noChangeArrowheads="1"/>
          </p:cNvSpPr>
          <p:nvPr/>
        </p:nvSpPr>
        <p:spPr bwMode="auto">
          <a:xfrm>
            <a:off x="3081338" y="2471738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</a:rPr>
              <a:t>Time Measurement Sheet</a:t>
            </a:r>
            <a:endParaRPr lang="th-TH" sz="1200" b="1" dirty="0">
              <a:solidFill>
                <a:srgbClr val="000000"/>
              </a:solidFill>
            </a:endParaRPr>
          </a:p>
        </p:txBody>
      </p:sp>
      <p:sp>
        <p:nvSpPr>
          <p:cNvPr id="2017295" name="Text Box 15"/>
          <p:cNvSpPr txBox="1">
            <a:spLocks noChangeArrowheads="1"/>
          </p:cNvSpPr>
          <p:nvPr/>
        </p:nvSpPr>
        <p:spPr bwMode="auto">
          <a:xfrm>
            <a:off x="5076825" y="321310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3 Ten Set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17296" name="Text Box 16"/>
          <p:cNvSpPr txBox="1">
            <a:spLocks noChangeArrowheads="1"/>
          </p:cNvSpPr>
          <p:nvPr/>
        </p:nvSpPr>
        <p:spPr bwMode="auto">
          <a:xfrm>
            <a:off x="2266950" y="412750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Machine Capacity Sheet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7" name="Text Box 17"/>
          <p:cNvSpPr txBox="1">
            <a:spLocks noChangeArrowheads="1"/>
          </p:cNvSpPr>
          <p:nvPr/>
        </p:nvSpPr>
        <p:spPr bwMode="auto">
          <a:xfrm>
            <a:off x="2266950" y="4772025"/>
            <a:ext cx="29098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Combination Table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8" name="Text Box 18"/>
          <p:cNvSpPr txBox="1">
            <a:spLocks noChangeArrowheads="1"/>
          </p:cNvSpPr>
          <p:nvPr/>
        </p:nvSpPr>
        <p:spPr bwMode="auto">
          <a:xfrm>
            <a:off x="2266950" y="5411788"/>
            <a:ext cx="29098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Chart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9" name="Text Box 19"/>
          <p:cNvSpPr txBox="1">
            <a:spLocks noChangeArrowheads="1"/>
          </p:cNvSpPr>
          <p:nvPr/>
        </p:nvSpPr>
        <p:spPr bwMode="auto">
          <a:xfrm>
            <a:off x="3597275" y="593725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Yamazumi Chart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000100" y="2214554"/>
            <a:ext cx="4071966" cy="8572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1" i="0" u="none" strike="noStrike" cap="none" normalizeH="0" baseline="0" dirty="0" smtClean="0">
              <a:ln>
                <a:noFill/>
              </a:ln>
              <a:noFill/>
              <a:effectLst/>
              <a:latin typeface="Arial" pitchFamily="34" charset="0"/>
              <a:cs typeface="Angsana New" pitchFamily="18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3666" name="Text Box 2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3668" name="Line 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33669" name="Text Box 5"/>
          <p:cNvSpPr txBox="1">
            <a:spLocks noChangeArrowheads="1"/>
          </p:cNvSpPr>
          <p:nvPr/>
        </p:nvSpPr>
        <p:spPr bwMode="auto">
          <a:xfrm>
            <a:off x="107950" y="1065213"/>
            <a:ext cx="33289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2.2)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ตารางงานมาตรฐานผสม</a:t>
            </a:r>
          </a:p>
        </p:txBody>
      </p:sp>
      <p:sp>
        <p:nvSpPr>
          <p:cNvPr id="2033670" name="Text Box 6"/>
          <p:cNvSpPr txBox="1">
            <a:spLocks noChangeArrowheads="1"/>
          </p:cNvSpPr>
          <p:nvPr/>
        </p:nvSpPr>
        <p:spPr bwMode="auto">
          <a:xfrm>
            <a:off x="611188" y="1522413"/>
            <a:ext cx="29098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Combination Table</a:t>
            </a:r>
            <a:endParaRPr lang="th-TH" sz="1200">
              <a:solidFill>
                <a:srgbClr val="000000"/>
              </a:solidFill>
            </a:endParaRPr>
          </a:p>
        </p:txBody>
      </p:sp>
      <p:pic>
        <p:nvPicPr>
          <p:cNvPr id="2033671" name="Picture 4"/>
          <p:cNvPicPr>
            <a:picLocks noChangeAspect="1" noChangeArrowheads="1"/>
          </p:cNvPicPr>
          <p:nvPr/>
        </p:nvPicPr>
        <p:blipFill>
          <a:blip r:embed="rId2" cstate="print"/>
          <a:srcRect l="1810" t="13385" r="16061" b="16431"/>
          <a:stretch>
            <a:fillRect/>
          </a:stretch>
        </p:blipFill>
        <p:spPr bwMode="auto">
          <a:xfrm>
            <a:off x="179388" y="1989138"/>
            <a:ext cx="5472112" cy="43195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033672" name="Text Box 8"/>
          <p:cNvSpPr txBox="1">
            <a:spLocks noChangeArrowheads="1"/>
          </p:cNvSpPr>
          <p:nvPr/>
        </p:nvSpPr>
        <p:spPr bwMode="auto">
          <a:xfrm>
            <a:off x="5724525" y="1566863"/>
            <a:ext cx="2968625" cy="510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1. 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ชื่อไลน์ผลิต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รุ่นของชิ้นงาน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3.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หมายเลขชิ้นงาน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4.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ชื่อชิ้นงาน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5.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ลำดับที่ของพนักงาน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6.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เวลาที่ลูกค้าต้องการชิ้นงาน</a:t>
            </a: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ชิ้น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7.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เวลาที่ผลิตชิ้นงาน</a:t>
            </a: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ชิ้น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8.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วันที่ทำการบันทึก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9.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ปริมาณชิ้นงานที่ลูกค้าต้องการ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10.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บันทึกก่อน</a:t>
            </a: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หลังปรับปรุง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11.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สัญลักษณ์การทำงาน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12.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ลำดับขั้นตอนการทำงาน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13.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สัญลักษณ์คุณภาพ</a:t>
            </a: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ความปลอดภัย</a:t>
            </a:r>
            <a:endParaRPr lang="en-US" sz="2200">
              <a:solidFill>
                <a:srgbClr val="000000"/>
              </a:solidFill>
              <a:latin typeface="Angsana New" pitchFamily="18" charset="-34"/>
            </a:endParaRP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14.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รายละเอียดขั้นตอนการทำงาน</a:t>
            </a:r>
            <a:endParaRPr lang="en-US" sz="220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3673" name="Oval 9"/>
          <p:cNvSpPr>
            <a:spLocks noChangeArrowheads="1"/>
          </p:cNvSpPr>
          <p:nvPr/>
        </p:nvSpPr>
        <p:spPr bwMode="auto">
          <a:xfrm>
            <a:off x="331788" y="19161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74" name="Oval 10"/>
          <p:cNvSpPr>
            <a:spLocks noChangeArrowheads="1"/>
          </p:cNvSpPr>
          <p:nvPr/>
        </p:nvSpPr>
        <p:spPr bwMode="auto">
          <a:xfrm>
            <a:off x="1011238" y="19161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75" name="Oval 11"/>
          <p:cNvSpPr>
            <a:spLocks noChangeArrowheads="1"/>
          </p:cNvSpPr>
          <p:nvPr/>
        </p:nvSpPr>
        <p:spPr bwMode="auto">
          <a:xfrm>
            <a:off x="395288" y="20955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3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76" name="Oval 12"/>
          <p:cNvSpPr>
            <a:spLocks noChangeArrowheads="1"/>
          </p:cNvSpPr>
          <p:nvPr/>
        </p:nvSpPr>
        <p:spPr bwMode="auto">
          <a:xfrm>
            <a:off x="468313" y="227647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4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77" name="Oval 13"/>
          <p:cNvSpPr>
            <a:spLocks noChangeArrowheads="1"/>
          </p:cNvSpPr>
          <p:nvPr/>
        </p:nvSpPr>
        <p:spPr bwMode="auto">
          <a:xfrm>
            <a:off x="1660525" y="21986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5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78" name="Oval 14"/>
          <p:cNvSpPr>
            <a:spLocks noChangeArrowheads="1"/>
          </p:cNvSpPr>
          <p:nvPr/>
        </p:nvSpPr>
        <p:spPr bwMode="auto">
          <a:xfrm>
            <a:off x="3308350" y="194786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6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79" name="Oval 15"/>
          <p:cNvSpPr>
            <a:spLocks noChangeArrowheads="1"/>
          </p:cNvSpPr>
          <p:nvPr/>
        </p:nvSpPr>
        <p:spPr bwMode="auto">
          <a:xfrm>
            <a:off x="3308350" y="21145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7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80" name="Oval 16"/>
          <p:cNvSpPr>
            <a:spLocks noChangeArrowheads="1"/>
          </p:cNvSpPr>
          <p:nvPr/>
        </p:nvSpPr>
        <p:spPr bwMode="auto">
          <a:xfrm>
            <a:off x="4249738" y="19288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8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81" name="Oval 17"/>
          <p:cNvSpPr>
            <a:spLocks noChangeArrowheads="1"/>
          </p:cNvSpPr>
          <p:nvPr/>
        </p:nvSpPr>
        <p:spPr bwMode="auto">
          <a:xfrm>
            <a:off x="4297363" y="212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9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82" name="Oval 18"/>
          <p:cNvSpPr>
            <a:spLocks noChangeArrowheads="1"/>
          </p:cNvSpPr>
          <p:nvPr/>
        </p:nvSpPr>
        <p:spPr bwMode="auto">
          <a:xfrm>
            <a:off x="3989388" y="226377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10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83" name="Oval 19"/>
          <p:cNvSpPr>
            <a:spLocks noChangeArrowheads="1"/>
          </p:cNvSpPr>
          <p:nvPr/>
        </p:nvSpPr>
        <p:spPr bwMode="auto">
          <a:xfrm>
            <a:off x="5408613" y="21082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11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84" name="Oval 20"/>
          <p:cNvSpPr>
            <a:spLocks noChangeArrowheads="1"/>
          </p:cNvSpPr>
          <p:nvPr/>
        </p:nvSpPr>
        <p:spPr bwMode="auto">
          <a:xfrm>
            <a:off x="101600" y="269557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12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85" name="Oval 21"/>
          <p:cNvSpPr>
            <a:spLocks noChangeArrowheads="1"/>
          </p:cNvSpPr>
          <p:nvPr/>
        </p:nvSpPr>
        <p:spPr bwMode="auto">
          <a:xfrm>
            <a:off x="192088" y="339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13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86" name="Oval 22"/>
          <p:cNvSpPr>
            <a:spLocks noChangeArrowheads="1"/>
          </p:cNvSpPr>
          <p:nvPr/>
        </p:nvSpPr>
        <p:spPr bwMode="auto">
          <a:xfrm>
            <a:off x="768350" y="339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14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87" name="Oval 23"/>
          <p:cNvSpPr>
            <a:spLocks noChangeArrowheads="1"/>
          </p:cNvSpPr>
          <p:nvPr/>
        </p:nvSpPr>
        <p:spPr bwMode="auto">
          <a:xfrm>
            <a:off x="1358900" y="339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15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88" name="Oval 24"/>
          <p:cNvSpPr>
            <a:spLocks noChangeArrowheads="1"/>
          </p:cNvSpPr>
          <p:nvPr/>
        </p:nvSpPr>
        <p:spPr bwMode="auto">
          <a:xfrm>
            <a:off x="1543050" y="339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16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89" name="Oval 25"/>
          <p:cNvSpPr>
            <a:spLocks noChangeArrowheads="1"/>
          </p:cNvSpPr>
          <p:nvPr/>
        </p:nvSpPr>
        <p:spPr bwMode="auto">
          <a:xfrm>
            <a:off x="1719263" y="339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17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90" name="Oval 26"/>
          <p:cNvSpPr>
            <a:spLocks noChangeArrowheads="1"/>
          </p:cNvSpPr>
          <p:nvPr/>
        </p:nvSpPr>
        <p:spPr bwMode="auto">
          <a:xfrm>
            <a:off x="1882775" y="34607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18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91" name="Oval 27"/>
          <p:cNvSpPr>
            <a:spLocks noChangeArrowheads="1"/>
          </p:cNvSpPr>
          <p:nvPr/>
        </p:nvSpPr>
        <p:spPr bwMode="auto">
          <a:xfrm>
            <a:off x="3708400" y="36845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19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92" name="Oval 28"/>
          <p:cNvSpPr>
            <a:spLocks noChangeArrowheads="1"/>
          </p:cNvSpPr>
          <p:nvPr/>
        </p:nvSpPr>
        <p:spPr bwMode="auto">
          <a:xfrm>
            <a:off x="862013" y="61055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20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93" name="Oval 29"/>
          <p:cNvSpPr>
            <a:spLocks noChangeArrowheads="1"/>
          </p:cNvSpPr>
          <p:nvPr/>
        </p:nvSpPr>
        <p:spPr bwMode="auto">
          <a:xfrm>
            <a:off x="1960563" y="57927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21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94" name="Oval 30"/>
          <p:cNvSpPr>
            <a:spLocks noChangeArrowheads="1"/>
          </p:cNvSpPr>
          <p:nvPr/>
        </p:nvSpPr>
        <p:spPr bwMode="auto">
          <a:xfrm>
            <a:off x="2170113" y="589597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22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95" name="Oval 31"/>
          <p:cNvSpPr>
            <a:spLocks noChangeArrowheads="1"/>
          </p:cNvSpPr>
          <p:nvPr/>
        </p:nvSpPr>
        <p:spPr bwMode="auto">
          <a:xfrm>
            <a:off x="1979613" y="601503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23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96" name="Oval 32"/>
          <p:cNvSpPr>
            <a:spLocks noChangeArrowheads="1"/>
          </p:cNvSpPr>
          <p:nvPr/>
        </p:nvSpPr>
        <p:spPr bwMode="auto">
          <a:xfrm>
            <a:off x="2295525" y="61277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24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97" name="Oval 33"/>
          <p:cNvSpPr>
            <a:spLocks noChangeArrowheads="1"/>
          </p:cNvSpPr>
          <p:nvPr/>
        </p:nvSpPr>
        <p:spPr bwMode="auto">
          <a:xfrm>
            <a:off x="3348038" y="59499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25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98" name="Oval 34"/>
          <p:cNvSpPr>
            <a:spLocks noChangeArrowheads="1"/>
          </p:cNvSpPr>
          <p:nvPr/>
        </p:nvSpPr>
        <p:spPr bwMode="auto">
          <a:xfrm>
            <a:off x="3924300" y="60213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26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699" name="Oval 35"/>
          <p:cNvSpPr>
            <a:spLocks noChangeArrowheads="1"/>
          </p:cNvSpPr>
          <p:nvPr/>
        </p:nvSpPr>
        <p:spPr bwMode="auto">
          <a:xfrm>
            <a:off x="4572000" y="60213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27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700" name="Oval 36"/>
          <p:cNvSpPr>
            <a:spLocks noChangeArrowheads="1"/>
          </p:cNvSpPr>
          <p:nvPr/>
        </p:nvSpPr>
        <p:spPr bwMode="auto">
          <a:xfrm>
            <a:off x="5219700" y="60213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28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3701" name="Text Box 37"/>
          <p:cNvSpPr txBox="1">
            <a:spLocks noChangeArrowheads="1"/>
          </p:cNvSpPr>
          <p:nvPr/>
        </p:nvSpPr>
        <p:spPr bwMode="auto">
          <a:xfrm>
            <a:off x="7019925" y="1557338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Line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02" name="Text Box 38"/>
          <p:cNvSpPr txBox="1">
            <a:spLocks noChangeArrowheads="1"/>
          </p:cNvSpPr>
          <p:nvPr/>
        </p:nvSpPr>
        <p:spPr bwMode="auto">
          <a:xfrm>
            <a:off x="7019925" y="1916113"/>
            <a:ext cx="12969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Model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03" name="Text Box 39"/>
          <p:cNvSpPr txBox="1">
            <a:spLocks noChangeArrowheads="1"/>
          </p:cNvSpPr>
          <p:nvPr/>
        </p:nvSpPr>
        <p:spPr bwMode="auto">
          <a:xfrm>
            <a:off x="7308850" y="2301875"/>
            <a:ext cx="12969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Part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04" name="Text Box 40"/>
          <p:cNvSpPr txBox="1">
            <a:spLocks noChangeArrowheads="1"/>
          </p:cNvSpPr>
          <p:nvPr/>
        </p:nvSpPr>
        <p:spPr bwMode="auto">
          <a:xfrm>
            <a:off x="6753225" y="2662238"/>
            <a:ext cx="12969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Part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05" name="Text Box 41"/>
          <p:cNvSpPr txBox="1">
            <a:spLocks noChangeArrowheads="1"/>
          </p:cNvSpPr>
          <p:nvPr/>
        </p:nvSpPr>
        <p:spPr bwMode="auto">
          <a:xfrm>
            <a:off x="7512050" y="3019425"/>
            <a:ext cx="12969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Worker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06" name="Text Box 42"/>
          <p:cNvSpPr txBox="1">
            <a:spLocks noChangeArrowheads="1"/>
          </p:cNvSpPr>
          <p:nvPr/>
        </p:nvSpPr>
        <p:spPr bwMode="auto">
          <a:xfrm>
            <a:off x="8223250" y="3429000"/>
            <a:ext cx="9715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Takt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07" name="Text Box 43"/>
          <p:cNvSpPr txBox="1">
            <a:spLocks noChangeArrowheads="1"/>
          </p:cNvSpPr>
          <p:nvPr/>
        </p:nvSpPr>
        <p:spPr bwMode="auto">
          <a:xfrm>
            <a:off x="7596188" y="3789363"/>
            <a:ext cx="9715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Cycle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08" name="Text Box 44"/>
          <p:cNvSpPr txBox="1">
            <a:spLocks noChangeArrowheads="1"/>
          </p:cNvSpPr>
          <p:nvPr/>
        </p:nvSpPr>
        <p:spPr bwMode="auto">
          <a:xfrm>
            <a:off x="7308850" y="4149725"/>
            <a:ext cx="1439863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Recorded Date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09" name="Text Box 45"/>
          <p:cNvSpPr txBox="1">
            <a:spLocks noChangeArrowheads="1"/>
          </p:cNvSpPr>
          <p:nvPr/>
        </p:nvSpPr>
        <p:spPr bwMode="auto">
          <a:xfrm>
            <a:off x="8123238" y="4521200"/>
            <a:ext cx="12017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Requirement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10" name="Text Box 46"/>
          <p:cNvSpPr txBox="1">
            <a:spLocks noChangeArrowheads="1"/>
          </p:cNvSpPr>
          <p:nvPr/>
        </p:nvSpPr>
        <p:spPr bwMode="auto">
          <a:xfrm>
            <a:off x="7878763" y="4818063"/>
            <a:ext cx="10223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Before/After Kaizen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11" name="Text Box 47"/>
          <p:cNvSpPr txBox="1">
            <a:spLocks noChangeArrowheads="1"/>
          </p:cNvSpPr>
          <p:nvPr/>
        </p:nvSpPr>
        <p:spPr bwMode="auto">
          <a:xfrm>
            <a:off x="7575550" y="5254625"/>
            <a:ext cx="14033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Working Symbol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12" name="Text Box 48"/>
          <p:cNvSpPr txBox="1">
            <a:spLocks noChangeArrowheads="1"/>
          </p:cNvSpPr>
          <p:nvPr/>
        </p:nvSpPr>
        <p:spPr bwMode="auto">
          <a:xfrm>
            <a:off x="7842250" y="5627688"/>
            <a:ext cx="10509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Process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13" name="Text Box 49"/>
          <p:cNvSpPr txBox="1">
            <a:spLocks noChangeArrowheads="1"/>
          </p:cNvSpPr>
          <p:nvPr/>
        </p:nvSpPr>
        <p:spPr bwMode="auto">
          <a:xfrm>
            <a:off x="7400925" y="6165850"/>
            <a:ext cx="16922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Quality/Safety Symbol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3714" name="Text Box 50"/>
          <p:cNvSpPr txBox="1">
            <a:spLocks noChangeArrowheads="1"/>
          </p:cNvSpPr>
          <p:nvPr/>
        </p:nvSpPr>
        <p:spPr bwMode="auto">
          <a:xfrm>
            <a:off x="7400925" y="6583363"/>
            <a:ext cx="14192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Job Description</a:t>
            </a:r>
            <a:endParaRPr lang="th-TH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4690" name="Text Box 2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4692" name="Line 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34693" name="Text Box 5"/>
          <p:cNvSpPr txBox="1">
            <a:spLocks noChangeArrowheads="1"/>
          </p:cNvSpPr>
          <p:nvPr/>
        </p:nvSpPr>
        <p:spPr bwMode="auto">
          <a:xfrm>
            <a:off x="107950" y="1065213"/>
            <a:ext cx="3328988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2.2)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ตารางงานมาตรฐานผสม</a:t>
            </a:r>
          </a:p>
        </p:txBody>
      </p:sp>
      <p:sp>
        <p:nvSpPr>
          <p:cNvPr id="2034694" name="Text Box 6"/>
          <p:cNvSpPr txBox="1">
            <a:spLocks noChangeArrowheads="1"/>
          </p:cNvSpPr>
          <p:nvPr/>
        </p:nvSpPr>
        <p:spPr bwMode="auto">
          <a:xfrm>
            <a:off x="611188" y="1522413"/>
            <a:ext cx="2909887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Combination Table</a:t>
            </a:r>
            <a:endParaRPr lang="th-TH" sz="1200">
              <a:solidFill>
                <a:srgbClr val="000000"/>
              </a:solidFill>
            </a:endParaRPr>
          </a:p>
        </p:txBody>
      </p:sp>
      <p:pic>
        <p:nvPicPr>
          <p:cNvPr id="2034695" name="Picture 4"/>
          <p:cNvPicPr>
            <a:picLocks noChangeAspect="1" noChangeArrowheads="1"/>
          </p:cNvPicPr>
          <p:nvPr/>
        </p:nvPicPr>
        <p:blipFill>
          <a:blip r:embed="rId2" cstate="print"/>
          <a:srcRect l="1810" t="13385" r="16061" b="16431"/>
          <a:stretch>
            <a:fillRect/>
          </a:stretch>
        </p:blipFill>
        <p:spPr bwMode="auto">
          <a:xfrm>
            <a:off x="179388" y="1989138"/>
            <a:ext cx="5472112" cy="43195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034696" name="Text Box 8"/>
          <p:cNvSpPr txBox="1">
            <a:spLocks noChangeArrowheads="1"/>
          </p:cNvSpPr>
          <p:nvPr/>
        </p:nvSpPr>
        <p:spPr bwMode="auto">
          <a:xfrm>
            <a:off x="5724525" y="1566863"/>
            <a:ext cx="3419475" cy="510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15.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หมายเลขเครื่องจักร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16.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เวลาการทำงานของคน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17.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เวลาการทำงานของเครื่องจักร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18.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เวลาเดิน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19.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ตารางบันทึกกราฟแสดงเวลาทำงาน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20.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เวลาทำงานรวมทั้งหมด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21.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ชื่อแผนกที่จัดทำเอกสาร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22.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ชื่อสาขาของบริษัท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23.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ชื่อบริษัท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24.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แก้ไขครั้งที่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25.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หมายเลขเอกสาร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26.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ผู้จัดทำ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27.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ผู้ตรวจสอบ</a:t>
            </a:r>
            <a:endParaRPr lang="en-US" sz="2200">
              <a:solidFill>
                <a:srgbClr val="000000"/>
              </a:solidFill>
              <a:latin typeface="Angsana New" pitchFamily="18" charset="-34"/>
            </a:endParaRP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>
                <a:solidFill>
                  <a:srgbClr val="000000"/>
                </a:solidFill>
                <a:latin typeface="Angsana New" pitchFamily="18" charset="-34"/>
              </a:rPr>
              <a:t>28.</a:t>
            </a:r>
            <a:r>
              <a:rPr lang="th-TH" sz="2200">
                <a:solidFill>
                  <a:srgbClr val="000000"/>
                </a:solidFill>
                <a:latin typeface="Angsana New" pitchFamily="18" charset="-34"/>
              </a:rPr>
              <a:t>ผู้อนุมัติ</a:t>
            </a:r>
            <a:endParaRPr lang="en-US" sz="220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4697" name="Oval 9"/>
          <p:cNvSpPr>
            <a:spLocks noChangeArrowheads="1"/>
          </p:cNvSpPr>
          <p:nvPr/>
        </p:nvSpPr>
        <p:spPr bwMode="auto">
          <a:xfrm>
            <a:off x="331788" y="19161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698" name="Oval 10"/>
          <p:cNvSpPr>
            <a:spLocks noChangeArrowheads="1"/>
          </p:cNvSpPr>
          <p:nvPr/>
        </p:nvSpPr>
        <p:spPr bwMode="auto">
          <a:xfrm>
            <a:off x="1011238" y="19161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699" name="Oval 11"/>
          <p:cNvSpPr>
            <a:spLocks noChangeArrowheads="1"/>
          </p:cNvSpPr>
          <p:nvPr/>
        </p:nvSpPr>
        <p:spPr bwMode="auto">
          <a:xfrm>
            <a:off x="395288" y="20955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3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00" name="Oval 12"/>
          <p:cNvSpPr>
            <a:spLocks noChangeArrowheads="1"/>
          </p:cNvSpPr>
          <p:nvPr/>
        </p:nvSpPr>
        <p:spPr bwMode="auto">
          <a:xfrm>
            <a:off x="468313" y="227647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4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01" name="Oval 13"/>
          <p:cNvSpPr>
            <a:spLocks noChangeArrowheads="1"/>
          </p:cNvSpPr>
          <p:nvPr/>
        </p:nvSpPr>
        <p:spPr bwMode="auto">
          <a:xfrm>
            <a:off x="1660525" y="21986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5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02" name="Oval 14"/>
          <p:cNvSpPr>
            <a:spLocks noChangeArrowheads="1"/>
          </p:cNvSpPr>
          <p:nvPr/>
        </p:nvSpPr>
        <p:spPr bwMode="auto">
          <a:xfrm>
            <a:off x="3308350" y="194786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6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03" name="Oval 15"/>
          <p:cNvSpPr>
            <a:spLocks noChangeArrowheads="1"/>
          </p:cNvSpPr>
          <p:nvPr/>
        </p:nvSpPr>
        <p:spPr bwMode="auto">
          <a:xfrm>
            <a:off x="3308350" y="21145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7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04" name="Oval 16"/>
          <p:cNvSpPr>
            <a:spLocks noChangeArrowheads="1"/>
          </p:cNvSpPr>
          <p:nvPr/>
        </p:nvSpPr>
        <p:spPr bwMode="auto">
          <a:xfrm>
            <a:off x="4249738" y="1928813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8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05" name="Oval 17"/>
          <p:cNvSpPr>
            <a:spLocks noChangeArrowheads="1"/>
          </p:cNvSpPr>
          <p:nvPr/>
        </p:nvSpPr>
        <p:spPr bwMode="auto">
          <a:xfrm>
            <a:off x="4297363" y="212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9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06" name="Oval 18"/>
          <p:cNvSpPr>
            <a:spLocks noChangeArrowheads="1"/>
          </p:cNvSpPr>
          <p:nvPr/>
        </p:nvSpPr>
        <p:spPr bwMode="auto">
          <a:xfrm>
            <a:off x="3989388" y="226377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10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07" name="Oval 19"/>
          <p:cNvSpPr>
            <a:spLocks noChangeArrowheads="1"/>
          </p:cNvSpPr>
          <p:nvPr/>
        </p:nvSpPr>
        <p:spPr bwMode="auto">
          <a:xfrm>
            <a:off x="5408613" y="210820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11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08" name="Oval 20"/>
          <p:cNvSpPr>
            <a:spLocks noChangeArrowheads="1"/>
          </p:cNvSpPr>
          <p:nvPr/>
        </p:nvSpPr>
        <p:spPr bwMode="auto">
          <a:xfrm>
            <a:off x="101600" y="269557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12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09" name="Oval 21"/>
          <p:cNvSpPr>
            <a:spLocks noChangeArrowheads="1"/>
          </p:cNvSpPr>
          <p:nvPr/>
        </p:nvSpPr>
        <p:spPr bwMode="auto">
          <a:xfrm>
            <a:off x="192088" y="339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13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10" name="Oval 22"/>
          <p:cNvSpPr>
            <a:spLocks noChangeArrowheads="1"/>
          </p:cNvSpPr>
          <p:nvPr/>
        </p:nvSpPr>
        <p:spPr bwMode="auto">
          <a:xfrm>
            <a:off x="768350" y="339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14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11" name="Oval 23"/>
          <p:cNvSpPr>
            <a:spLocks noChangeArrowheads="1"/>
          </p:cNvSpPr>
          <p:nvPr/>
        </p:nvSpPr>
        <p:spPr bwMode="auto">
          <a:xfrm>
            <a:off x="1358900" y="339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15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12" name="Oval 24"/>
          <p:cNvSpPr>
            <a:spLocks noChangeArrowheads="1"/>
          </p:cNvSpPr>
          <p:nvPr/>
        </p:nvSpPr>
        <p:spPr bwMode="auto">
          <a:xfrm>
            <a:off x="1543050" y="339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16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13" name="Oval 25"/>
          <p:cNvSpPr>
            <a:spLocks noChangeArrowheads="1"/>
          </p:cNvSpPr>
          <p:nvPr/>
        </p:nvSpPr>
        <p:spPr bwMode="auto">
          <a:xfrm>
            <a:off x="1719263" y="33972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17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14" name="Oval 26"/>
          <p:cNvSpPr>
            <a:spLocks noChangeArrowheads="1"/>
          </p:cNvSpPr>
          <p:nvPr/>
        </p:nvSpPr>
        <p:spPr bwMode="auto">
          <a:xfrm>
            <a:off x="1882775" y="34607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18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15" name="Oval 27"/>
          <p:cNvSpPr>
            <a:spLocks noChangeArrowheads="1"/>
          </p:cNvSpPr>
          <p:nvPr/>
        </p:nvSpPr>
        <p:spPr bwMode="auto">
          <a:xfrm>
            <a:off x="3708400" y="36845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19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16" name="Oval 28"/>
          <p:cNvSpPr>
            <a:spLocks noChangeArrowheads="1"/>
          </p:cNvSpPr>
          <p:nvPr/>
        </p:nvSpPr>
        <p:spPr bwMode="auto">
          <a:xfrm>
            <a:off x="862013" y="610552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20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17" name="Oval 29"/>
          <p:cNvSpPr>
            <a:spLocks noChangeArrowheads="1"/>
          </p:cNvSpPr>
          <p:nvPr/>
        </p:nvSpPr>
        <p:spPr bwMode="auto">
          <a:xfrm>
            <a:off x="1960563" y="57927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21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18" name="Oval 30"/>
          <p:cNvSpPr>
            <a:spLocks noChangeArrowheads="1"/>
          </p:cNvSpPr>
          <p:nvPr/>
        </p:nvSpPr>
        <p:spPr bwMode="auto">
          <a:xfrm>
            <a:off x="2170113" y="5895975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22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19" name="Oval 31"/>
          <p:cNvSpPr>
            <a:spLocks noChangeArrowheads="1"/>
          </p:cNvSpPr>
          <p:nvPr/>
        </p:nvSpPr>
        <p:spPr bwMode="auto">
          <a:xfrm>
            <a:off x="1979613" y="601503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23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20" name="Oval 32"/>
          <p:cNvSpPr>
            <a:spLocks noChangeArrowheads="1"/>
          </p:cNvSpPr>
          <p:nvPr/>
        </p:nvSpPr>
        <p:spPr bwMode="auto">
          <a:xfrm>
            <a:off x="2295525" y="61277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24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21" name="Oval 33"/>
          <p:cNvSpPr>
            <a:spLocks noChangeArrowheads="1"/>
          </p:cNvSpPr>
          <p:nvPr/>
        </p:nvSpPr>
        <p:spPr bwMode="auto">
          <a:xfrm>
            <a:off x="3348038" y="5949950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25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22" name="Oval 34"/>
          <p:cNvSpPr>
            <a:spLocks noChangeArrowheads="1"/>
          </p:cNvSpPr>
          <p:nvPr/>
        </p:nvSpPr>
        <p:spPr bwMode="auto">
          <a:xfrm>
            <a:off x="3924300" y="60213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26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23" name="Oval 35"/>
          <p:cNvSpPr>
            <a:spLocks noChangeArrowheads="1"/>
          </p:cNvSpPr>
          <p:nvPr/>
        </p:nvSpPr>
        <p:spPr bwMode="auto">
          <a:xfrm>
            <a:off x="4572000" y="60213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27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24" name="Oval 36"/>
          <p:cNvSpPr>
            <a:spLocks noChangeArrowheads="1"/>
          </p:cNvSpPr>
          <p:nvPr/>
        </p:nvSpPr>
        <p:spPr bwMode="auto">
          <a:xfrm>
            <a:off x="5219700" y="6021388"/>
            <a:ext cx="215900" cy="215900"/>
          </a:xfrm>
          <a:prstGeom prst="ellipse">
            <a:avLst/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>
                <a:solidFill>
                  <a:srgbClr val="000000"/>
                </a:solidFill>
              </a:rPr>
              <a:t>28</a:t>
            </a:r>
            <a:endParaRPr lang="th-TH" sz="1000" b="1">
              <a:solidFill>
                <a:srgbClr val="000000"/>
              </a:solidFill>
            </a:endParaRPr>
          </a:p>
        </p:txBody>
      </p:sp>
      <p:sp>
        <p:nvSpPr>
          <p:cNvPr id="2034725" name="Text Box 37"/>
          <p:cNvSpPr txBox="1">
            <a:spLocks noChangeArrowheads="1"/>
          </p:cNvSpPr>
          <p:nvPr/>
        </p:nvSpPr>
        <p:spPr bwMode="auto">
          <a:xfrm>
            <a:off x="6677025" y="2662238"/>
            <a:ext cx="12969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Walking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26" name="Text Box 38"/>
          <p:cNvSpPr txBox="1">
            <a:spLocks noChangeArrowheads="1"/>
          </p:cNvSpPr>
          <p:nvPr/>
        </p:nvSpPr>
        <p:spPr bwMode="auto">
          <a:xfrm>
            <a:off x="7524750" y="1557338"/>
            <a:ext cx="129540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Machine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27" name="Text Box 39"/>
          <p:cNvSpPr txBox="1">
            <a:spLocks noChangeArrowheads="1"/>
          </p:cNvSpPr>
          <p:nvPr/>
        </p:nvSpPr>
        <p:spPr bwMode="auto">
          <a:xfrm>
            <a:off x="7721600" y="1946275"/>
            <a:ext cx="8826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Man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28" name="Text Box 40"/>
          <p:cNvSpPr txBox="1">
            <a:spLocks noChangeArrowheads="1"/>
          </p:cNvSpPr>
          <p:nvPr/>
        </p:nvSpPr>
        <p:spPr bwMode="auto">
          <a:xfrm>
            <a:off x="8197850" y="2303463"/>
            <a:ext cx="8826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M/C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29" name="Text Box 41"/>
          <p:cNvSpPr txBox="1">
            <a:spLocks noChangeArrowheads="1"/>
          </p:cNvSpPr>
          <p:nvPr/>
        </p:nvSpPr>
        <p:spPr bwMode="auto">
          <a:xfrm>
            <a:off x="7667625" y="3213100"/>
            <a:ext cx="12969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Time Line Table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30" name="Text Box 42"/>
          <p:cNvSpPr txBox="1">
            <a:spLocks noChangeArrowheads="1"/>
          </p:cNvSpPr>
          <p:nvPr/>
        </p:nvSpPr>
        <p:spPr bwMode="auto">
          <a:xfrm>
            <a:off x="7731125" y="3429000"/>
            <a:ext cx="14763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Total Cycle Time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31" name="Text Box 43"/>
          <p:cNvSpPr txBox="1">
            <a:spLocks noChangeArrowheads="1"/>
          </p:cNvSpPr>
          <p:nvPr/>
        </p:nvSpPr>
        <p:spPr bwMode="auto">
          <a:xfrm>
            <a:off x="7812088" y="3789363"/>
            <a:ext cx="11525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Section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32" name="Text Box 44"/>
          <p:cNvSpPr txBox="1">
            <a:spLocks noChangeArrowheads="1"/>
          </p:cNvSpPr>
          <p:nvPr/>
        </p:nvSpPr>
        <p:spPr bwMode="auto">
          <a:xfrm>
            <a:off x="7451725" y="4149725"/>
            <a:ext cx="1152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Branch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33" name="Text Box 45"/>
          <p:cNvSpPr txBox="1">
            <a:spLocks noChangeArrowheads="1"/>
          </p:cNvSpPr>
          <p:nvPr/>
        </p:nvSpPr>
        <p:spPr bwMode="auto">
          <a:xfrm>
            <a:off x="6732588" y="4521200"/>
            <a:ext cx="14398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Company Name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34" name="Text Box 46"/>
          <p:cNvSpPr txBox="1">
            <a:spLocks noChangeArrowheads="1"/>
          </p:cNvSpPr>
          <p:nvPr/>
        </p:nvSpPr>
        <p:spPr bwMode="auto">
          <a:xfrm>
            <a:off x="6948488" y="4894263"/>
            <a:ext cx="1439862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Revision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35" name="Text Box 47"/>
          <p:cNvSpPr txBox="1">
            <a:spLocks noChangeArrowheads="1"/>
          </p:cNvSpPr>
          <p:nvPr/>
        </p:nvSpPr>
        <p:spPr bwMode="auto">
          <a:xfrm>
            <a:off x="7283450" y="5262563"/>
            <a:ext cx="14398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Document No.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36" name="Text Box 48"/>
          <p:cNvSpPr txBox="1">
            <a:spLocks noChangeArrowheads="1"/>
          </p:cNvSpPr>
          <p:nvPr/>
        </p:nvSpPr>
        <p:spPr bwMode="auto">
          <a:xfrm>
            <a:off x="6588125" y="5630863"/>
            <a:ext cx="14398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Recorder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37" name="Text Box 49"/>
          <p:cNvSpPr txBox="1">
            <a:spLocks noChangeArrowheads="1"/>
          </p:cNvSpPr>
          <p:nvPr/>
        </p:nvSpPr>
        <p:spPr bwMode="auto">
          <a:xfrm>
            <a:off x="6931025" y="6008688"/>
            <a:ext cx="1008063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Checker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34738" name="Text Box 50"/>
          <p:cNvSpPr txBox="1">
            <a:spLocks noChangeArrowheads="1"/>
          </p:cNvSpPr>
          <p:nvPr/>
        </p:nvSpPr>
        <p:spPr bwMode="auto">
          <a:xfrm>
            <a:off x="6659563" y="6381750"/>
            <a:ext cx="10080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Approver</a:t>
            </a:r>
            <a:endParaRPr lang="th-TH" sz="120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714" name="Rectangle 9"/>
          <p:cNvSpPr>
            <a:spLocks noChangeArrowheads="1"/>
          </p:cNvSpPr>
          <p:nvPr/>
        </p:nvSpPr>
        <p:spPr bwMode="auto">
          <a:xfrm>
            <a:off x="323850" y="1196975"/>
            <a:ext cx="2441575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 u="sng">
                <a:solidFill>
                  <a:srgbClr val="000000"/>
                </a:solidFill>
                <a:latin typeface="Times New Roman" pitchFamily="18" charset="0"/>
              </a:rPr>
              <a:t>ตัวอย่างการบันทึก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79388" y="1412875"/>
            <a:ext cx="8569325" cy="5175250"/>
            <a:chOff x="192" y="1177"/>
            <a:chExt cx="5088" cy="2973"/>
          </a:xfrm>
        </p:grpSpPr>
        <p:sp>
          <p:nvSpPr>
            <p:cNvPr id="2035716" name="Rectangle 10"/>
            <p:cNvSpPr>
              <a:spLocks noChangeArrowheads="1"/>
            </p:cNvSpPr>
            <p:nvPr/>
          </p:nvSpPr>
          <p:spPr bwMode="auto">
            <a:xfrm>
              <a:off x="1411" y="1921"/>
              <a:ext cx="700" cy="1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2035717" name="Rectangle 11"/>
            <p:cNvSpPr>
              <a:spLocks noChangeArrowheads="1"/>
            </p:cNvSpPr>
            <p:nvPr/>
          </p:nvSpPr>
          <p:spPr bwMode="auto">
            <a:xfrm>
              <a:off x="711" y="1921"/>
              <a:ext cx="700" cy="1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1000">
                  <a:solidFill>
                    <a:srgbClr val="000000"/>
                  </a:solidFill>
                </a:rPr>
                <a:t>PART NAME</a:t>
              </a:r>
            </a:p>
          </p:txBody>
        </p:sp>
        <p:sp>
          <p:nvSpPr>
            <p:cNvPr id="2035718" name="Rectangle 12"/>
            <p:cNvSpPr>
              <a:spLocks noChangeArrowheads="1"/>
            </p:cNvSpPr>
            <p:nvPr/>
          </p:nvSpPr>
          <p:spPr bwMode="auto">
            <a:xfrm>
              <a:off x="1411" y="1724"/>
              <a:ext cx="700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2035719" name="Rectangle 13"/>
            <p:cNvSpPr>
              <a:spLocks noChangeArrowheads="1"/>
            </p:cNvSpPr>
            <p:nvPr/>
          </p:nvSpPr>
          <p:spPr bwMode="auto">
            <a:xfrm>
              <a:off x="711" y="1724"/>
              <a:ext cx="700" cy="19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PART NO.</a:t>
              </a:r>
            </a:p>
          </p:txBody>
        </p:sp>
        <p:sp>
          <p:nvSpPr>
            <p:cNvPr id="2035720" name="Rectangle 14"/>
            <p:cNvSpPr>
              <a:spLocks noChangeArrowheads="1"/>
            </p:cNvSpPr>
            <p:nvPr/>
          </p:nvSpPr>
          <p:spPr bwMode="auto">
            <a:xfrm>
              <a:off x="1411" y="1529"/>
              <a:ext cx="700" cy="1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endParaRPr lang="en-US" sz="1400">
                <a:solidFill>
                  <a:srgbClr val="000000"/>
                </a:solidFill>
              </a:endParaRPr>
            </a:p>
          </p:txBody>
        </p:sp>
        <p:sp>
          <p:nvSpPr>
            <p:cNvPr id="2035721" name="Rectangle 15"/>
            <p:cNvSpPr>
              <a:spLocks noChangeArrowheads="1"/>
            </p:cNvSpPr>
            <p:nvPr/>
          </p:nvSpPr>
          <p:spPr bwMode="auto">
            <a:xfrm>
              <a:off x="711" y="1529"/>
              <a:ext cx="700" cy="1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</a:rPr>
                <a:t>LINE</a:t>
              </a:r>
            </a:p>
          </p:txBody>
        </p:sp>
        <p:sp>
          <p:nvSpPr>
            <p:cNvPr id="2035722" name="Line 16"/>
            <p:cNvSpPr>
              <a:spLocks noChangeShapeType="1"/>
            </p:cNvSpPr>
            <p:nvPr/>
          </p:nvSpPr>
          <p:spPr bwMode="auto">
            <a:xfrm>
              <a:off x="711" y="1529"/>
              <a:ext cx="14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23" name="Line 17"/>
            <p:cNvSpPr>
              <a:spLocks noChangeShapeType="1"/>
            </p:cNvSpPr>
            <p:nvPr/>
          </p:nvSpPr>
          <p:spPr bwMode="auto">
            <a:xfrm>
              <a:off x="711" y="1724"/>
              <a:ext cx="1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24" name="Line 18"/>
            <p:cNvSpPr>
              <a:spLocks noChangeShapeType="1"/>
            </p:cNvSpPr>
            <p:nvPr/>
          </p:nvSpPr>
          <p:spPr bwMode="auto">
            <a:xfrm>
              <a:off x="711" y="1921"/>
              <a:ext cx="1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25" name="Line 19"/>
            <p:cNvSpPr>
              <a:spLocks noChangeShapeType="1"/>
            </p:cNvSpPr>
            <p:nvPr/>
          </p:nvSpPr>
          <p:spPr bwMode="auto">
            <a:xfrm>
              <a:off x="711" y="2116"/>
              <a:ext cx="1400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26" name="Line 20"/>
            <p:cNvSpPr>
              <a:spLocks noChangeShapeType="1"/>
            </p:cNvSpPr>
            <p:nvPr/>
          </p:nvSpPr>
          <p:spPr bwMode="auto">
            <a:xfrm>
              <a:off x="711" y="1529"/>
              <a:ext cx="0" cy="5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27" name="Line 21"/>
            <p:cNvSpPr>
              <a:spLocks noChangeShapeType="1"/>
            </p:cNvSpPr>
            <p:nvPr/>
          </p:nvSpPr>
          <p:spPr bwMode="auto">
            <a:xfrm>
              <a:off x="1411" y="1529"/>
              <a:ext cx="0" cy="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28" name="Line 22"/>
            <p:cNvSpPr>
              <a:spLocks noChangeShapeType="1"/>
            </p:cNvSpPr>
            <p:nvPr/>
          </p:nvSpPr>
          <p:spPr bwMode="auto">
            <a:xfrm>
              <a:off x="2111" y="1529"/>
              <a:ext cx="0" cy="5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29" name="Rectangle 23"/>
            <p:cNvSpPr>
              <a:spLocks noChangeArrowheads="1"/>
            </p:cNvSpPr>
            <p:nvPr/>
          </p:nvSpPr>
          <p:spPr bwMode="auto">
            <a:xfrm>
              <a:off x="2111" y="1529"/>
              <a:ext cx="311" cy="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endParaRPr lang="en-US" sz="1600">
                <a:solidFill>
                  <a:srgbClr val="000000"/>
                </a:solidFill>
              </a:endParaRPr>
            </a:p>
          </p:txBody>
        </p:sp>
        <p:sp>
          <p:nvSpPr>
            <p:cNvPr id="2035730" name="Line 24"/>
            <p:cNvSpPr>
              <a:spLocks noChangeShapeType="1"/>
            </p:cNvSpPr>
            <p:nvPr/>
          </p:nvSpPr>
          <p:spPr bwMode="auto">
            <a:xfrm>
              <a:off x="2111" y="1529"/>
              <a:ext cx="311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31" name="Line 25"/>
            <p:cNvSpPr>
              <a:spLocks noChangeShapeType="1"/>
            </p:cNvSpPr>
            <p:nvPr/>
          </p:nvSpPr>
          <p:spPr bwMode="auto">
            <a:xfrm>
              <a:off x="2111" y="2116"/>
              <a:ext cx="311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32" name="Line 26"/>
            <p:cNvSpPr>
              <a:spLocks noChangeShapeType="1"/>
            </p:cNvSpPr>
            <p:nvPr/>
          </p:nvSpPr>
          <p:spPr bwMode="auto">
            <a:xfrm>
              <a:off x="2111" y="1529"/>
              <a:ext cx="0" cy="5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33" name="Line 27"/>
            <p:cNvSpPr>
              <a:spLocks noChangeShapeType="1"/>
            </p:cNvSpPr>
            <p:nvPr/>
          </p:nvSpPr>
          <p:spPr bwMode="auto">
            <a:xfrm>
              <a:off x="2422" y="1529"/>
              <a:ext cx="0" cy="5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34" name="Rectangle 28"/>
            <p:cNvSpPr>
              <a:spLocks noChangeArrowheads="1"/>
            </p:cNvSpPr>
            <p:nvPr/>
          </p:nvSpPr>
          <p:spPr bwMode="auto">
            <a:xfrm>
              <a:off x="4288" y="1823"/>
              <a:ext cx="428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2035735" name="Rectangle 29"/>
            <p:cNvSpPr>
              <a:spLocks noChangeArrowheads="1"/>
            </p:cNvSpPr>
            <p:nvPr/>
          </p:nvSpPr>
          <p:spPr bwMode="auto">
            <a:xfrm>
              <a:off x="3861" y="1823"/>
              <a:ext cx="427" cy="29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2035736" name="Rectangle 30"/>
            <p:cNvSpPr>
              <a:spLocks noChangeArrowheads="1"/>
            </p:cNvSpPr>
            <p:nvPr/>
          </p:nvSpPr>
          <p:spPr bwMode="auto">
            <a:xfrm>
              <a:off x="4288" y="1529"/>
              <a:ext cx="428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2035737" name="Rectangle 31"/>
            <p:cNvSpPr>
              <a:spLocks noChangeArrowheads="1"/>
            </p:cNvSpPr>
            <p:nvPr/>
          </p:nvSpPr>
          <p:spPr bwMode="auto">
            <a:xfrm>
              <a:off x="3861" y="1529"/>
              <a:ext cx="427" cy="2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2035738" name="Line 32"/>
            <p:cNvSpPr>
              <a:spLocks noChangeShapeType="1"/>
            </p:cNvSpPr>
            <p:nvPr/>
          </p:nvSpPr>
          <p:spPr bwMode="auto">
            <a:xfrm>
              <a:off x="3861" y="1529"/>
              <a:ext cx="85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39" name="Line 33"/>
            <p:cNvSpPr>
              <a:spLocks noChangeShapeType="1"/>
            </p:cNvSpPr>
            <p:nvPr/>
          </p:nvSpPr>
          <p:spPr bwMode="auto">
            <a:xfrm>
              <a:off x="3861" y="1823"/>
              <a:ext cx="85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40" name="Line 34"/>
            <p:cNvSpPr>
              <a:spLocks noChangeShapeType="1"/>
            </p:cNvSpPr>
            <p:nvPr/>
          </p:nvSpPr>
          <p:spPr bwMode="auto">
            <a:xfrm>
              <a:off x="3861" y="2116"/>
              <a:ext cx="85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41" name="Line 35"/>
            <p:cNvSpPr>
              <a:spLocks noChangeShapeType="1"/>
            </p:cNvSpPr>
            <p:nvPr/>
          </p:nvSpPr>
          <p:spPr bwMode="auto">
            <a:xfrm>
              <a:off x="3861" y="1529"/>
              <a:ext cx="0" cy="5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42" name="Line 36"/>
            <p:cNvSpPr>
              <a:spLocks noChangeShapeType="1"/>
            </p:cNvSpPr>
            <p:nvPr/>
          </p:nvSpPr>
          <p:spPr bwMode="auto">
            <a:xfrm>
              <a:off x="4288" y="1529"/>
              <a:ext cx="0" cy="5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43" name="Line 37"/>
            <p:cNvSpPr>
              <a:spLocks noChangeShapeType="1"/>
            </p:cNvSpPr>
            <p:nvPr/>
          </p:nvSpPr>
          <p:spPr bwMode="auto">
            <a:xfrm>
              <a:off x="4716" y="1529"/>
              <a:ext cx="0" cy="5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44" name="Rectangle 38"/>
            <p:cNvSpPr>
              <a:spLocks noChangeArrowheads="1"/>
            </p:cNvSpPr>
            <p:nvPr/>
          </p:nvSpPr>
          <p:spPr bwMode="auto">
            <a:xfrm>
              <a:off x="4716" y="1529"/>
              <a:ext cx="545" cy="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endParaRPr lang="en-US" sz="800">
                <a:solidFill>
                  <a:srgbClr val="000000"/>
                </a:solidFill>
              </a:endParaRPr>
            </a:p>
          </p:txBody>
        </p:sp>
        <p:sp>
          <p:nvSpPr>
            <p:cNvPr id="2035745" name="Rectangle 39"/>
            <p:cNvSpPr>
              <a:spLocks noChangeArrowheads="1"/>
            </p:cNvSpPr>
            <p:nvPr/>
          </p:nvSpPr>
          <p:spPr bwMode="auto">
            <a:xfrm>
              <a:off x="4716" y="1372"/>
              <a:ext cx="545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endParaRPr lang="en-US" sz="800">
                <a:solidFill>
                  <a:srgbClr val="000000"/>
                </a:solidFill>
              </a:endParaRPr>
            </a:p>
          </p:txBody>
        </p:sp>
        <p:sp>
          <p:nvSpPr>
            <p:cNvPr id="2035746" name="Line 40"/>
            <p:cNvSpPr>
              <a:spLocks noChangeShapeType="1"/>
            </p:cNvSpPr>
            <p:nvPr/>
          </p:nvSpPr>
          <p:spPr bwMode="auto">
            <a:xfrm>
              <a:off x="4716" y="1372"/>
              <a:ext cx="54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47" name="Line 41"/>
            <p:cNvSpPr>
              <a:spLocks noChangeShapeType="1"/>
            </p:cNvSpPr>
            <p:nvPr/>
          </p:nvSpPr>
          <p:spPr bwMode="auto">
            <a:xfrm>
              <a:off x="4716" y="1529"/>
              <a:ext cx="54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48" name="Line 42"/>
            <p:cNvSpPr>
              <a:spLocks noChangeShapeType="1"/>
            </p:cNvSpPr>
            <p:nvPr/>
          </p:nvSpPr>
          <p:spPr bwMode="auto">
            <a:xfrm>
              <a:off x="4716" y="2116"/>
              <a:ext cx="545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49" name="Line 43"/>
            <p:cNvSpPr>
              <a:spLocks noChangeShapeType="1"/>
            </p:cNvSpPr>
            <p:nvPr/>
          </p:nvSpPr>
          <p:spPr bwMode="auto">
            <a:xfrm>
              <a:off x="4716" y="1372"/>
              <a:ext cx="0" cy="7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50" name="Line 44"/>
            <p:cNvSpPr>
              <a:spLocks noChangeShapeType="1"/>
            </p:cNvSpPr>
            <p:nvPr/>
          </p:nvSpPr>
          <p:spPr bwMode="auto">
            <a:xfrm>
              <a:off x="5261" y="1372"/>
              <a:ext cx="0" cy="744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51" name="Rectangle 45"/>
            <p:cNvSpPr>
              <a:spLocks noChangeArrowheads="1"/>
            </p:cNvSpPr>
            <p:nvPr/>
          </p:nvSpPr>
          <p:spPr bwMode="auto">
            <a:xfrm>
              <a:off x="2422" y="1529"/>
              <a:ext cx="1439" cy="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20000"/>
                </a:spcBef>
                <a:spcAft>
                  <a:spcPct val="0"/>
                </a:spcAft>
              </a:pPr>
              <a:endParaRPr lang="en-US" sz="2000">
                <a:solidFill>
                  <a:srgbClr val="000000"/>
                </a:solidFill>
              </a:endParaRPr>
            </a:p>
          </p:txBody>
        </p:sp>
        <p:sp>
          <p:nvSpPr>
            <p:cNvPr id="2035752" name="Line 46"/>
            <p:cNvSpPr>
              <a:spLocks noChangeShapeType="1"/>
            </p:cNvSpPr>
            <p:nvPr/>
          </p:nvSpPr>
          <p:spPr bwMode="auto">
            <a:xfrm>
              <a:off x="2422" y="1529"/>
              <a:ext cx="143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53" name="Line 47"/>
            <p:cNvSpPr>
              <a:spLocks noChangeShapeType="1"/>
            </p:cNvSpPr>
            <p:nvPr/>
          </p:nvSpPr>
          <p:spPr bwMode="auto">
            <a:xfrm>
              <a:off x="2422" y="2116"/>
              <a:ext cx="143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54" name="Line 48"/>
            <p:cNvSpPr>
              <a:spLocks noChangeShapeType="1"/>
            </p:cNvSpPr>
            <p:nvPr/>
          </p:nvSpPr>
          <p:spPr bwMode="auto">
            <a:xfrm>
              <a:off x="2422" y="1529"/>
              <a:ext cx="0" cy="5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55" name="Line 49"/>
            <p:cNvSpPr>
              <a:spLocks noChangeShapeType="1"/>
            </p:cNvSpPr>
            <p:nvPr/>
          </p:nvSpPr>
          <p:spPr bwMode="auto">
            <a:xfrm>
              <a:off x="3861" y="1529"/>
              <a:ext cx="0" cy="587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56" name="Rectangle 50"/>
            <p:cNvSpPr>
              <a:spLocks noChangeArrowheads="1"/>
            </p:cNvSpPr>
            <p:nvPr/>
          </p:nvSpPr>
          <p:spPr bwMode="auto">
            <a:xfrm>
              <a:off x="1100" y="2154"/>
              <a:ext cx="505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PROCESS</a:t>
              </a:r>
            </a:p>
          </p:txBody>
        </p:sp>
        <p:sp>
          <p:nvSpPr>
            <p:cNvPr id="2035757" name="Rectangle 51"/>
            <p:cNvSpPr>
              <a:spLocks noChangeArrowheads="1"/>
            </p:cNvSpPr>
            <p:nvPr/>
          </p:nvSpPr>
          <p:spPr bwMode="auto">
            <a:xfrm>
              <a:off x="672" y="2154"/>
              <a:ext cx="194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solidFill>
                    <a:srgbClr val="000000"/>
                  </a:solidFill>
                  <a:latin typeface="Angsana New" pitchFamily="18" charset="-34"/>
                </a:rPr>
                <a:t>NO.</a:t>
              </a:r>
            </a:p>
          </p:txBody>
        </p:sp>
        <p:sp>
          <p:nvSpPr>
            <p:cNvPr id="2035758" name="Rectangle 52"/>
            <p:cNvSpPr>
              <a:spLocks noChangeArrowheads="1"/>
            </p:cNvSpPr>
            <p:nvPr/>
          </p:nvSpPr>
          <p:spPr bwMode="auto">
            <a:xfrm>
              <a:off x="828" y="2547"/>
              <a:ext cx="85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solidFill>
                    <a:srgbClr val="000000"/>
                  </a:solidFill>
                  <a:latin typeface="Angsana New" pitchFamily="18" charset="-34"/>
                </a:rPr>
                <a:t>B-101 Set Part/Sw.ON  </a:t>
              </a:r>
            </a:p>
          </p:txBody>
        </p:sp>
        <p:sp>
          <p:nvSpPr>
            <p:cNvPr id="2035759" name="Rectangle 53"/>
            <p:cNvSpPr>
              <a:spLocks noChangeArrowheads="1"/>
            </p:cNvSpPr>
            <p:nvPr/>
          </p:nvSpPr>
          <p:spPr bwMode="auto">
            <a:xfrm>
              <a:off x="750" y="2703"/>
              <a:ext cx="81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solidFill>
                    <a:srgbClr val="000000"/>
                  </a:solidFill>
                  <a:latin typeface="Angsana New" pitchFamily="18" charset="-34"/>
                </a:rPr>
                <a:t>     B-102 Set Part/Sw.ON</a:t>
              </a:r>
            </a:p>
          </p:txBody>
        </p:sp>
        <p:sp>
          <p:nvSpPr>
            <p:cNvPr id="2035760" name="Rectangle 54"/>
            <p:cNvSpPr>
              <a:spLocks noChangeArrowheads="1"/>
            </p:cNvSpPr>
            <p:nvPr/>
          </p:nvSpPr>
          <p:spPr bwMode="auto">
            <a:xfrm>
              <a:off x="816" y="2859"/>
              <a:ext cx="700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solidFill>
                    <a:srgbClr val="000000"/>
                  </a:solidFill>
                  <a:latin typeface="Angsana New" pitchFamily="18" charset="-34"/>
                </a:rPr>
                <a:t> P-101 Set Part/Sw.ON</a:t>
              </a:r>
            </a:p>
          </p:txBody>
        </p:sp>
        <p:sp>
          <p:nvSpPr>
            <p:cNvPr id="2035761" name="Rectangle 55"/>
            <p:cNvSpPr>
              <a:spLocks noChangeArrowheads="1"/>
            </p:cNvSpPr>
            <p:nvPr/>
          </p:nvSpPr>
          <p:spPr bwMode="auto">
            <a:xfrm>
              <a:off x="788" y="3054"/>
              <a:ext cx="700" cy="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solidFill>
                    <a:srgbClr val="000000"/>
                  </a:solidFill>
                  <a:latin typeface="Angsana New" pitchFamily="18" charset="-34"/>
                </a:rPr>
                <a:t>   SP-101 Set Part/Sw.ON</a:t>
              </a:r>
            </a:p>
          </p:txBody>
        </p:sp>
        <p:sp>
          <p:nvSpPr>
            <p:cNvPr id="2035762" name="Rectangle 56"/>
            <p:cNvSpPr>
              <a:spLocks noChangeArrowheads="1"/>
            </p:cNvSpPr>
            <p:nvPr/>
          </p:nvSpPr>
          <p:spPr bwMode="auto">
            <a:xfrm>
              <a:off x="768" y="3172"/>
              <a:ext cx="817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solidFill>
                    <a:srgbClr val="000000"/>
                  </a:solidFill>
                  <a:latin typeface="Angsana New" pitchFamily="18" charset="-34"/>
                </a:rPr>
                <a:t>    AC-101 Set Part/Sw.ON  </a:t>
              </a:r>
            </a:p>
          </p:txBody>
        </p:sp>
        <p:sp>
          <p:nvSpPr>
            <p:cNvPr id="2035763" name="Rectangle 57"/>
            <p:cNvSpPr>
              <a:spLocks noChangeArrowheads="1"/>
            </p:cNvSpPr>
            <p:nvPr/>
          </p:nvSpPr>
          <p:spPr bwMode="auto">
            <a:xfrm>
              <a:off x="828" y="2428"/>
              <a:ext cx="622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solidFill>
                    <a:srgbClr val="000000"/>
                  </a:solidFill>
                  <a:latin typeface="Angsana New" pitchFamily="18" charset="-34"/>
                </a:rPr>
                <a:t>หยิบ  Part</a:t>
              </a:r>
            </a:p>
          </p:txBody>
        </p:sp>
        <p:sp>
          <p:nvSpPr>
            <p:cNvPr id="2035764" name="Rectangle 58"/>
            <p:cNvSpPr>
              <a:spLocks noChangeArrowheads="1"/>
            </p:cNvSpPr>
            <p:nvPr/>
          </p:nvSpPr>
          <p:spPr bwMode="auto">
            <a:xfrm>
              <a:off x="672" y="2703"/>
              <a:ext cx="19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3</a:t>
              </a:r>
            </a:p>
          </p:txBody>
        </p:sp>
        <p:sp>
          <p:nvSpPr>
            <p:cNvPr id="2035765" name="Rectangle 59"/>
            <p:cNvSpPr>
              <a:spLocks noChangeArrowheads="1"/>
            </p:cNvSpPr>
            <p:nvPr/>
          </p:nvSpPr>
          <p:spPr bwMode="auto">
            <a:xfrm>
              <a:off x="672" y="2428"/>
              <a:ext cx="194" cy="1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35766" name="Rectangle 60"/>
            <p:cNvSpPr>
              <a:spLocks noChangeArrowheads="1"/>
            </p:cNvSpPr>
            <p:nvPr/>
          </p:nvSpPr>
          <p:spPr bwMode="auto">
            <a:xfrm>
              <a:off x="672" y="2585"/>
              <a:ext cx="194" cy="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</a:p>
          </p:txBody>
        </p:sp>
        <p:sp>
          <p:nvSpPr>
            <p:cNvPr id="2035767" name="Rectangle 61"/>
            <p:cNvSpPr>
              <a:spLocks noChangeArrowheads="1"/>
            </p:cNvSpPr>
            <p:nvPr/>
          </p:nvSpPr>
          <p:spPr bwMode="auto">
            <a:xfrm>
              <a:off x="672" y="2859"/>
              <a:ext cx="194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4</a:t>
              </a:r>
            </a:p>
          </p:txBody>
        </p:sp>
        <p:sp>
          <p:nvSpPr>
            <p:cNvPr id="2035768" name="Rectangle 62"/>
            <p:cNvSpPr>
              <a:spLocks noChangeArrowheads="1"/>
            </p:cNvSpPr>
            <p:nvPr/>
          </p:nvSpPr>
          <p:spPr bwMode="auto">
            <a:xfrm>
              <a:off x="672" y="3054"/>
              <a:ext cx="194" cy="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5</a:t>
              </a:r>
            </a:p>
          </p:txBody>
        </p:sp>
        <p:sp>
          <p:nvSpPr>
            <p:cNvPr id="2035769" name="Rectangle 63"/>
            <p:cNvSpPr>
              <a:spLocks noChangeArrowheads="1"/>
            </p:cNvSpPr>
            <p:nvPr/>
          </p:nvSpPr>
          <p:spPr bwMode="auto">
            <a:xfrm>
              <a:off x="672" y="3368"/>
              <a:ext cx="194" cy="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7</a:t>
              </a:r>
            </a:p>
          </p:txBody>
        </p:sp>
        <p:sp>
          <p:nvSpPr>
            <p:cNvPr id="2035770" name="Rectangle 64"/>
            <p:cNvSpPr>
              <a:spLocks noChangeArrowheads="1"/>
            </p:cNvSpPr>
            <p:nvPr/>
          </p:nvSpPr>
          <p:spPr bwMode="auto">
            <a:xfrm>
              <a:off x="711" y="3210"/>
              <a:ext cx="117" cy="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6</a:t>
              </a:r>
            </a:p>
          </p:txBody>
        </p:sp>
        <p:sp>
          <p:nvSpPr>
            <p:cNvPr id="2035771" name="Line 65"/>
            <p:cNvSpPr>
              <a:spLocks noChangeShapeType="1"/>
            </p:cNvSpPr>
            <p:nvPr/>
          </p:nvSpPr>
          <p:spPr bwMode="auto">
            <a:xfrm flipH="1">
              <a:off x="711" y="2116"/>
              <a:ext cx="0" cy="17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72" name="Line 66"/>
            <p:cNvSpPr>
              <a:spLocks noChangeShapeType="1"/>
            </p:cNvSpPr>
            <p:nvPr/>
          </p:nvSpPr>
          <p:spPr bwMode="auto">
            <a:xfrm>
              <a:off x="828" y="2116"/>
              <a:ext cx="0" cy="17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73" name="Line 67"/>
            <p:cNvSpPr>
              <a:spLocks noChangeShapeType="1"/>
            </p:cNvSpPr>
            <p:nvPr/>
          </p:nvSpPr>
          <p:spPr bwMode="auto">
            <a:xfrm>
              <a:off x="1955" y="2116"/>
              <a:ext cx="0" cy="17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74" name="Line 68"/>
            <p:cNvSpPr>
              <a:spLocks noChangeShapeType="1"/>
            </p:cNvSpPr>
            <p:nvPr/>
          </p:nvSpPr>
          <p:spPr bwMode="auto">
            <a:xfrm>
              <a:off x="2111" y="2233"/>
              <a:ext cx="0" cy="16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75" name="Line 69"/>
            <p:cNvSpPr>
              <a:spLocks noChangeShapeType="1"/>
            </p:cNvSpPr>
            <p:nvPr/>
          </p:nvSpPr>
          <p:spPr bwMode="auto">
            <a:xfrm>
              <a:off x="2422" y="2116"/>
              <a:ext cx="0" cy="17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76" name="Line 70"/>
            <p:cNvSpPr>
              <a:spLocks noChangeShapeType="1"/>
            </p:cNvSpPr>
            <p:nvPr/>
          </p:nvSpPr>
          <p:spPr bwMode="auto">
            <a:xfrm>
              <a:off x="2266" y="2233"/>
              <a:ext cx="0" cy="16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77" name="Line 71"/>
            <p:cNvSpPr>
              <a:spLocks noChangeShapeType="1"/>
            </p:cNvSpPr>
            <p:nvPr/>
          </p:nvSpPr>
          <p:spPr bwMode="auto">
            <a:xfrm>
              <a:off x="2500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78" name="Line 72"/>
            <p:cNvSpPr>
              <a:spLocks noChangeShapeType="1"/>
            </p:cNvSpPr>
            <p:nvPr/>
          </p:nvSpPr>
          <p:spPr bwMode="auto">
            <a:xfrm>
              <a:off x="2577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79" name="Line 73"/>
            <p:cNvSpPr>
              <a:spLocks noChangeShapeType="1"/>
            </p:cNvSpPr>
            <p:nvPr/>
          </p:nvSpPr>
          <p:spPr bwMode="auto">
            <a:xfrm>
              <a:off x="2655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80" name="Line 74"/>
            <p:cNvSpPr>
              <a:spLocks noChangeShapeType="1"/>
            </p:cNvSpPr>
            <p:nvPr/>
          </p:nvSpPr>
          <p:spPr bwMode="auto">
            <a:xfrm>
              <a:off x="2733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81" name="Line 75"/>
            <p:cNvSpPr>
              <a:spLocks noChangeShapeType="1"/>
            </p:cNvSpPr>
            <p:nvPr/>
          </p:nvSpPr>
          <p:spPr bwMode="auto">
            <a:xfrm>
              <a:off x="2811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82" name="Line 76"/>
            <p:cNvSpPr>
              <a:spLocks noChangeShapeType="1"/>
            </p:cNvSpPr>
            <p:nvPr/>
          </p:nvSpPr>
          <p:spPr bwMode="auto">
            <a:xfrm>
              <a:off x="2889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83" name="Line 77"/>
            <p:cNvSpPr>
              <a:spLocks noChangeShapeType="1"/>
            </p:cNvSpPr>
            <p:nvPr/>
          </p:nvSpPr>
          <p:spPr bwMode="auto">
            <a:xfrm>
              <a:off x="2966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84" name="Line 78"/>
            <p:cNvSpPr>
              <a:spLocks noChangeShapeType="1"/>
            </p:cNvSpPr>
            <p:nvPr/>
          </p:nvSpPr>
          <p:spPr bwMode="auto">
            <a:xfrm>
              <a:off x="3044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85" name="Line 79"/>
            <p:cNvSpPr>
              <a:spLocks noChangeShapeType="1"/>
            </p:cNvSpPr>
            <p:nvPr/>
          </p:nvSpPr>
          <p:spPr bwMode="auto">
            <a:xfrm>
              <a:off x="3122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86" name="Line 80"/>
            <p:cNvSpPr>
              <a:spLocks noChangeShapeType="1"/>
            </p:cNvSpPr>
            <p:nvPr/>
          </p:nvSpPr>
          <p:spPr bwMode="auto">
            <a:xfrm>
              <a:off x="3200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87" name="Line 81"/>
            <p:cNvSpPr>
              <a:spLocks noChangeShapeType="1"/>
            </p:cNvSpPr>
            <p:nvPr/>
          </p:nvSpPr>
          <p:spPr bwMode="auto">
            <a:xfrm>
              <a:off x="3277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88" name="Line 82"/>
            <p:cNvSpPr>
              <a:spLocks noChangeShapeType="1"/>
            </p:cNvSpPr>
            <p:nvPr/>
          </p:nvSpPr>
          <p:spPr bwMode="auto">
            <a:xfrm>
              <a:off x="3355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89" name="Line 83"/>
            <p:cNvSpPr>
              <a:spLocks noChangeShapeType="1"/>
            </p:cNvSpPr>
            <p:nvPr/>
          </p:nvSpPr>
          <p:spPr bwMode="auto">
            <a:xfrm>
              <a:off x="3433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90" name="Line 84"/>
            <p:cNvSpPr>
              <a:spLocks noChangeShapeType="1"/>
            </p:cNvSpPr>
            <p:nvPr/>
          </p:nvSpPr>
          <p:spPr bwMode="auto">
            <a:xfrm>
              <a:off x="3511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91" name="Line 85"/>
            <p:cNvSpPr>
              <a:spLocks noChangeShapeType="1"/>
            </p:cNvSpPr>
            <p:nvPr/>
          </p:nvSpPr>
          <p:spPr bwMode="auto">
            <a:xfrm>
              <a:off x="3588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92" name="Line 86"/>
            <p:cNvSpPr>
              <a:spLocks noChangeShapeType="1"/>
            </p:cNvSpPr>
            <p:nvPr/>
          </p:nvSpPr>
          <p:spPr bwMode="auto">
            <a:xfrm>
              <a:off x="3666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93" name="Line 87"/>
            <p:cNvSpPr>
              <a:spLocks noChangeShapeType="1"/>
            </p:cNvSpPr>
            <p:nvPr/>
          </p:nvSpPr>
          <p:spPr bwMode="auto">
            <a:xfrm>
              <a:off x="711" y="2389"/>
              <a:ext cx="4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94" name="Line 88"/>
            <p:cNvSpPr>
              <a:spLocks noChangeShapeType="1"/>
            </p:cNvSpPr>
            <p:nvPr/>
          </p:nvSpPr>
          <p:spPr bwMode="auto">
            <a:xfrm>
              <a:off x="3744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95" name="Line 89"/>
            <p:cNvSpPr>
              <a:spLocks noChangeShapeType="1"/>
            </p:cNvSpPr>
            <p:nvPr/>
          </p:nvSpPr>
          <p:spPr bwMode="auto">
            <a:xfrm>
              <a:off x="3822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96" name="Line 90"/>
            <p:cNvSpPr>
              <a:spLocks noChangeShapeType="1"/>
            </p:cNvSpPr>
            <p:nvPr/>
          </p:nvSpPr>
          <p:spPr bwMode="auto">
            <a:xfrm>
              <a:off x="3977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97" name="Line 91"/>
            <p:cNvSpPr>
              <a:spLocks noChangeShapeType="1"/>
            </p:cNvSpPr>
            <p:nvPr/>
          </p:nvSpPr>
          <p:spPr bwMode="auto">
            <a:xfrm>
              <a:off x="4055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98" name="Line 92"/>
            <p:cNvSpPr>
              <a:spLocks noChangeShapeType="1"/>
            </p:cNvSpPr>
            <p:nvPr/>
          </p:nvSpPr>
          <p:spPr bwMode="auto">
            <a:xfrm>
              <a:off x="4133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799" name="Line 93"/>
            <p:cNvSpPr>
              <a:spLocks noChangeShapeType="1"/>
            </p:cNvSpPr>
            <p:nvPr/>
          </p:nvSpPr>
          <p:spPr bwMode="auto">
            <a:xfrm>
              <a:off x="4211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00" name="Line 94"/>
            <p:cNvSpPr>
              <a:spLocks noChangeShapeType="1"/>
            </p:cNvSpPr>
            <p:nvPr/>
          </p:nvSpPr>
          <p:spPr bwMode="auto">
            <a:xfrm>
              <a:off x="4288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01" name="Line 95"/>
            <p:cNvSpPr>
              <a:spLocks noChangeShapeType="1"/>
            </p:cNvSpPr>
            <p:nvPr/>
          </p:nvSpPr>
          <p:spPr bwMode="auto">
            <a:xfrm>
              <a:off x="4366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02" name="Line 96"/>
            <p:cNvSpPr>
              <a:spLocks noChangeShapeType="1"/>
            </p:cNvSpPr>
            <p:nvPr/>
          </p:nvSpPr>
          <p:spPr bwMode="auto">
            <a:xfrm>
              <a:off x="4444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03" name="Line 97"/>
            <p:cNvSpPr>
              <a:spLocks noChangeShapeType="1"/>
            </p:cNvSpPr>
            <p:nvPr/>
          </p:nvSpPr>
          <p:spPr bwMode="auto">
            <a:xfrm>
              <a:off x="4522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04" name="Line 98"/>
            <p:cNvSpPr>
              <a:spLocks noChangeShapeType="1"/>
            </p:cNvSpPr>
            <p:nvPr/>
          </p:nvSpPr>
          <p:spPr bwMode="auto">
            <a:xfrm>
              <a:off x="4599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05" name="Line 99"/>
            <p:cNvSpPr>
              <a:spLocks noChangeShapeType="1"/>
            </p:cNvSpPr>
            <p:nvPr/>
          </p:nvSpPr>
          <p:spPr bwMode="auto">
            <a:xfrm>
              <a:off x="4677" y="2116"/>
              <a:ext cx="0" cy="17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06" name="Line 100"/>
            <p:cNvSpPr>
              <a:spLocks noChangeShapeType="1"/>
            </p:cNvSpPr>
            <p:nvPr/>
          </p:nvSpPr>
          <p:spPr bwMode="auto">
            <a:xfrm>
              <a:off x="5261" y="2116"/>
              <a:ext cx="0" cy="17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07" name="Rectangle 101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2461" y="2272"/>
              <a:ext cx="233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08" name="Rectangle 102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2616" y="2272"/>
              <a:ext cx="234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09" name="Rectangle 103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2772" y="2272"/>
              <a:ext cx="233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10" name="Rectangle 104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2927" y="2272"/>
              <a:ext cx="234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10</a:t>
              </a:r>
            </a:p>
          </p:txBody>
        </p:sp>
        <p:sp>
          <p:nvSpPr>
            <p:cNvPr id="2035811" name="Rectangle 105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3083" y="2272"/>
              <a:ext cx="233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12" name="Rectangle 106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3238" y="2272"/>
              <a:ext cx="234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13" name="Rectangle 107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3394" y="2272"/>
              <a:ext cx="233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20</a:t>
              </a:r>
            </a:p>
          </p:txBody>
        </p:sp>
        <p:sp>
          <p:nvSpPr>
            <p:cNvPr id="2035814" name="Rectangle 108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3550" y="2272"/>
              <a:ext cx="233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15" name="Rectangle 109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3705" y="2272"/>
              <a:ext cx="233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16" name="Rectangle 110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3861" y="2272"/>
              <a:ext cx="233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30</a:t>
              </a:r>
            </a:p>
          </p:txBody>
        </p:sp>
        <p:sp>
          <p:nvSpPr>
            <p:cNvPr id="2035817" name="Rectangle 111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4016" y="2272"/>
              <a:ext cx="234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18" name="Rectangle 112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4172" y="2272"/>
              <a:ext cx="233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         40</a:t>
              </a:r>
            </a:p>
          </p:txBody>
        </p:sp>
        <p:sp>
          <p:nvSpPr>
            <p:cNvPr id="2035819" name="Rectangle 113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4327" y="2272"/>
              <a:ext cx="234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20" name="Rectangle 114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4483" y="2272"/>
              <a:ext cx="233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21" name="Line 115"/>
            <p:cNvSpPr>
              <a:spLocks noChangeShapeType="1"/>
            </p:cNvSpPr>
            <p:nvPr/>
          </p:nvSpPr>
          <p:spPr bwMode="auto">
            <a:xfrm>
              <a:off x="730" y="3875"/>
              <a:ext cx="4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22" name="Line 116"/>
            <p:cNvSpPr>
              <a:spLocks noChangeShapeType="1"/>
            </p:cNvSpPr>
            <p:nvPr/>
          </p:nvSpPr>
          <p:spPr bwMode="auto">
            <a:xfrm>
              <a:off x="711" y="2547"/>
              <a:ext cx="4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23" name="Line 117"/>
            <p:cNvSpPr>
              <a:spLocks noChangeShapeType="1"/>
            </p:cNvSpPr>
            <p:nvPr/>
          </p:nvSpPr>
          <p:spPr bwMode="auto">
            <a:xfrm>
              <a:off x="711" y="2703"/>
              <a:ext cx="4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24" name="Line 118"/>
            <p:cNvSpPr>
              <a:spLocks noChangeShapeType="1"/>
            </p:cNvSpPr>
            <p:nvPr/>
          </p:nvSpPr>
          <p:spPr bwMode="auto">
            <a:xfrm>
              <a:off x="711" y="2859"/>
              <a:ext cx="4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25" name="Line 119"/>
            <p:cNvSpPr>
              <a:spLocks noChangeShapeType="1"/>
            </p:cNvSpPr>
            <p:nvPr/>
          </p:nvSpPr>
          <p:spPr bwMode="auto">
            <a:xfrm>
              <a:off x="711" y="3015"/>
              <a:ext cx="4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26" name="Line 120"/>
            <p:cNvSpPr>
              <a:spLocks noChangeShapeType="1"/>
            </p:cNvSpPr>
            <p:nvPr/>
          </p:nvSpPr>
          <p:spPr bwMode="auto">
            <a:xfrm>
              <a:off x="711" y="3172"/>
              <a:ext cx="4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27" name="Line 121"/>
            <p:cNvSpPr>
              <a:spLocks noChangeShapeType="1"/>
            </p:cNvSpPr>
            <p:nvPr/>
          </p:nvSpPr>
          <p:spPr bwMode="auto">
            <a:xfrm>
              <a:off x="711" y="3328"/>
              <a:ext cx="4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28" name="Line 122"/>
            <p:cNvSpPr>
              <a:spLocks noChangeShapeType="1"/>
            </p:cNvSpPr>
            <p:nvPr/>
          </p:nvSpPr>
          <p:spPr bwMode="auto">
            <a:xfrm>
              <a:off x="711" y="3484"/>
              <a:ext cx="45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29" name="Rectangle 123"/>
            <p:cNvSpPr>
              <a:spLocks noChangeArrowheads="1"/>
            </p:cNvSpPr>
            <p:nvPr/>
          </p:nvSpPr>
          <p:spPr bwMode="auto">
            <a:xfrm>
              <a:off x="816" y="3328"/>
              <a:ext cx="81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>
                  <a:solidFill>
                    <a:srgbClr val="000000"/>
                  </a:solidFill>
                  <a:latin typeface="Angsana New" pitchFamily="18" charset="-34"/>
                </a:rPr>
                <a:t>เสร็จ,วาง F/G ลงใน Pallet</a:t>
              </a:r>
            </a:p>
          </p:txBody>
        </p:sp>
        <p:sp>
          <p:nvSpPr>
            <p:cNvPr id="2035830" name="Rectangle 124"/>
            <p:cNvSpPr>
              <a:spLocks noChangeArrowheads="1"/>
            </p:cNvSpPr>
            <p:nvPr/>
          </p:nvSpPr>
          <p:spPr bwMode="auto">
            <a:xfrm>
              <a:off x="1955" y="2547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</a:p>
          </p:txBody>
        </p:sp>
        <p:sp>
          <p:nvSpPr>
            <p:cNvPr id="2035831" name="Rectangle 125"/>
            <p:cNvSpPr>
              <a:spLocks noChangeArrowheads="1"/>
            </p:cNvSpPr>
            <p:nvPr/>
          </p:nvSpPr>
          <p:spPr bwMode="auto">
            <a:xfrm>
              <a:off x="1955" y="2703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3</a:t>
              </a:r>
            </a:p>
          </p:txBody>
        </p:sp>
        <p:sp>
          <p:nvSpPr>
            <p:cNvPr id="2035832" name="Rectangle 126"/>
            <p:cNvSpPr>
              <a:spLocks noChangeArrowheads="1"/>
            </p:cNvSpPr>
            <p:nvPr/>
          </p:nvSpPr>
          <p:spPr bwMode="auto">
            <a:xfrm>
              <a:off x="1955" y="2859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</a:p>
          </p:txBody>
        </p:sp>
        <p:sp>
          <p:nvSpPr>
            <p:cNvPr id="2035833" name="Rectangle 127"/>
            <p:cNvSpPr>
              <a:spLocks noChangeArrowheads="1"/>
            </p:cNvSpPr>
            <p:nvPr/>
          </p:nvSpPr>
          <p:spPr bwMode="auto">
            <a:xfrm>
              <a:off x="1955" y="3015"/>
              <a:ext cx="156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5</a:t>
              </a:r>
            </a:p>
          </p:txBody>
        </p:sp>
        <p:sp>
          <p:nvSpPr>
            <p:cNvPr id="2035834" name="Rectangle 128"/>
            <p:cNvSpPr>
              <a:spLocks noChangeArrowheads="1"/>
            </p:cNvSpPr>
            <p:nvPr/>
          </p:nvSpPr>
          <p:spPr bwMode="auto">
            <a:xfrm>
              <a:off x="1955" y="3172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8</a:t>
              </a:r>
            </a:p>
          </p:txBody>
        </p:sp>
        <p:sp>
          <p:nvSpPr>
            <p:cNvPr id="2035835" name="Rectangle 129"/>
            <p:cNvSpPr>
              <a:spLocks noChangeArrowheads="1"/>
            </p:cNvSpPr>
            <p:nvPr/>
          </p:nvSpPr>
          <p:spPr bwMode="auto">
            <a:xfrm>
              <a:off x="2111" y="2547"/>
              <a:ext cx="15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8</a:t>
              </a:r>
            </a:p>
          </p:txBody>
        </p:sp>
        <p:sp>
          <p:nvSpPr>
            <p:cNvPr id="2035836" name="Rectangle 130"/>
            <p:cNvSpPr>
              <a:spLocks noChangeArrowheads="1"/>
            </p:cNvSpPr>
            <p:nvPr/>
          </p:nvSpPr>
          <p:spPr bwMode="auto">
            <a:xfrm>
              <a:off x="2111" y="2703"/>
              <a:ext cx="15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11</a:t>
              </a:r>
            </a:p>
          </p:txBody>
        </p:sp>
        <p:sp>
          <p:nvSpPr>
            <p:cNvPr id="2035837" name="Rectangle 131"/>
            <p:cNvSpPr>
              <a:spLocks noChangeArrowheads="1"/>
            </p:cNvSpPr>
            <p:nvPr/>
          </p:nvSpPr>
          <p:spPr bwMode="auto">
            <a:xfrm>
              <a:off x="2111" y="2859"/>
              <a:ext cx="15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9</a:t>
              </a:r>
            </a:p>
          </p:txBody>
        </p:sp>
        <p:sp>
          <p:nvSpPr>
            <p:cNvPr id="2035838" name="Rectangle 132"/>
            <p:cNvSpPr>
              <a:spLocks noChangeArrowheads="1"/>
            </p:cNvSpPr>
            <p:nvPr/>
          </p:nvSpPr>
          <p:spPr bwMode="auto">
            <a:xfrm>
              <a:off x="2111" y="3015"/>
              <a:ext cx="155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5</a:t>
              </a:r>
            </a:p>
          </p:txBody>
        </p:sp>
        <p:sp>
          <p:nvSpPr>
            <p:cNvPr id="2035839" name="Rectangle 133"/>
            <p:cNvSpPr>
              <a:spLocks noChangeArrowheads="1"/>
            </p:cNvSpPr>
            <p:nvPr/>
          </p:nvSpPr>
          <p:spPr bwMode="auto">
            <a:xfrm>
              <a:off x="2111" y="3172"/>
              <a:ext cx="15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21</a:t>
              </a:r>
            </a:p>
          </p:txBody>
        </p:sp>
        <p:sp>
          <p:nvSpPr>
            <p:cNvPr id="2035840" name="Rectangle 134"/>
            <p:cNvSpPr>
              <a:spLocks noChangeArrowheads="1"/>
            </p:cNvSpPr>
            <p:nvPr/>
          </p:nvSpPr>
          <p:spPr bwMode="auto">
            <a:xfrm>
              <a:off x="2266" y="2859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35841" name="Rectangle 135"/>
            <p:cNvSpPr>
              <a:spLocks noChangeArrowheads="1"/>
            </p:cNvSpPr>
            <p:nvPr/>
          </p:nvSpPr>
          <p:spPr bwMode="auto">
            <a:xfrm>
              <a:off x="2266" y="3015"/>
              <a:ext cx="156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35842" name="Rectangle 136"/>
            <p:cNvSpPr>
              <a:spLocks noChangeArrowheads="1"/>
            </p:cNvSpPr>
            <p:nvPr/>
          </p:nvSpPr>
          <p:spPr bwMode="auto">
            <a:xfrm>
              <a:off x="2266" y="3172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35843" name="Rectangle 137"/>
            <p:cNvSpPr>
              <a:spLocks noChangeArrowheads="1"/>
            </p:cNvSpPr>
            <p:nvPr/>
          </p:nvSpPr>
          <p:spPr bwMode="auto">
            <a:xfrm>
              <a:off x="2266" y="3328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35844" name="Rectangle 138"/>
            <p:cNvSpPr>
              <a:spLocks noChangeArrowheads="1"/>
            </p:cNvSpPr>
            <p:nvPr/>
          </p:nvSpPr>
          <p:spPr bwMode="auto">
            <a:xfrm>
              <a:off x="1955" y="3328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35845" name="Rectangle 139"/>
            <p:cNvSpPr>
              <a:spLocks noChangeArrowheads="1"/>
            </p:cNvSpPr>
            <p:nvPr/>
          </p:nvSpPr>
          <p:spPr bwMode="auto">
            <a:xfrm>
              <a:off x="2266" y="2547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35846" name="Rectangle 140"/>
            <p:cNvSpPr>
              <a:spLocks noChangeArrowheads="1"/>
            </p:cNvSpPr>
            <p:nvPr/>
          </p:nvSpPr>
          <p:spPr bwMode="auto">
            <a:xfrm>
              <a:off x="2266" y="2703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35847" name="Rectangle 141"/>
            <p:cNvSpPr>
              <a:spLocks noChangeArrowheads="1"/>
            </p:cNvSpPr>
            <p:nvPr/>
          </p:nvSpPr>
          <p:spPr bwMode="auto">
            <a:xfrm>
              <a:off x="1955" y="3915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22</a:t>
              </a:r>
            </a:p>
          </p:txBody>
        </p:sp>
        <p:sp>
          <p:nvSpPr>
            <p:cNvPr id="2035848" name="Rectangle 142"/>
            <p:cNvSpPr>
              <a:spLocks noChangeArrowheads="1"/>
            </p:cNvSpPr>
            <p:nvPr/>
          </p:nvSpPr>
          <p:spPr bwMode="auto">
            <a:xfrm>
              <a:off x="2266" y="3915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7</a:t>
              </a:r>
            </a:p>
          </p:txBody>
        </p:sp>
        <p:sp>
          <p:nvSpPr>
            <p:cNvPr id="2035849" name="Rectangle 143"/>
            <p:cNvSpPr>
              <a:spLocks noChangeArrowheads="1"/>
            </p:cNvSpPr>
            <p:nvPr/>
          </p:nvSpPr>
          <p:spPr bwMode="auto">
            <a:xfrm>
              <a:off x="2111" y="3993"/>
              <a:ext cx="155" cy="1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</a:p>
          </p:txBody>
        </p:sp>
        <p:sp>
          <p:nvSpPr>
            <p:cNvPr id="2035850" name="Rectangle 144"/>
            <p:cNvSpPr>
              <a:spLocks noChangeArrowheads="1"/>
            </p:cNvSpPr>
            <p:nvPr/>
          </p:nvSpPr>
          <p:spPr bwMode="auto">
            <a:xfrm>
              <a:off x="1955" y="2389"/>
              <a:ext cx="156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35851" name="Rectangle 145"/>
            <p:cNvSpPr>
              <a:spLocks noChangeArrowheads="1"/>
            </p:cNvSpPr>
            <p:nvPr/>
          </p:nvSpPr>
          <p:spPr bwMode="auto">
            <a:xfrm>
              <a:off x="2266" y="2389"/>
              <a:ext cx="156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</a:p>
          </p:txBody>
        </p:sp>
        <p:sp>
          <p:nvSpPr>
            <p:cNvPr id="2035852" name="Rectangle 146"/>
            <p:cNvSpPr>
              <a:spLocks noChangeArrowheads="1"/>
            </p:cNvSpPr>
            <p:nvPr/>
          </p:nvSpPr>
          <p:spPr bwMode="auto">
            <a:xfrm>
              <a:off x="2111" y="2389"/>
              <a:ext cx="155" cy="1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-</a:t>
              </a:r>
            </a:p>
          </p:txBody>
        </p:sp>
        <p:sp>
          <p:nvSpPr>
            <p:cNvPr id="2035853" name="Rectangle 147"/>
            <p:cNvSpPr>
              <a:spLocks noChangeArrowheads="1"/>
            </p:cNvSpPr>
            <p:nvPr/>
          </p:nvSpPr>
          <p:spPr bwMode="auto">
            <a:xfrm>
              <a:off x="2111" y="3328"/>
              <a:ext cx="15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-</a:t>
              </a:r>
            </a:p>
          </p:txBody>
        </p:sp>
        <p:sp>
          <p:nvSpPr>
            <p:cNvPr id="2035854" name="Line 148"/>
            <p:cNvSpPr>
              <a:spLocks noChangeShapeType="1"/>
            </p:cNvSpPr>
            <p:nvPr/>
          </p:nvSpPr>
          <p:spPr bwMode="auto">
            <a:xfrm>
              <a:off x="1955" y="2233"/>
              <a:ext cx="4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55" name="Rectangle 149"/>
            <p:cNvSpPr>
              <a:spLocks noChangeArrowheads="1"/>
            </p:cNvSpPr>
            <p:nvPr/>
          </p:nvSpPr>
          <p:spPr bwMode="auto">
            <a:xfrm>
              <a:off x="1994" y="2116"/>
              <a:ext cx="428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 b="1">
                  <a:solidFill>
                    <a:srgbClr val="000000"/>
                  </a:solidFill>
                  <a:latin typeface="Angsana New" pitchFamily="18" charset="-34"/>
                </a:rPr>
                <a:t>วินาที (SEC.)</a:t>
              </a:r>
            </a:p>
          </p:txBody>
        </p:sp>
        <p:sp>
          <p:nvSpPr>
            <p:cNvPr id="2035856" name="Rectangle 150"/>
            <p:cNvSpPr>
              <a:spLocks noChangeArrowheads="1"/>
            </p:cNvSpPr>
            <p:nvPr/>
          </p:nvSpPr>
          <p:spPr bwMode="auto">
            <a:xfrm>
              <a:off x="1955" y="2233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900" b="1">
                  <a:solidFill>
                    <a:srgbClr val="000000"/>
                  </a:solidFill>
                  <a:latin typeface="Angsana New" pitchFamily="18" charset="-34"/>
                </a:rPr>
                <a:t>คน</a:t>
              </a:r>
              <a:endParaRPr lang="en-US" sz="900" b="1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57" name="Rectangle 151"/>
            <p:cNvSpPr>
              <a:spLocks noChangeArrowheads="1"/>
            </p:cNvSpPr>
            <p:nvPr/>
          </p:nvSpPr>
          <p:spPr bwMode="auto">
            <a:xfrm>
              <a:off x="2111" y="2233"/>
              <a:ext cx="155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900" b="1">
                  <a:solidFill>
                    <a:srgbClr val="000000"/>
                  </a:solidFill>
                  <a:latin typeface="Angsana New" pitchFamily="18" charset="-34"/>
                </a:rPr>
                <a:t>เครื่อง</a:t>
              </a:r>
              <a:endParaRPr lang="en-US" sz="900" b="1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58" name="Rectangle 152"/>
            <p:cNvSpPr>
              <a:spLocks noChangeArrowheads="1"/>
            </p:cNvSpPr>
            <p:nvPr/>
          </p:nvSpPr>
          <p:spPr bwMode="auto">
            <a:xfrm>
              <a:off x="2266" y="2233"/>
              <a:ext cx="156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900" b="1">
                  <a:solidFill>
                    <a:srgbClr val="000000"/>
                  </a:solidFill>
                  <a:latin typeface="Angsana New" pitchFamily="18" charset="-34"/>
                </a:rPr>
                <a:t>เดิน</a:t>
              </a:r>
              <a:endParaRPr lang="en-US" sz="900" b="1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59" name="Rectangle 153"/>
            <p:cNvSpPr>
              <a:spLocks noChangeArrowheads="1"/>
            </p:cNvSpPr>
            <p:nvPr/>
          </p:nvSpPr>
          <p:spPr bwMode="auto">
            <a:xfrm>
              <a:off x="3316" y="2116"/>
              <a:ext cx="428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1000" b="1">
                  <a:solidFill>
                    <a:srgbClr val="000000"/>
                  </a:solidFill>
                  <a:latin typeface="Angsana New" pitchFamily="18" charset="-34"/>
                </a:rPr>
                <a:t>ภาพแสดงงานรวม</a:t>
              </a:r>
              <a:endParaRPr lang="en-US" sz="1000" b="1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60" name="Rectangle 154"/>
            <p:cNvSpPr>
              <a:spLocks noChangeArrowheads="1"/>
            </p:cNvSpPr>
            <p:nvPr/>
          </p:nvSpPr>
          <p:spPr bwMode="auto">
            <a:xfrm>
              <a:off x="2422" y="1724"/>
              <a:ext cx="1439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00"/>
                  </a:solidFill>
                  <a:latin typeface="Angsana New" pitchFamily="18" charset="-34"/>
                </a:rPr>
                <a:t>HYOJUN SAGYO KUMIAWASE HYO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>
                  <a:solidFill>
                    <a:srgbClr val="000000"/>
                  </a:solidFill>
                  <a:latin typeface="Angsana New" pitchFamily="18" charset="-34"/>
                </a:rPr>
                <a:t>ตารางรวมงานมาตรฐาน</a:t>
              </a:r>
            </a:p>
          </p:txBody>
        </p:sp>
        <p:sp>
          <p:nvSpPr>
            <p:cNvPr id="2035861" name="Rectangle 155"/>
            <p:cNvSpPr>
              <a:spLocks noChangeArrowheads="1"/>
            </p:cNvSpPr>
            <p:nvPr/>
          </p:nvSpPr>
          <p:spPr bwMode="auto">
            <a:xfrm>
              <a:off x="1450" y="1529"/>
              <a:ext cx="194" cy="1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J 97</a:t>
              </a:r>
            </a:p>
          </p:txBody>
        </p:sp>
        <p:sp>
          <p:nvSpPr>
            <p:cNvPr id="2035862" name="Rectangle 156"/>
            <p:cNvSpPr>
              <a:spLocks noChangeArrowheads="1"/>
            </p:cNvSpPr>
            <p:nvPr/>
          </p:nvSpPr>
          <p:spPr bwMode="auto">
            <a:xfrm>
              <a:off x="1489" y="1763"/>
              <a:ext cx="505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400">
                  <a:solidFill>
                    <a:srgbClr val="000000"/>
                  </a:solidFill>
                  <a:latin typeface="Angsana New" pitchFamily="18" charset="-34"/>
                </a:rPr>
                <a:t>NMF 001-27200-F</a:t>
              </a:r>
            </a:p>
          </p:txBody>
        </p:sp>
        <p:sp>
          <p:nvSpPr>
            <p:cNvPr id="2035863" name="Rectangle 157"/>
            <p:cNvSpPr>
              <a:spLocks noChangeArrowheads="1"/>
            </p:cNvSpPr>
            <p:nvPr/>
          </p:nvSpPr>
          <p:spPr bwMode="auto">
            <a:xfrm>
              <a:off x="1411" y="1921"/>
              <a:ext cx="739" cy="1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1400" b="1">
                  <a:solidFill>
                    <a:srgbClr val="000000"/>
                  </a:solidFill>
                  <a:latin typeface="Angsana New" pitchFamily="18" charset="-34"/>
                </a:rPr>
                <a:t>รินฟอร์ส</a:t>
              </a:r>
              <a:endParaRPr lang="en-US" sz="1600" b="1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64" name="Line 158"/>
            <p:cNvSpPr>
              <a:spLocks noChangeShapeType="1"/>
            </p:cNvSpPr>
            <p:nvPr/>
          </p:nvSpPr>
          <p:spPr bwMode="auto">
            <a:xfrm>
              <a:off x="2111" y="1803"/>
              <a:ext cx="31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65" name="Rectangle 159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2150" y="1568"/>
              <a:ext cx="233" cy="195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900">
                  <a:solidFill>
                    <a:srgbClr val="000000"/>
                  </a:solidFill>
                  <a:latin typeface="Angsana New" pitchFamily="18" charset="-34"/>
                </a:rPr>
                <a:t>ลำดับของ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900">
                  <a:solidFill>
                    <a:srgbClr val="000000"/>
                  </a:solidFill>
                  <a:latin typeface="Angsana New" pitchFamily="18" charset="-34"/>
                </a:rPr>
                <a:t>พนักงาน</a:t>
              </a:r>
            </a:p>
          </p:txBody>
        </p:sp>
        <p:sp>
          <p:nvSpPr>
            <p:cNvPr id="2035866" name="Rectangle 160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2150" y="1842"/>
              <a:ext cx="233" cy="196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800">
                  <a:solidFill>
                    <a:srgbClr val="000000"/>
                  </a:solidFill>
                  <a:latin typeface="Angsana New" pitchFamily="18" charset="-34"/>
                </a:rPr>
                <a:t>1/1</a:t>
              </a:r>
            </a:p>
          </p:txBody>
        </p:sp>
        <p:sp>
          <p:nvSpPr>
            <p:cNvPr id="2035867" name="Rectangle 161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3938" y="1568"/>
              <a:ext cx="234" cy="195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900">
                  <a:solidFill>
                    <a:srgbClr val="000000"/>
                  </a:solidFill>
                  <a:latin typeface="Angsana New" pitchFamily="18" charset="-34"/>
                </a:rPr>
                <a:t>จำนวนที่ต้องการ</a:t>
              </a:r>
            </a:p>
          </p:txBody>
        </p:sp>
        <p:sp>
          <p:nvSpPr>
            <p:cNvPr id="2035868" name="Rectangle 162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3938" y="1881"/>
              <a:ext cx="234" cy="196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TAKT TIME</a:t>
              </a:r>
            </a:p>
          </p:txBody>
        </p:sp>
        <p:sp>
          <p:nvSpPr>
            <p:cNvPr id="2035869" name="Line 163"/>
            <p:cNvSpPr>
              <a:spLocks noChangeShapeType="1"/>
            </p:cNvSpPr>
            <p:nvPr/>
          </p:nvSpPr>
          <p:spPr bwMode="auto">
            <a:xfrm>
              <a:off x="1450" y="3875"/>
              <a:ext cx="0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70" name="Line 164"/>
            <p:cNvSpPr>
              <a:spLocks noChangeShapeType="1"/>
            </p:cNvSpPr>
            <p:nvPr/>
          </p:nvSpPr>
          <p:spPr bwMode="auto">
            <a:xfrm>
              <a:off x="1450" y="4110"/>
              <a:ext cx="9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71" name="Line 165"/>
            <p:cNvSpPr>
              <a:spLocks noChangeShapeType="1"/>
            </p:cNvSpPr>
            <p:nvPr/>
          </p:nvSpPr>
          <p:spPr bwMode="auto">
            <a:xfrm>
              <a:off x="2422" y="3875"/>
              <a:ext cx="0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72" name="Line 166"/>
            <p:cNvSpPr>
              <a:spLocks noChangeShapeType="1"/>
            </p:cNvSpPr>
            <p:nvPr/>
          </p:nvSpPr>
          <p:spPr bwMode="auto">
            <a:xfrm>
              <a:off x="2266" y="3875"/>
              <a:ext cx="0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73" name="Line 167"/>
            <p:cNvSpPr>
              <a:spLocks noChangeShapeType="1"/>
            </p:cNvSpPr>
            <p:nvPr/>
          </p:nvSpPr>
          <p:spPr bwMode="auto">
            <a:xfrm>
              <a:off x="2111" y="3875"/>
              <a:ext cx="0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74" name="Line 168"/>
            <p:cNvSpPr>
              <a:spLocks noChangeShapeType="1"/>
            </p:cNvSpPr>
            <p:nvPr/>
          </p:nvSpPr>
          <p:spPr bwMode="auto">
            <a:xfrm>
              <a:off x="1955" y="3875"/>
              <a:ext cx="0" cy="2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75" name="Line 169"/>
            <p:cNvSpPr>
              <a:spLocks noChangeShapeType="1"/>
            </p:cNvSpPr>
            <p:nvPr/>
          </p:nvSpPr>
          <p:spPr bwMode="auto">
            <a:xfrm>
              <a:off x="2111" y="3993"/>
              <a:ext cx="1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76" name="Rectangle 170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2150" y="3915"/>
              <a:ext cx="77" cy="78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900">
                  <a:solidFill>
                    <a:srgbClr val="000000"/>
                  </a:solidFill>
                  <a:latin typeface="Angsana New" pitchFamily="18" charset="-34"/>
                </a:rPr>
                <a:t>รองาน</a:t>
              </a:r>
            </a:p>
          </p:txBody>
        </p:sp>
        <p:sp>
          <p:nvSpPr>
            <p:cNvPr id="2035877" name="Rectangle 171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4833" y="2154"/>
              <a:ext cx="272" cy="197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900">
                  <a:solidFill>
                    <a:srgbClr val="000000"/>
                  </a:solidFill>
                  <a:latin typeface="Angsana New" pitchFamily="18" charset="-34"/>
                </a:rPr>
                <a:t>หมายเหตุ</a:t>
              </a:r>
            </a:p>
          </p:txBody>
        </p:sp>
        <p:sp>
          <p:nvSpPr>
            <p:cNvPr id="2035878" name="Line 172"/>
            <p:cNvSpPr>
              <a:spLocks noChangeShapeType="1"/>
            </p:cNvSpPr>
            <p:nvPr/>
          </p:nvSpPr>
          <p:spPr bwMode="auto">
            <a:xfrm>
              <a:off x="4794" y="1686"/>
              <a:ext cx="2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79" name="Line 173"/>
            <p:cNvSpPr>
              <a:spLocks noChangeShapeType="1"/>
            </p:cNvSpPr>
            <p:nvPr/>
          </p:nvSpPr>
          <p:spPr bwMode="auto">
            <a:xfrm>
              <a:off x="4794" y="1842"/>
              <a:ext cx="23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80" name="Line 174"/>
            <p:cNvSpPr>
              <a:spLocks noChangeShapeType="1"/>
            </p:cNvSpPr>
            <p:nvPr/>
          </p:nvSpPr>
          <p:spPr bwMode="auto">
            <a:xfrm flipV="1">
              <a:off x="4794" y="1959"/>
              <a:ext cx="27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81" name="Line 175"/>
            <p:cNvSpPr>
              <a:spLocks noChangeShapeType="1"/>
            </p:cNvSpPr>
            <p:nvPr/>
          </p:nvSpPr>
          <p:spPr bwMode="auto">
            <a:xfrm>
              <a:off x="4821" y="1959"/>
              <a:ext cx="29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82" name="Line 176"/>
            <p:cNvSpPr>
              <a:spLocks noChangeShapeType="1"/>
            </p:cNvSpPr>
            <p:nvPr/>
          </p:nvSpPr>
          <p:spPr bwMode="auto">
            <a:xfrm flipV="1">
              <a:off x="4850" y="1959"/>
              <a:ext cx="27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83" name="Line 177"/>
            <p:cNvSpPr>
              <a:spLocks noChangeShapeType="1"/>
            </p:cNvSpPr>
            <p:nvPr/>
          </p:nvSpPr>
          <p:spPr bwMode="auto">
            <a:xfrm flipV="1">
              <a:off x="4905" y="1959"/>
              <a:ext cx="27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84" name="Line 178"/>
            <p:cNvSpPr>
              <a:spLocks noChangeShapeType="1"/>
            </p:cNvSpPr>
            <p:nvPr/>
          </p:nvSpPr>
          <p:spPr bwMode="auto">
            <a:xfrm flipV="1">
              <a:off x="4961" y="1959"/>
              <a:ext cx="27" cy="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85" name="Line 179"/>
            <p:cNvSpPr>
              <a:spLocks noChangeShapeType="1"/>
            </p:cNvSpPr>
            <p:nvPr/>
          </p:nvSpPr>
          <p:spPr bwMode="auto">
            <a:xfrm>
              <a:off x="4877" y="1959"/>
              <a:ext cx="28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86" name="Line 180"/>
            <p:cNvSpPr>
              <a:spLocks noChangeShapeType="1"/>
            </p:cNvSpPr>
            <p:nvPr/>
          </p:nvSpPr>
          <p:spPr bwMode="auto">
            <a:xfrm>
              <a:off x="4932" y="1959"/>
              <a:ext cx="29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87" name="Rectangle 181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5027" y="1568"/>
              <a:ext cx="234" cy="195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1200">
                  <a:solidFill>
                    <a:srgbClr val="000000"/>
                  </a:solidFill>
                  <a:latin typeface="Angsana New" pitchFamily="18" charset="-34"/>
                </a:rPr>
                <a:t>คน</a:t>
              </a:r>
            </a:p>
          </p:txBody>
        </p:sp>
        <p:sp>
          <p:nvSpPr>
            <p:cNvPr id="2035888" name="Rectangle 182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5027" y="1724"/>
              <a:ext cx="234" cy="197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1200">
                  <a:solidFill>
                    <a:srgbClr val="000000"/>
                  </a:solidFill>
                  <a:latin typeface="Angsana New" pitchFamily="18" charset="-34"/>
                </a:rPr>
                <a:t>เครื่อง</a:t>
              </a:r>
            </a:p>
          </p:txBody>
        </p:sp>
        <p:sp>
          <p:nvSpPr>
            <p:cNvPr id="2035889" name="Rectangle 183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5027" y="1881"/>
              <a:ext cx="234" cy="196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th-TH" sz="1200">
                  <a:solidFill>
                    <a:srgbClr val="000000"/>
                  </a:solidFill>
                  <a:latin typeface="Angsana New" pitchFamily="18" charset="-34"/>
                </a:rPr>
                <a:t>เดิน</a:t>
              </a:r>
            </a:p>
          </p:txBody>
        </p:sp>
        <p:sp>
          <p:nvSpPr>
            <p:cNvPr id="2035890" name="Rectangle 184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4405" y="1881"/>
              <a:ext cx="233" cy="196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31  SEC.</a:t>
              </a:r>
            </a:p>
          </p:txBody>
        </p:sp>
        <p:sp>
          <p:nvSpPr>
            <p:cNvPr id="2035891" name="Rectangle 185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4872" y="1412"/>
              <a:ext cx="233" cy="79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SYMBOL.</a:t>
              </a:r>
            </a:p>
          </p:txBody>
        </p:sp>
        <p:sp>
          <p:nvSpPr>
            <p:cNvPr id="2035892" name="Rectangle 186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4405" y="1568"/>
              <a:ext cx="233" cy="195"/>
            </a:xfrm>
            <a:prstGeom prst="rect">
              <a:avLst/>
            </a:prstGeom>
            <a:pattFill prst="wdUpDiag">
              <a:fgClr>
                <a:srgbClr val="99CCFF"/>
              </a:fgClr>
              <a:bgClr>
                <a:srgbClr val="99CC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Angsana New" pitchFamily="18" charset="-34"/>
                </a:rPr>
                <a:t>890 PCS.</a:t>
              </a:r>
            </a:p>
          </p:txBody>
        </p:sp>
        <p:sp>
          <p:nvSpPr>
            <p:cNvPr id="2035893" name="Rectangle 188"/>
            <p:cNvSpPr>
              <a:spLocks noChangeArrowheads="1"/>
            </p:cNvSpPr>
            <p:nvPr/>
          </p:nvSpPr>
          <p:spPr bwMode="auto">
            <a:xfrm>
              <a:off x="4327" y="1195"/>
              <a:ext cx="467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2035894" name="Rectangle 189"/>
            <p:cNvSpPr>
              <a:spLocks noChangeArrowheads="1"/>
            </p:cNvSpPr>
            <p:nvPr/>
          </p:nvSpPr>
          <p:spPr bwMode="auto">
            <a:xfrm>
              <a:off x="3861" y="1195"/>
              <a:ext cx="466" cy="1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</a:pP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2035895" name="Rectangle 203"/>
            <p:cNvSpPr>
              <a:spLocks noChangeArrowheads="1"/>
            </p:cNvSpPr>
            <p:nvPr/>
          </p:nvSpPr>
          <p:spPr bwMode="auto">
            <a:xfrm>
              <a:off x="789" y="1177"/>
              <a:ext cx="350" cy="1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40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35896" name="Line 205"/>
            <p:cNvSpPr>
              <a:spLocks noChangeShapeType="1"/>
            </p:cNvSpPr>
            <p:nvPr/>
          </p:nvSpPr>
          <p:spPr bwMode="auto">
            <a:xfrm>
              <a:off x="3900" y="2389"/>
              <a:ext cx="0" cy="14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97" name="Line 206"/>
            <p:cNvSpPr>
              <a:spLocks noChangeShapeType="1"/>
            </p:cNvSpPr>
            <p:nvPr/>
          </p:nvSpPr>
          <p:spPr bwMode="auto">
            <a:xfrm>
              <a:off x="3900" y="2272"/>
              <a:ext cx="0" cy="1721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98" name="Line 207"/>
            <p:cNvSpPr>
              <a:spLocks noChangeShapeType="1"/>
            </p:cNvSpPr>
            <p:nvPr/>
          </p:nvSpPr>
          <p:spPr bwMode="auto">
            <a:xfrm>
              <a:off x="2422" y="2468"/>
              <a:ext cx="3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899" name="Line 208"/>
            <p:cNvSpPr>
              <a:spLocks noChangeShapeType="1"/>
            </p:cNvSpPr>
            <p:nvPr/>
          </p:nvSpPr>
          <p:spPr bwMode="auto">
            <a:xfrm>
              <a:off x="2500" y="2624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00" name="Line 209"/>
            <p:cNvSpPr>
              <a:spLocks noChangeShapeType="1"/>
            </p:cNvSpPr>
            <p:nvPr/>
          </p:nvSpPr>
          <p:spPr bwMode="auto">
            <a:xfrm>
              <a:off x="2811" y="2809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01" name="Line 210"/>
            <p:cNvSpPr>
              <a:spLocks noChangeShapeType="1"/>
            </p:cNvSpPr>
            <p:nvPr/>
          </p:nvSpPr>
          <p:spPr bwMode="auto">
            <a:xfrm>
              <a:off x="3122" y="2937"/>
              <a:ext cx="1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02" name="Line 211"/>
            <p:cNvSpPr>
              <a:spLocks noChangeShapeType="1"/>
            </p:cNvSpPr>
            <p:nvPr/>
          </p:nvSpPr>
          <p:spPr bwMode="auto">
            <a:xfrm>
              <a:off x="3316" y="3094"/>
              <a:ext cx="1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03" name="Line 212"/>
            <p:cNvSpPr>
              <a:spLocks noChangeShapeType="1"/>
            </p:cNvSpPr>
            <p:nvPr/>
          </p:nvSpPr>
          <p:spPr bwMode="auto">
            <a:xfrm>
              <a:off x="3511" y="3250"/>
              <a:ext cx="2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04" name="Line 213"/>
            <p:cNvSpPr>
              <a:spLocks noChangeShapeType="1"/>
            </p:cNvSpPr>
            <p:nvPr/>
          </p:nvSpPr>
          <p:spPr bwMode="auto">
            <a:xfrm>
              <a:off x="3822" y="3407"/>
              <a:ext cx="3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05" name="Line 214"/>
            <p:cNvSpPr>
              <a:spLocks noChangeShapeType="1"/>
            </p:cNvSpPr>
            <p:nvPr/>
          </p:nvSpPr>
          <p:spPr bwMode="auto">
            <a:xfrm>
              <a:off x="3977" y="2272"/>
              <a:ext cx="0" cy="172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06" name="AutoShape 215"/>
            <p:cNvSpPr>
              <a:spLocks noChangeArrowheads="1"/>
            </p:cNvSpPr>
            <p:nvPr/>
          </p:nvSpPr>
          <p:spPr bwMode="auto">
            <a:xfrm>
              <a:off x="3900" y="2428"/>
              <a:ext cx="77" cy="40"/>
            </a:xfrm>
            <a:prstGeom prst="leftRightArrow">
              <a:avLst>
                <a:gd name="adj1" fmla="val 50000"/>
                <a:gd name="adj2" fmla="val 38500"/>
              </a:avLst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35907" name="Rectangle 216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3666" y="2194"/>
              <a:ext cx="234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333399"/>
                  </a:solidFill>
                  <a:latin typeface="Angsana New" pitchFamily="18" charset="-34"/>
                </a:rPr>
                <a:t>CT.= 29</a:t>
              </a:r>
            </a:p>
          </p:txBody>
        </p:sp>
        <p:sp>
          <p:nvSpPr>
            <p:cNvPr id="2035908" name="Rectangle 217" descr="ลายแถบกว้างทแยงมุมขึ้น"/>
            <p:cNvSpPr>
              <a:spLocks noChangeArrowheads="1"/>
            </p:cNvSpPr>
            <p:nvPr/>
          </p:nvSpPr>
          <p:spPr bwMode="auto">
            <a:xfrm>
              <a:off x="3977" y="2194"/>
              <a:ext cx="311" cy="1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FF0000"/>
                  </a:solidFill>
                  <a:latin typeface="Angsana New" pitchFamily="18" charset="-34"/>
                </a:rPr>
                <a:t>TT.= 31</a:t>
              </a:r>
            </a:p>
          </p:txBody>
        </p:sp>
        <p:sp>
          <p:nvSpPr>
            <p:cNvPr id="2035909" name="Line 218"/>
            <p:cNvSpPr>
              <a:spLocks noChangeShapeType="1"/>
            </p:cNvSpPr>
            <p:nvPr/>
          </p:nvSpPr>
          <p:spPr bwMode="auto">
            <a:xfrm flipV="1">
              <a:off x="2772" y="2624"/>
              <a:ext cx="38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10" name="Line 219"/>
            <p:cNvSpPr>
              <a:spLocks noChangeShapeType="1"/>
            </p:cNvSpPr>
            <p:nvPr/>
          </p:nvSpPr>
          <p:spPr bwMode="auto">
            <a:xfrm>
              <a:off x="3120" y="2809"/>
              <a:ext cx="3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11" name="Line 220"/>
            <p:cNvSpPr>
              <a:spLocks noChangeShapeType="1"/>
            </p:cNvSpPr>
            <p:nvPr/>
          </p:nvSpPr>
          <p:spPr bwMode="auto">
            <a:xfrm flipV="1">
              <a:off x="3289" y="2931"/>
              <a:ext cx="3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12" name="Line 221"/>
            <p:cNvSpPr>
              <a:spLocks noChangeShapeType="1"/>
            </p:cNvSpPr>
            <p:nvPr/>
          </p:nvSpPr>
          <p:spPr bwMode="auto">
            <a:xfrm flipV="1">
              <a:off x="3472" y="3094"/>
              <a:ext cx="7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13" name="Line 222"/>
            <p:cNvSpPr>
              <a:spLocks noChangeShapeType="1"/>
            </p:cNvSpPr>
            <p:nvPr/>
          </p:nvSpPr>
          <p:spPr bwMode="auto">
            <a:xfrm flipV="1">
              <a:off x="3666" y="3250"/>
              <a:ext cx="31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14" name="Line 223"/>
            <p:cNvSpPr>
              <a:spLocks noChangeShapeType="1"/>
            </p:cNvSpPr>
            <p:nvPr/>
          </p:nvSpPr>
          <p:spPr bwMode="auto">
            <a:xfrm flipV="1">
              <a:off x="2422" y="3250"/>
              <a:ext cx="15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15" name="Line 224"/>
            <p:cNvSpPr>
              <a:spLocks noChangeShapeType="1"/>
            </p:cNvSpPr>
            <p:nvPr/>
          </p:nvSpPr>
          <p:spPr bwMode="auto">
            <a:xfrm rot="4747970" flipV="1">
              <a:off x="3471" y="3083"/>
              <a:ext cx="23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16" name="Line 225"/>
            <p:cNvSpPr>
              <a:spLocks noChangeShapeType="1"/>
            </p:cNvSpPr>
            <p:nvPr/>
          </p:nvSpPr>
          <p:spPr bwMode="auto">
            <a:xfrm rot="4747970">
              <a:off x="3475" y="3105"/>
              <a:ext cx="22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17" name="Line 226"/>
            <p:cNvSpPr>
              <a:spLocks noChangeShapeType="1"/>
            </p:cNvSpPr>
            <p:nvPr/>
          </p:nvSpPr>
          <p:spPr bwMode="auto">
            <a:xfrm rot="4747970" flipV="1">
              <a:off x="3477" y="3128"/>
              <a:ext cx="23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18" name="Line 227"/>
            <p:cNvSpPr>
              <a:spLocks noChangeShapeType="1"/>
            </p:cNvSpPr>
            <p:nvPr/>
          </p:nvSpPr>
          <p:spPr bwMode="auto">
            <a:xfrm rot="4747970" flipV="1">
              <a:off x="3484" y="3172"/>
              <a:ext cx="23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19" name="Line 228"/>
            <p:cNvSpPr>
              <a:spLocks noChangeShapeType="1"/>
            </p:cNvSpPr>
            <p:nvPr/>
          </p:nvSpPr>
          <p:spPr bwMode="auto">
            <a:xfrm rot="4747970" flipV="1">
              <a:off x="3491" y="3216"/>
              <a:ext cx="22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20" name="Line 229"/>
            <p:cNvSpPr>
              <a:spLocks noChangeShapeType="1"/>
            </p:cNvSpPr>
            <p:nvPr/>
          </p:nvSpPr>
          <p:spPr bwMode="auto">
            <a:xfrm rot="4747970">
              <a:off x="3482" y="3150"/>
              <a:ext cx="22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21" name="Line 230"/>
            <p:cNvSpPr>
              <a:spLocks noChangeShapeType="1"/>
            </p:cNvSpPr>
            <p:nvPr/>
          </p:nvSpPr>
          <p:spPr bwMode="auto">
            <a:xfrm rot="4747970">
              <a:off x="3488" y="3194"/>
              <a:ext cx="22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22" name="Line 231"/>
            <p:cNvSpPr>
              <a:spLocks noChangeShapeType="1"/>
            </p:cNvSpPr>
            <p:nvPr/>
          </p:nvSpPr>
          <p:spPr bwMode="auto">
            <a:xfrm rot="4747970" flipV="1">
              <a:off x="3274" y="2928"/>
              <a:ext cx="23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23" name="Line 232"/>
            <p:cNvSpPr>
              <a:spLocks noChangeShapeType="1"/>
            </p:cNvSpPr>
            <p:nvPr/>
          </p:nvSpPr>
          <p:spPr bwMode="auto">
            <a:xfrm rot="4747970">
              <a:off x="3278" y="2950"/>
              <a:ext cx="22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24" name="Line 233"/>
            <p:cNvSpPr>
              <a:spLocks noChangeShapeType="1"/>
            </p:cNvSpPr>
            <p:nvPr/>
          </p:nvSpPr>
          <p:spPr bwMode="auto">
            <a:xfrm rot="4747970" flipV="1">
              <a:off x="3280" y="2973"/>
              <a:ext cx="23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25" name="Line 234"/>
            <p:cNvSpPr>
              <a:spLocks noChangeShapeType="1"/>
            </p:cNvSpPr>
            <p:nvPr/>
          </p:nvSpPr>
          <p:spPr bwMode="auto">
            <a:xfrm rot="4747970" flipV="1">
              <a:off x="3287" y="3017"/>
              <a:ext cx="23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26" name="Line 235"/>
            <p:cNvSpPr>
              <a:spLocks noChangeShapeType="1"/>
            </p:cNvSpPr>
            <p:nvPr/>
          </p:nvSpPr>
          <p:spPr bwMode="auto">
            <a:xfrm rot="4747970" flipV="1">
              <a:off x="3293" y="3062"/>
              <a:ext cx="23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27" name="Line 236"/>
            <p:cNvSpPr>
              <a:spLocks noChangeShapeType="1"/>
            </p:cNvSpPr>
            <p:nvPr/>
          </p:nvSpPr>
          <p:spPr bwMode="auto">
            <a:xfrm rot="4747970">
              <a:off x="3284" y="2996"/>
              <a:ext cx="23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28" name="Line 237"/>
            <p:cNvSpPr>
              <a:spLocks noChangeShapeType="1"/>
            </p:cNvSpPr>
            <p:nvPr/>
          </p:nvSpPr>
          <p:spPr bwMode="auto">
            <a:xfrm rot="4747970">
              <a:off x="3291" y="3039"/>
              <a:ext cx="22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29" name="Line 238"/>
            <p:cNvSpPr>
              <a:spLocks noChangeShapeType="1"/>
            </p:cNvSpPr>
            <p:nvPr/>
          </p:nvSpPr>
          <p:spPr bwMode="auto">
            <a:xfrm rot="4747970" flipV="1">
              <a:off x="3081" y="2793"/>
              <a:ext cx="19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30" name="Line 239"/>
            <p:cNvSpPr>
              <a:spLocks noChangeShapeType="1"/>
            </p:cNvSpPr>
            <p:nvPr/>
          </p:nvSpPr>
          <p:spPr bwMode="auto">
            <a:xfrm rot="4747970">
              <a:off x="3085" y="2811"/>
              <a:ext cx="18" cy="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31" name="Line 240"/>
            <p:cNvSpPr>
              <a:spLocks noChangeShapeType="1"/>
            </p:cNvSpPr>
            <p:nvPr/>
          </p:nvSpPr>
          <p:spPr bwMode="auto">
            <a:xfrm rot="4747970" flipV="1">
              <a:off x="3087" y="2830"/>
              <a:ext cx="19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32" name="Line 241"/>
            <p:cNvSpPr>
              <a:spLocks noChangeShapeType="1"/>
            </p:cNvSpPr>
            <p:nvPr/>
          </p:nvSpPr>
          <p:spPr bwMode="auto">
            <a:xfrm rot="4747970" flipV="1">
              <a:off x="3092" y="2866"/>
              <a:ext cx="19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33" name="Line 242"/>
            <p:cNvSpPr>
              <a:spLocks noChangeShapeType="1"/>
            </p:cNvSpPr>
            <p:nvPr/>
          </p:nvSpPr>
          <p:spPr bwMode="auto">
            <a:xfrm rot="4747970" flipV="1">
              <a:off x="3098" y="2902"/>
              <a:ext cx="19" cy="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34" name="Line 243"/>
            <p:cNvSpPr>
              <a:spLocks noChangeShapeType="1"/>
            </p:cNvSpPr>
            <p:nvPr/>
          </p:nvSpPr>
          <p:spPr bwMode="auto">
            <a:xfrm rot="4747970">
              <a:off x="3091" y="2848"/>
              <a:ext cx="18" cy="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35" name="Line 244"/>
            <p:cNvSpPr>
              <a:spLocks noChangeShapeType="1"/>
            </p:cNvSpPr>
            <p:nvPr/>
          </p:nvSpPr>
          <p:spPr bwMode="auto">
            <a:xfrm rot="4747970">
              <a:off x="3096" y="2884"/>
              <a:ext cx="17" cy="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36" name="Line 245"/>
            <p:cNvSpPr>
              <a:spLocks noChangeShapeType="1"/>
            </p:cNvSpPr>
            <p:nvPr/>
          </p:nvSpPr>
          <p:spPr bwMode="auto">
            <a:xfrm rot="4747970" flipV="1">
              <a:off x="2770" y="2615"/>
              <a:ext cx="23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37" name="Line 246"/>
            <p:cNvSpPr>
              <a:spLocks noChangeShapeType="1"/>
            </p:cNvSpPr>
            <p:nvPr/>
          </p:nvSpPr>
          <p:spPr bwMode="auto">
            <a:xfrm rot="4747970">
              <a:off x="2774" y="2638"/>
              <a:ext cx="23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38" name="Line 247"/>
            <p:cNvSpPr>
              <a:spLocks noChangeShapeType="1"/>
            </p:cNvSpPr>
            <p:nvPr/>
          </p:nvSpPr>
          <p:spPr bwMode="auto">
            <a:xfrm rot="4747970" flipV="1">
              <a:off x="2778" y="2660"/>
              <a:ext cx="22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39" name="Line 248"/>
            <p:cNvSpPr>
              <a:spLocks noChangeShapeType="1"/>
            </p:cNvSpPr>
            <p:nvPr/>
          </p:nvSpPr>
          <p:spPr bwMode="auto">
            <a:xfrm rot="4747970" flipV="1">
              <a:off x="2784" y="2704"/>
              <a:ext cx="23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40" name="Line 249"/>
            <p:cNvSpPr>
              <a:spLocks noChangeShapeType="1"/>
            </p:cNvSpPr>
            <p:nvPr/>
          </p:nvSpPr>
          <p:spPr bwMode="auto">
            <a:xfrm rot="4747970" flipV="1">
              <a:off x="2790" y="2749"/>
              <a:ext cx="23" cy="4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41" name="Line 250"/>
            <p:cNvSpPr>
              <a:spLocks noChangeShapeType="1"/>
            </p:cNvSpPr>
            <p:nvPr/>
          </p:nvSpPr>
          <p:spPr bwMode="auto">
            <a:xfrm rot="4747970">
              <a:off x="2782" y="2682"/>
              <a:ext cx="22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42" name="Line 251"/>
            <p:cNvSpPr>
              <a:spLocks noChangeShapeType="1"/>
            </p:cNvSpPr>
            <p:nvPr/>
          </p:nvSpPr>
          <p:spPr bwMode="auto">
            <a:xfrm rot="4747970">
              <a:off x="2788" y="2726"/>
              <a:ext cx="22" cy="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43" name="Line 252"/>
            <p:cNvSpPr>
              <a:spLocks noChangeShapeType="1"/>
            </p:cNvSpPr>
            <p:nvPr/>
          </p:nvSpPr>
          <p:spPr bwMode="auto">
            <a:xfrm rot="5470858" flipH="1" flipV="1">
              <a:off x="3797" y="3308"/>
              <a:ext cx="146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44" name="Line 253"/>
            <p:cNvSpPr>
              <a:spLocks noChangeShapeType="1"/>
            </p:cNvSpPr>
            <p:nvPr/>
          </p:nvSpPr>
          <p:spPr bwMode="auto">
            <a:xfrm rot="5470858" flipH="1">
              <a:off x="3800" y="3163"/>
              <a:ext cx="145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45" name="Line 254"/>
            <p:cNvSpPr>
              <a:spLocks noChangeShapeType="1"/>
            </p:cNvSpPr>
            <p:nvPr/>
          </p:nvSpPr>
          <p:spPr bwMode="auto">
            <a:xfrm rot="5470858" flipH="1" flipV="1">
              <a:off x="3802" y="3017"/>
              <a:ext cx="146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46" name="Line 255"/>
            <p:cNvSpPr>
              <a:spLocks noChangeShapeType="1"/>
            </p:cNvSpPr>
            <p:nvPr/>
          </p:nvSpPr>
          <p:spPr bwMode="auto">
            <a:xfrm rot="5470858" flipH="1" flipV="1">
              <a:off x="3807" y="2728"/>
              <a:ext cx="146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47" name="Line 256"/>
            <p:cNvSpPr>
              <a:spLocks noChangeShapeType="1"/>
            </p:cNvSpPr>
            <p:nvPr/>
          </p:nvSpPr>
          <p:spPr bwMode="auto">
            <a:xfrm rot="5470858" flipH="1" flipV="1">
              <a:off x="3812" y="2437"/>
              <a:ext cx="146" cy="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48" name="Line 257"/>
            <p:cNvSpPr>
              <a:spLocks noChangeShapeType="1"/>
            </p:cNvSpPr>
            <p:nvPr/>
          </p:nvSpPr>
          <p:spPr bwMode="auto">
            <a:xfrm rot="5470858" flipH="1">
              <a:off x="3806" y="2873"/>
              <a:ext cx="144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49" name="Line 258"/>
            <p:cNvSpPr>
              <a:spLocks noChangeShapeType="1"/>
            </p:cNvSpPr>
            <p:nvPr/>
          </p:nvSpPr>
          <p:spPr bwMode="auto">
            <a:xfrm rot="5470858" flipH="1">
              <a:off x="3809" y="2583"/>
              <a:ext cx="145" cy="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50" name="Line 259"/>
            <p:cNvSpPr>
              <a:spLocks noChangeShapeType="1"/>
            </p:cNvSpPr>
            <p:nvPr/>
          </p:nvSpPr>
          <p:spPr bwMode="auto">
            <a:xfrm rot="4747970" flipV="1">
              <a:off x="3778" y="3239"/>
              <a:ext cx="23" cy="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51" name="Line 260"/>
            <p:cNvSpPr>
              <a:spLocks noChangeShapeType="1"/>
            </p:cNvSpPr>
            <p:nvPr/>
          </p:nvSpPr>
          <p:spPr bwMode="auto">
            <a:xfrm rot="4747970">
              <a:off x="3782" y="3262"/>
              <a:ext cx="23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52" name="Line 261"/>
            <p:cNvSpPr>
              <a:spLocks noChangeShapeType="1"/>
            </p:cNvSpPr>
            <p:nvPr/>
          </p:nvSpPr>
          <p:spPr bwMode="auto">
            <a:xfrm rot="4747970" flipV="1">
              <a:off x="3785" y="3285"/>
              <a:ext cx="23" cy="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53" name="Line 262"/>
            <p:cNvSpPr>
              <a:spLocks noChangeShapeType="1"/>
            </p:cNvSpPr>
            <p:nvPr/>
          </p:nvSpPr>
          <p:spPr bwMode="auto">
            <a:xfrm rot="4747970" flipV="1">
              <a:off x="3792" y="3328"/>
              <a:ext cx="23" cy="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54" name="Line 263"/>
            <p:cNvSpPr>
              <a:spLocks noChangeShapeType="1"/>
            </p:cNvSpPr>
            <p:nvPr/>
          </p:nvSpPr>
          <p:spPr bwMode="auto">
            <a:xfrm rot="4747970" flipV="1">
              <a:off x="3798" y="3374"/>
              <a:ext cx="23" cy="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55" name="Line 264"/>
            <p:cNvSpPr>
              <a:spLocks noChangeShapeType="1"/>
            </p:cNvSpPr>
            <p:nvPr/>
          </p:nvSpPr>
          <p:spPr bwMode="auto">
            <a:xfrm rot="4747970">
              <a:off x="3790" y="3307"/>
              <a:ext cx="22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56" name="Line 265"/>
            <p:cNvSpPr>
              <a:spLocks noChangeShapeType="1"/>
            </p:cNvSpPr>
            <p:nvPr/>
          </p:nvSpPr>
          <p:spPr bwMode="auto">
            <a:xfrm rot="4747970">
              <a:off x="3795" y="3351"/>
              <a:ext cx="23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57" name="Line 266"/>
            <p:cNvSpPr>
              <a:spLocks noChangeShapeType="1"/>
            </p:cNvSpPr>
            <p:nvPr/>
          </p:nvSpPr>
          <p:spPr bwMode="auto">
            <a:xfrm rot="4747970" flipV="1">
              <a:off x="2458" y="2457"/>
              <a:ext cx="22" cy="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58" name="Line 267"/>
            <p:cNvSpPr>
              <a:spLocks noChangeShapeType="1"/>
            </p:cNvSpPr>
            <p:nvPr/>
          </p:nvSpPr>
          <p:spPr bwMode="auto">
            <a:xfrm rot="4747970">
              <a:off x="2461" y="2479"/>
              <a:ext cx="22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59" name="Line 268"/>
            <p:cNvSpPr>
              <a:spLocks noChangeShapeType="1"/>
            </p:cNvSpPr>
            <p:nvPr/>
          </p:nvSpPr>
          <p:spPr bwMode="auto">
            <a:xfrm rot="4747970" flipV="1">
              <a:off x="2463" y="2502"/>
              <a:ext cx="23" cy="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60" name="Line 269"/>
            <p:cNvSpPr>
              <a:spLocks noChangeShapeType="1"/>
            </p:cNvSpPr>
            <p:nvPr/>
          </p:nvSpPr>
          <p:spPr bwMode="auto">
            <a:xfrm rot="4747970" flipV="1">
              <a:off x="2470" y="2546"/>
              <a:ext cx="23" cy="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61" name="Line 270"/>
            <p:cNvSpPr>
              <a:spLocks noChangeShapeType="1"/>
            </p:cNvSpPr>
            <p:nvPr/>
          </p:nvSpPr>
          <p:spPr bwMode="auto">
            <a:xfrm rot="4747970" flipV="1">
              <a:off x="2476" y="2591"/>
              <a:ext cx="23" cy="4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62" name="Line 271"/>
            <p:cNvSpPr>
              <a:spLocks noChangeShapeType="1"/>
            </p:cNvSpPr>
            <p:nvPr/>
          </p:nvSpPr>
          <p:spPr bwMode="auto">
            <a:xfrm rot="4747970">
              <a:off x="2467" y="2525"/>
              <a:ext cx="23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63" name="Line 272"/>
            <p:cNvSpPr>
              <a:spLocks noChangeShapeType="1"/>
            </p:cNvSpPr>
            <p:nvPr/>
          </p:nvSpPr>
          <p:spPr bwMode="auto">
            <a:xfrm rot="4747970">
              <a:off x="2474" y="2568"/>
              <a:ext cx="22" cy="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64" name="Oval 273"/>
            <p:cNvSpPr>
              <a:spLocks noChangeArrowheads="1"/>
            </p:cNvSpPr>
            <p:nvPr/>
          </p:nvSpPr>
          <p:spPr bwMode="auto">
            <a:xfrm>
              <a:off x="1152" y="3601"/>
              <a:ext cx="480" cy="1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6</a:t>
              </a:r>
            </a:p>
          </p:txBody>
        </p:sp>
        <p:sp>
          <p:nvSpPr>
            <p:cNvPr id="2035965" name="Oval 274"/>
            <p:cNvSpPr>
              <a:spLocks noChangeArrowheads="1"/>
            </p:cNvSpPr>
            <p:nvPr/>
          </p:nvSpPr>
          <p:spPr bwMode="auto">
            <a:xfrm>
              <a:off x="2976" y="3540"/>
              <a:ext cx="480" cy="1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</a:t>
              </a:r>
              <a:r>
                <a:rPr lang="en-US" altLang="ja-JP" sz="12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</a:rPr>
                <a:t>8</a:t>
              </a:r>
            </a:p>
          </p:txBody>
        </p:sp>
        <p:sp>
          <p:nvSpPr>
            <p:cNvPr id="2035966" name="Oval 275"/>
            <p:cNvSpPr>
              <a:spLocks noChangeArrowheads="1"/>
            </p:cNvSpPr>
            <p:nvPr/>
          </p:nvSpPr>
          <p:spPr bwMode="auto">
            <a:xfrm>
              <a:off x="1968" y="3662"/>
              <a:ext cx="480" cy="1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</a:t>
              </a:r>
              <a:r>
                <a:rPr lang="en-US" altLang="ja-JP" sz="12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</a:rPr>
                <a:t>7</a:t>
              </a:r>
            </a:p>
          </p:txBody>
        </p:sp>
        <p:sp>
          <p:nvSpPr>
            <p:cNvPr id="2035967" name="Oval 277"/>
            <p:cNvSpPr>
              <a:spLocks noChangeArrowheads="1"/>
            </p:cNvSpPr>
            <p:nvPr/>
          </p:nvSpPr>
          <p:spPr bwMode="auto">
            <a:xfrm>
              <a:off x="4032" y="3601"/>
              <a:ext cx="480" cy="1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5</a:t>
              </a:r>
            </a:p>
          </p:txBody>
        </p:sp>
        <p:sp>
          <p:nvSpPr>
            <p:cNvPr id="2035968" name="Line 278"/>
            <p:cNvSpPr>
              <a:spLocks noChangeShapeType="1"/>
            </p:cNvSpPr>
            <p:nvPr/>
          </p:nvSpPr>
          <p:spPr bwMode="auto">
            <a:xfrm flipH="1" flipV="1">
              <a:off x="3984" y="3358"/>
              <a:ext cx="144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69" name="Line 279"/>
            <p:cNvSpPr>
              <a:spLocks noChangeShapeType="1"/>
            </p:cNvSpPr>
            <p:nvPr/>
          </p:nvSpPr>
          <p:spPr bwMode="auto">
            <a:xfrm flipV="1">
              <a:off x="3408" y="3236"/>
              <a:ext cx="144" cy="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70" name="Line 280"/>
            <p:cNvSpPr>
              <a:spLocks noChangeShapeType="1"/>
            </p:cNvSpPr>
            <p:nvPr/>
          </p:nvSpPr>
          <p:spPr bwMode="auto">
            <a:xfrm flipV="1">
              <a:off x="1392" y="3479"/>
              <a:ext cx="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71" name="AutoShape 282"/>
            <p:cNvSpPr>
              <a:spLocks/>
            </p:cNvSpPr>
            <p:nvPr/>
          </p:nvSpPr>
          <p:spPr bwMode="auto">
            <a:xfrm rot="5366215">
              <a:off x="2147" y="3409"/>
              <a:ext cx="122" cy="384"/>
            </a:xfrm>
            <a:prstGeom prst="rightBrace">
              <a:avLst>
                <a:gd name="adj1" fmla="val 26230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rot="10800000" vert="eaVert"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35972" name="Oval 283"/>
            <p:cNvSpPr>
              <a:spLocks noChangeArrowheads="1"/>
            </p:cNvSpPr>
            <p:nvPr/>
          </p:nvSpPr>
          <p:spPr bwMode="auto">
            <a:xfrm>
              <a:off x="2304" y="1286"/>
              <a:ext cx="480" cy="1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2</a:t>
              </a:r>
            </a:p>
          </p:txBody>
        </p:sp>
        <p:sp>
          <p:nvSpPr>
            <p:cNvPr id="2035973" name="Oval 284"/>
            <p:cNvSpPr>
              <a:spLocks noChangeArrowheads="1"/>
            </p:cNvSpPr>
            <p:nvPr/>
          </p:nvSpPr>
          <p:spPr bwMode="auto">
            <a:xfrm>
              <a:off x="192" y="1713"/>
              <a:ext cx="432" cy="18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1</a:t>
              </a:r>
            </a:p>
          </p:txBody>
        </p:sp>
        <p:sp>
          <p:nvSpPr>
            <p:cNvPr id="2035974" name="Oval 285"/>
            <p:cNvSpPr>
              <a:spLocks noChangeArrowheads="1"/>
            </p:cNvSpPr>
            <p:nvPr/>
          </p:nvSpPr>
          <p:spPr bwMode="auto">
            <a:xfrm>
              <a:off x="4128" y="2444"/>
              <a:ext cx="480" cy="182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4</a:t>
              </a:r>
            </a:p>
          </p:txBody>
        </p:sp>
        <p:sp>
          <p:nvSpPr>
            <p:cNvPr id="2035975" name="Oval 286"/>
            <p:cNvSpPr>
              <a:spLocks noChangeArrowheads="1"/>
            </p:cNvSpPr>
            <p:nvPr/>
          </p:nvSpPr>
          <p:spPr bwMode="auto">
            <a:xfrm>
              <a:off x="4272" y="1286"/>
              <a:ext cx="480" cy="1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3</a:t>
              </a:r>
            </a:p>
          </p:txBody>
        </p:sp>
        <p:sp>
          <p:nvSpPr>
            <p:cNvPr id="2035976" name="Line 287"/>
            <p:cNvSpPr>
              <a:spLocks noChangeShapeType="1"/>
            </p:cNvSpPr>
            <p:nvPr/>
          </p:nvSpPr>
          <p:spPr bwMode="auto">
            <a:xfrm>
              <a:off x="4512" y="1469"/>
              <a:ext cx="0" cy="1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77" name="Line 288"/>
            <p:cNvSpPr>
              <a:spLocks noChangeShapeType="1"/>
            </p:cNvSpPr>
            <p:nvPr/>
          </p:nvSpPr>
          <p:spPr bwMode="auto">
            <a:xfrm flipV="1">
              <a:off x="4416" y="2078"/>
              <a:ext cx="96" cy="3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78" name="Line 289"/>
            <p:cNvSpPr>
              <a:spLocks noChangeShapeType="1"/>
            </p:cNvSpPr>
            <p:nvPr/>
          </p:nvSpPr>
          <p:spPr bwMode="auto">
            <a:xfrm flipH="1">
              <a:off x="2352" y="1469"/>
              <a:ext cx="144" cy="3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  <p:sp>
          <p:nvSpPr>
            <p:cNvPr id="2035979" name="AutoShape 290"/>
            <p:cNvSpPr>
              <a:spLocks/>
            </p:cNvSpPr>
            <p:nvPr/>
          </p:nvSpPr>
          <p:spPr bwMode="auto">
            <a:xfrm>
              <a:off x="624" y="1591"/>
              <a:ext cx="48" cy="487"/>
            </a:xfrm>
            <a:prstGeom prst="leftBrace">
              <a:avLst>
                <a:gd name="adj1" fmla="val 84549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35980" name="Text Box 291"/>
            <p:cNvSpPr txBox="1">
              <a:spLocks noChangeArrowheads="1"/>
            </p:cNvSpPr>
            <p:nvPr/>
          </p:nvSpPr>
          <p:spPr bwMode="auto">
            <a:xfrm>
              <a:off x="4080" y="3418"/>
              <a:ext cx="480" cy="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</a:pPr>
              <a:r>
                <a:rPr lang="th-TH" sz="1400">
                  <a:solidFill>
                    <a:srgbClr val="FF0000"/>
                  </a:solidFill>
                  <a:latin typeface="Times New Roman" pitchFamily="18" charset="0"/>
                </a:rPr>
                <a:t>เส้นสีแดง</a:t>
              </a:r>
            </a:p>
          </p:txBody>
        </p:sp>
        <p:sp>
          <p:nvSpPr>
            <p:cNvPr id="2035981" name="Oval 277"/>
            <p:cNvSpPr>
              <a:spLocks noChangeArrowheads="1"/>
            </p:cNvSpPr>
            <p:nvPr/>
          </p:nvSpPr>
          <p:spPr bwMode="auto">
            <a:xfrm>
              <a:off x="3379" y="3939"/>
              <a:ext cx="480" cy="18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>
                  <a:solidFill>
                    <a:srgbClr val="000000"/>
                  </a:solidFill>
                  <a:latin typeface="Times New Roman" pitchFamily="18" charset="0"/>
                </a:rPr>
                <a:t>Step </a:t>
              </a:r>
              <a:r>
                <a:rPr lang="en-US" altLang="ja-JP" sz="1200">
                  <a:solidFill>
                    <a:srgbClr val="000000"/>
                  </a:solidFill>
                  <a:latin typeface="Times New Roman" pitchFamily="18" charset="0"/>
                  <a:ea typeface="MS PGothic" pitchFamily="34" charset="-128"/>
                </a:rPr>
                <a:t>9</a:t>
              </a:r>
            </a:p>
          </p:txBody>
        </p:sp>
        <p:sp>
          <p:nvSpPr>
            <p:cNvPr id="2035982" name="Line 278"/>
            <p:cNvSpPr>
              <a:spLocks noChangeShapeType="1"/>
            </p:cNvSpPr>
            <p:nvPr/>
          </p:nvSpPr>
          <p:spPr bwMode="auto">
            <a:xfrm flipV="1">
              <a:off x="3750" y="3712"/>
              <a:ext cx="128" cy="2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>
                <a:solidFill>
                  <a:srgbClr val="000000"/>
                </a:solidFill>
              </a:endParaRPr>
            </a:p>
          </p:txBody>
        </p:sp>
      </p:grpSp>
      <p:sp>
        <p:nvSpPr>
          <p:cNvPr id="2035983" name="Text Box 271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5985" name="Line 273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35986" name="Text Box 274"/>
          <p:cNvSpPr txBox="1">
            <a:spLocks noChangeArrowheads="1"/>
          </p:cNvSpPr>
          <p:nvPr/>
        </p:nvSpPr>
        <p:spPr bwMode="auto">
          <a:xfrm>
            <a:off x="2471738" y="1412875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Example</a:t>
            </a:r>
            <a:endParaRPr lang="th-TH" sz="1200" b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6738" name="Rectangle 20"/>
          <p:cNvSpPr>
            <a:spLocks noChangeArrowheads="1"/>
          </p:cNvSpPr>
          <p:nvPr/>
        </p:nvSpPr>
        <p:spPr bwMode="auto">
          <a:xfrm>
            <a:off x="611188" y="4891088"/>
            <a:ext cx="57912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4 :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ลงข้อมูลเวลาที่ลูกค้าต้องการชิ้นงาน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ชิ้น</a:t>
            </a:r>
            <a:endParaRPr lang="en-US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6739" name="Rectangle 24"/>
          <p:cNvSpPr>
            <a:spLocks noChangeArrowheads="1"/>
          </p:cNvSpPr>
          <p:nvPr/>
        </p:nvSpPr>
        <p:spPr bwMode="auto">
          <a:xfrm>
            <a:off x="611188" y="5827713"/>
            <a:ext cx="6840537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5 :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 ขีดเส้นTAKT TIME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 ลงในตารางเวลาโดยใช้เส้นสีแดง</a:t>
            </a:r>
            <a:endParaRPr lang="en-US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6740" name="Rectangle 2"/>
          <p:cNvSpPr>
            <a:spLocks noChangeArrowheads="1"/>
          </p:cNvSpPr>
          <p:nvPr/>
        </p:nvSpPr>
        <p:spPr bwMode="auto">
          <a:xfrm>
            <a:off x="611188" y="3859213"/>
            <a:ext cx="698500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3 :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 จำนวนที่ต้องกา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รต่อช่วงเวลาการทำงาน (กะ,วัน)</a:t>
            </a:r>
            <a:endParaRPr lang="en-US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6741" name="Rectangle 6"/>
          <p:cNvSpPr>
            <a:spLocks noChangeArrowheads="1"/>
          </p:cNvSpPr>
          <p:nvPr/>
        </p:nvSpPr>
        <p:spPr bwMode="auto">
          <a:xfrm>
            <a:off x="611188" y="1633538"/>
            <a:ext cx="579120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1 :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 บันทึกชื่อ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ไลน์ผลิต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 , รหัสสินค้า และชื่อสินค้า</a:t>
            </a:r>
          </a:p>
        </p:txBody>
      </p:sp>
      <p:sp>
        <p:nvSpPr>
          <p:cNvPr id="2036742" name="Text Box 6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6744" name="Line 8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36745" name="Text Box 9"/>
          <p:cNvSpPr txBox="1">
            <a:spLocks noChangeArrowheads="1"/>
          </p:cNvSpPr>
          <p:nvPr/>
        </p:nvSpPr>
        <p:spPr bwMode="auto">
          <a:xfrm>
            <a:off x="608013" y="2586038"/>
            <a:ext cx="8374062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2 :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 ลำดับของคนทำงาน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โดยมีรูปแบบการเขียนคือ ลำดับคนที่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จากจำนวนคน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                     ทั้งหมด เช่น </a:t>
            </a:r>
            <a:r>
              <a:rPr lang="en-US" altLang="ja-JP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2/6 </a:t>
            </a:r>
            <a:r>
              <a:rPr lang="th-TH" altLang="ja-JP">
                <a:solidFill>
                  <a:srgbClr val="000000"/>
                </a:solidFill>
                <a:latin typeface="Angsana New" pitchFamily="18" charset="-34"/>
              </a:rPr>
              <a:t>หมายความว่า พนักงานคนที่ </a:t>
            </a:r>
            <a:r>
              <a:rPr lang="en-US" altLang="ja-JP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2 </a:t>
            </a:r>
            <a:r>
              <a:rPr lang="th-TH" altLang="ja-JP">
                <a:solidFill>
                  <a:srgbClr val="000000"/>
                </a:solidFill>
                <a:latin typeface="Angsana New" pitchFamily="18" charset="-34"/>
              </a:rPr>
              <a:t>จากพนักงานทั้งหมด </a:t>
            </a:r>
            <a:r>
              <a:rPr lang="en-US" altLang="ja-JP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6 </a:t>
            </a:r>
            <a:r>
              <a:rPr lang="th-TH" altLang="ja-JP">
                <a:solidFill>
                  <a:srgbClr val="000000"/>
                </a:solidFill>
                <a:latin typeface="Angsana New" pitchFamily="18" charset="-34"/>
              </a:rPr>
              <a:t>คน</a:t>
            </a:r>
            <a:endParaRPr lang="th-TH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6746" name="Rectangle 6"/>
          <p:cNvSpPr>
            <a:spLocks noChangeArrowheads="1"/>
          </p:cNvSpPr>
          <p:nvPr/>
        </p:nvSpPr>
        <p:spPr bwMode="auto">
          <a:xfrm>
            <a:off x="1908175" y="1971675"/>
            <a:ext cx="44640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1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Record line name , part number  and part name</a:t>
            </a:r>
          </a:p>
        </p:txBody>
      </p:sp>
      <p:sp>
        <p:nvSpPr>
          <p:cNvPr id="2036747" name="Rectangle 7"/>
          <p:cNvSpPr>
            <a:spLocks noChangeArrowheads="1"/>
          </p:cNvSpPr>
          <p:nvPr/>
        </p:nvSpPr>
        <p:spPr bwMode="auto">
          <a:xfrm>
            <a:off x="1916113" y="3446463"/>
            <a:ext cx="2520950" cy="30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2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Fill the operator no.</a:t>
            </a:r>
            <a:endParaRPr lang="ja-JP" altLang="en-US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6748" name="Rectangle 2"/>
          <p:cNvSpPr>
            <a:spLocks noChangeArrowheads="1"/>
          </p:cNvSpPr>
          <p:nvPr/>
        </p:nvSpPr>
        <p:spPr bwMode="auto">
          <a:xfrm>
            <a:off x="1908175" y="4327525"/>
            <a:ext cx="3240088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3 :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Fill required volume (Per day, shift)</a:t>
            </a:r>
          </a:p>
        </p:txBody>
      </p:sp>
      <p:sp>
        <p:nvSpPr>
          <p:cNvPr id="2036749" name="Rectangle 20"/>
          <p:cNvSpPr>
            <a:spLocks noChangeArrowheads="1"/>
          </p:cNvSpPr>
          <p:nvPr/>
        </p:nvSpPr>
        <p:spPr bwMode="auto">
          <a:xfrm>
            <a:off x="1916113" y="5348288"/>
            <a:ext cx="2303462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4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Input Takt Time</a:t>
            </a:r>
          </a:p>
        </p:txBody>
      </p:sp>
      <p:sp>
        <p:nvSpPr>
          <p:cNvPr id="2036750" name="Rectangle 24"/>
          <p:cNvSpPr>
            <a:spLocks noChangeArrowheads="1"/>
          </p:cNvSpPr>
          <p:nvPr/>
        </p:nvSpPr>
        <p:spPr bwMode="auto">
          <a:xfrm>
            <a:off x="1916113" y="6186488"/>
            <a:ext cx="70612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5 :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 a Takt Time</a:t>
            </a:r>
            <a:r>
              <a:rPr lang="th-TH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line by red color into the table.</a:t>
            </a:r>
          </a:p>
        </p:txBody>
      </p:sp>
      <p:sp>
        <p:nvSpPr>
          <p:cNvPr id="2036751" name="Rectangle 15"/>
          <p:cNvSpPr>
            <a:spLocks noChangeArrowheads="1"/>
          </p:cNvSpPr>
          <p:nvPr/>
        </p:nvSpPr>
        <p:spPr bwMode="auto">
          <a:xfrm>
            <a:off x="179388" y="1166813"/>
            <a:ext cx="1374775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>
                <a:solidFill>
                  <a:srgbClr val="333399"/>
                </a:solidFill>
                <a:latin typeface="Angsana New" pitchFamily="18" charset="-34"/>
              </a:rPr>
              <a:t> </a:t>
            </a:r>
            <a:r>
              <a:rPr lang="th-TH" sz="3200" b="1" u="sng">
                <a:solidFill>
                  <a:srgbClr val="333399"/>
                </a:solidFill>
                <a:latin typeface="Angsana New" pitchFamily="18" charset="-34"/>
              </a:rPr>
              <a:t>วิธีจัดทำ</a:t>
            </a:r>
          </a:p>
        </p:txBody>
      </p:sp>
      <p:sp>
        <p:nvSpPr>
          <p:cNvPr id="2036752" name="Rectangle 2"/>
          <p:cNvSpPr>
            <a:spLocks noChangeArrowheads="1"/>
          </p:cNvSpPr>
          <p:nvPr/>
        </p:nvSpPr>
        <p:spPr bwMode="auto">
          <a:xfrm>
            <a:off x="1339850" y="1179513"/>
            <a:ext cx="4240213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1200" b="1">
                <a:solidFill>
                  <a:srgbClr val="333399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>
                <a:solidFill>
                  <a:srgbClr val="333399"/>
                </a:solidFill>
                <a:ea typeface="MS PGothic" pitchFamily="34" charset="-128"/>
                <a:sym typeface="Wingdings" pitchFamily="2" charset="2"/>
              </a:rPr>
              <a:t>How to make standardized work combination table?</a:t>
            </a:r>
            <a:endParaRPr lang="th-TH" sz="1200" b="1">
              <a:solidFill>
                <a:srgbClr val="333399"/>
              </a:solidFill>
              <a:ea typeface="MS PGothic" pitchFamily="34" charset="-128"/>
              <a:sym typeface="Wingding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62" name="Rectangle 2"/>
          <p:cNvSpPr>
            <a:spLocks noChangeArrowheads="1"/>
          </p:cNvSpPr>
          <p:nvPr/>
        </p:nvSpPr>
        <p:spPr bwMode="auto">
          <a:xfrm>
            <a:off x="604838" y="1344613"/>
            <a:ext cx="7391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6 :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ลงลำดับขั้นตอนการทำงาน พร้อมทั้งหมายเลขเครื่องจักร</a:t>
            </a:r>
            <a:endParaRPr lang="en-US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7763" name="Rectangle 7"/>
          <p:cNvSpPr>
            <a:spLocks noChangeArrowheads="1"/>
          </p:cNvSpPr>
          <p:nvPr/>
        </p:nvSpPr>
        <p:spPr bwMode="auto">
          <a:xfrm>
            <a:off x="1952625" y="4230688"/>
            <a:ext cx="2057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400">
                <a:solidFill>
                  <a:srgbClr val="000000"/>
                </a:solidFill>
                <a:latin typeface="Times New Roman" pitchFamily="18" charset="0"/>
              </a:rPr>
              <a:t>เส้นทึบ</a:t>
            </a: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37764" name="Rectangle 9"/>
          <p:cNvSpPr>
            <a:spLocks noChangeArrowheads="1"/>
          </p:cNvSpPr>
          <p:nvPr/>
        </p:nvSpPr>
        <p:spPr bwMode="auto">
          <a:xfrm>
            <a:off x="1939925" y="4776788"/>
            <a:ext cx="8636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400">
                <a:solidFill>
                  <a:srgbClr val="000000"/>
                </a:solidFill>
                <a:latin typeface="Times New Roman" pitchFamily="18" charset="0"/>
              </a:rPr>
              <a:t>เส้นประ</a:t>
            </a: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37765" name="Rectangle 10"/>
          <p:cNvSpPr>
            <a:spLocks noChangeArrowheads="1"/>
          </p:cNvSpPr>
          <p:nvPr/>
        </p:nvSpPr>
        <p:spPr bwMode="auto">
          <a:xfrm>
            <a:off x="1876425" y="5373688"/>
            <a:ext cx="2057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400">
                <a:solidFill>
                  <a:srgbClr val="000000"/>
                </a:solidFill>
                <a:latin typeface="Times New Roman" pitchFamily="18" charset="0"/>
              </a:rPr>
              <a:t>เส้นคลื่น</a:t>
            </a: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37766" name="Line 11"/>
          <p:cNvSpPr>
            <a:spLocks noChangeShapeType="1"/>
          </p:cNvSpPr>
          <p:nvPr/>
        </p:nvSpPr>
        <p:spPr bwMode="auto">
          <a:xfrm>
            <a:off x="3032125" y="4576763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37767" name="Line 12"/>
          <p:cNvSpPr>
            <a:spLocks noChangeShapeType="1"/>
          </p:cNvSpPr>
          <p:nvPr/>
        </p:nvSpPr>
        <p:spPr bwMode="auto">
          <a:xfrm>
            <a:off x="3036888" y="5135563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37768" name="Freeform 13"/>
          <p:cNvSpPr>
            <a:spLocks/>
          </p:cNvSpPr>
          <p:nvPr/>
        </p:nvSpPr>
        <p:spPr bwMode="auto">
          <a:xfrm>
            <a:off x="3036888" y="5589588"/>
            <a:ext cx="1031875" cy="92075"/>
          </a:xfrm>
          <a:custGeom>
            <a:avLst/>
            <a:gdLst>
              <a:gd name="T0" fmla="*/ 0 w 650"/>
              <a:gd name="T1" fmla="*/ 40 h 58"/>
              <a:gd name="T2" fmla="*/ 27 w 650"/>
              <a:gd name="T3" fmla="*/ 31 h 58"/>
              <a:gd name="T4" fmla="*/ 45 w 650"/>
              <a:gd name="T5" fmla="*/ 4 h 58"/>
              <a:gd name="T6" fmla="*/ 90 w 650"/>
              <a:gd name="T7" fmla="*/ 13 h 58"/>
              <a:gd name="T8" fmla="*/ 108 w 650"/>
              <a:gd name="T9" fmla="*/ 40 h 58"/>
              <a:gd name="T10" fmla="*/ 135 w 650"/>
              <a:gd name="T11" fmla="*/ 22 h 58"/>
              <a:gd name="T12" fmla="*/ 162 w 650"/>
              <a:gd name="T13" fmla="*/ 13 h 58"/>
              <a:gd name="T14" fmla="*/ 216 w 650"/>
              <a:gd name="T15" fmla="*/ 22 h 58"/>
              <a:gd name="T16" fmla="*/ 243 w 650"/>
              <a:gd name="T17" fmla="*/ 40 h 58"/>
              <a:gd name="T18" fmla="*/ 297 w 650"/>
              <a:gd name="T19" fmla="*/ 13 h 58"/>
              <a:gd name="T20" fmla="*/ 342 w 650"/>
              <a:gd name="T21" fmla="*/ 22 h 58"/>
              <a:gd name="T22" fmla="*/ 351 w 650"/>
              <a:gd name="T23" fmla="*/ 49 h 58"/>
              <a:gd name="T24" fmla="*/ 378 w 650"/>
              <a:gd name="T25" fmla="*/ 31 h 58"/>
              <a:gd name="T26" fmla="*/ 414 w 650"/>
              <a:gd name="T27" fmla="*/ 13 h 58"/>
              <a:gd name="T28" fmla="*/ 486 w 650"/>
              <a:gd name="T29" fmla="*/ 22 h 58"/>
              <a:gd name="T30" fmla="*/ 513 w 650"/>
              <a:gd name="T31" fmla="*/ 40 h 58"/>
              <a:gd name="T32" fmla="*/ 567 w 650"/>
              <a:gd name="T33" fmla="*/ 22 h 58"/>
              <a:gd name="T34" fmla="*/ 594 w 650"/>
              <a:gd name="T35" fmla="*/ 13 h 58"/>
              <a:gd name="T36" fmla="*/ 648 w 650"/>
              <a:gd name="T37" fmla="*/ 58 h 5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50"/>
              <a:gd name="T58" fmla="*/ 0 h 58"/>
              <a:gd name="T59" fmla="*/ 650 w 650"/>
              <a:gd name="T60" fmla="*/ 58 h 5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50" h="58">
                <a:moveTo>
                  <a:pt x="0" y="40"/>
                </a:moveTo>
                <a:cubicBezTo>
                  <a:pt x="9" y="37"/>
                  <a:pt x="20" y="37"/>
                  <a:pt x="27" y="31"/>
                </a:cubicBezTo>
                <a:cubicBezTo>
                  <a:pt x="35" y="24"/>
                  <a:pt x="35" y="7"/>
                  <a:pt x="45" y="4"/>
                </a:cubicBezTo>
                <a:cubicBezTo>
                  <a:pt x="60" y="0"/>
                  <a:pt x="75" y="10"/>
                  <a:pt x="90" y="13"/>
                </a:cubicBezTo>
                <a:cubicBezTo>
                  <a:pt x="96" y="22"/>
                  <a:pt x="97" y="38"/>
                  <a:pt x="108" y="40"/>
                </a:cubicBezTo>
                <a:cubicBezTo>
                  <a:pt x="119" y="42"/>
                  <a:pt x="125" y="27"/>
                  <a:pt x="135" y="22"/>
                </a:cubicBezTo>
                <a:cubicBezTo>
                  <a:pt x="143" y="18"/>
                  <a:pt x="153" y="16"/>
                  <a:pt x="162" y="13"/>
                </a:cubicBezTo>
                <a:cubicBezTo>
                  <a:pt x="180" y="16"/>
                  <a:pt x="199" y="16"/>
                  <a:pt x="216" y="22"/>
                </a:cubicBezTo>
                <a:cubicBezTo>
                  <a:pt x="226" y="25"/>
                  <a:pt x="232" y="38"/>
                  <a:pt x="243" y="40"/>
                </a:cubicBezTo>
                <a:cubicBezTo>
                  <a:pt x="258" y="42"/>
                  <a:pt x="288" y="19"/>
                  <a:pt x="297" y="13"/>
                </a:cubicBezTo>
                <a:cubicBezTo>
                  <a:pt x="312" y="16"/>
                  <a:pt x="329" y="14"/>
                  <a:pt x="342" y="22"/>
                </a:cubicBezTo>
                <a:cubicBezTo>
                  <a:pt x="350" y="27"/>
                  <a:pt x="342" y="47"/>
                  <a:pt x="351" y="49"/>
                </a:cubicBezTo>
                <a:cubicBezTo>
                  <a:pt x="361" y="52"/>
                  <a:pt x="369" y="36"/>
                  <a:pt x="378" y="31"/>
                </a:cubicBezTo>
                <a:cubicBezTo>
                  <a:pt x="390" y="24"/>
                  <a:pt x="402" y="19"/>
                  <a:pt x="414" y="13"/>
                </a:cubicBezTo>
                <a:cubicBezTo>
                  <a:pt x="438" y="16"/>
                  <a:pt x="463" y="16"/>
                  <a:pt x="486" y="22"/>
                </a:cubicBezTo>
                <a:cubicBezTo>
                  <a:pt x="496" y="25"/>
                  <a:pt x="502" y="40"/>
                  <a:pt x="513" y="40"/>
                </a:cubicBezTo>
                <a:cubicBezTo>
                  <a:pt x="532" y="40"/>
                  <a:pt x="549" y="28"/>
                  <a:pt x="567" y="22"/>
                </a:cubicBezTo>
                <a:cubicBezTo>
                  <a:pt x="576" y="19"/>
                  <a:pt x="594" y="13"/>
                  <a:pt x="594" y="13"/>
                </a:cubicBezTo>
                <a:cubicBezTo>
                  <a:pt x="650" y="51"/>
                  <a:pt x="648" y="27"/>
                  <a:pt x="648" y="58"/>
                </a:cubicBezTo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2037769" name="Rectangle 14"/>
          <p:cNvSpPr>
            <a:spLocks noChangeArrowheads="1"/>
          </p:cNvSpPr>
          <p:nvPr/>
        </p:nvSpPr>
        <p:spPr bwMode="auto">
          <a:xfrm>
            <a:off x="4224338" y="4241800"/>
            <a:ext cx="2057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400">
                <a:solidFill>
                  <a:srgbClr val="000000"/>
                </a:solidFill>
                <a:latin typeface="Times New Roman" pitchFamily="18" charset="0"/>
              </a:rPr>
              <a:t>เวลาที่คนทำงาน</a:t>
            </a: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37770" name="Rectangle 15"/>
          <p:cNvSpPr>
            <a:spLocks noChangeArrowheads="1"/>
          </p:cNvSpPr>
          <p:nvPr/>
        </p:nvSpPr>
        <p:spPr bwMode="auto">
          <a:xfrm>
            <a:off x="4230688" y="4787900"/>
            <a:ext cx="2325687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400">
                <a:solidFill>
                  <a:srgbClr val="000000"/>
                </a:solidFill>
                <a:latin typeface="Times New Roman" pitchFamily="18" charset="0"/>
              </a:rPr>
              <a:t>เวลาที่เครื่องจักรทำงาน</a:t>
            </a: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37771" name="Rectangle 16"/>
          <p:cNvSpPr>
            <a:spLocks noChangeArrowheads="1"/>
          </p:cNvSpPr>
          <p:nvPr/>
        </p:nvSpPr>
        <p:spPr bwMode="auto">
          <a:xfrm>
            <a:off x="4230688" y="5360988"/>
            <a:ext cx="20574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2400">
                <a:solidFill>
                  <a:srgbClr val="000000"/>
                </a:solidFill>
                <a:latin typeface="Times New Roman" pitchFamily="18" charset="0"/>
              </a:rPr>
              <a:t>เวลาเดิน</a:t>
            </a:r>
            <a:endParaRPr lang="en-US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37772" name="Text Box 12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37774" name="Line 1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37775" name="Text Box 15"/>
          <p:cNvSpPr txBox="1">
            <a:spLocks noChangeArrowheads="1"/>
          </p:cNvSpPr>
          <p:nvPr/>
        </p:nvSpPr>
        <p:spPr bwMode="auto">
          <a:xfrm>
            <a:off x="604838" y="2138363"/>
            <a:ext cx="80454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7 :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ลงเวลาที่ใช้ในการทำงานของแต่ละขั้นตอน โดยแบ่งออกเป็นสามส่วน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                      คือ เวลาคนทำงาน,เวลาเครื่องจักรทำงาน และเวลาเดิน</a:t>
            </a:r>
          </a:p>
        </p:txBody>
      </p:sp>
      <p:sp>
        <p:nvSpPr>
          <p:cNvPr id="2037776" name="Text Box 16"/>
          <p:cNvSpPr txBox="1">
            <a:spLocks noChangeArrowheads="1"/>
          </p:cNvSpPr>
          <p:nvPr/>
        </p:nvSpPr>
        <p:spPr bwMode="auto">
          <a:xfrm>
            <a:off x="598488" y="3402013"/>
            <a:ext cx="805497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8 :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ขีดเส้นแสดงเวลาที่ทำงานงาน</a:t>
            </a:r>
            <a:r>
              <a:rPr lang="th-TH" altLang="ja-JP">
                <a:solidFill>
                  <a:srgbClr val="000000"/>
                </a:solidFill>
                <a:latin typeface="Angsana New" pitchFamily="18" charset="-34"/>
              </a:rPr>
              <a:t>ลงในตารางเวลา ตามเวลาที่ใช้ของแต่ละ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>
                <a:solidFill>
                  <a:srgbClr val="000000"/>
                </a:solidFill>
                <a:latin typeface="Angsana New" pitchFamily="18" charset="-34"/>
              </a:rPr>
              <a:t>                      ขั้นตอน โ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ดยแบ่งออกเป็น </a:t>
            </a:r>
            <a:r>
              <a:rPr lang="en-US" altLang="ja-JP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3 </a:t>
            </a:r>
            <a:r>
              <a:rPr lang="th-TH" altLang="ja-JP">
                <a:solidFill>
                  <a:srgbClr val="000000"/>
                </a:solidFill>
                <a:latin typeface="Angsana New" pitchFamily="18" charset="-34"/>
              </a:rPr>
              <a:t>ประเภทคือ</a:t>
            </a:r>
            <a:r>
              <a:rPr lang="ja-JP" altLang="th-TH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　</a:t>
            </a:r>
            <a:endParaRPr lang="th-TH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7777" name="Text Box 17"/>
          <p:cNvSpPr txBox="1">
            <a:spLocks noChangeArrowheads="1"/>
          </p:cNvSpPr>
          <p:nvPr/>
        </p:nvSpPr>
        <p:spPr bwMode="auto">
          <a:xfrm>
            <a:off x="604838" y="5949950"/>
            <a:ext cx="6600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9 :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ขีดเส้นแสดงเวลาที่ใช้ผลิตชิ้นงาน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ชิ้น</a:t>
            </a:r>
            <a:r>
              <a:rPr lang="en-US" altLang="ja-JP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 </a:t>
            </a:r>
            <a:r>
              <a:rPr lang="th-TH" altLang="ja-JP">
                <a:solidFill>
                  <a:srgbClr val="000000"/>
                </a:solidFill>
                <a:latin typeface="Angsana New" pitchFamily="18" charset="-34"/>
              </a:rPr>
              <a:t>ลงในตารางเวลา</a:t>
            </a:r>
            <a:endParaRPr lang="th-TH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37778" name="Rectangle 2"/>
          <p:cNvSpPr>
            <a:spLocks noChangeArrowheads="1"/>
          </p:cNvSpPr>
          <p:nvPr/>
        </p:nvSpPr>
        <p:spPr bwMode="auto">
          <a:xfrm>
            <a:off x="1876425" y="1671638"/>
            <a:ext cx="40322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6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Write work sequence and machine number</a:t>
            </a:r>
          </a:p>
        </p:txBody>
      </p:sp>
      <p:sp>
        <p:nvSpPr>
          <p:cNvPr id="2037779" name="Rectangle 3"/>
          <p:cNvSpPr>
            <a:spLocks noChangeArrowheads="1"/>
          </p:cNvSpPr>
          <p:nvPr/>
        </p:nvSpPr>
        <p:spPr bwMode="auto">
          <a:xfrm>
            <a:off x="1884363" y="2954338"/>
            <a:ext cx="6256337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7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Write work sequence in each process by separate to 3 parts are Working Time,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              Machine Cycle Time and Walking Time</a:t>
            </a:r>
            <a:endParaRPr lang="ja-JP" altLang="en-US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7780" name="Text Box 20"/>
          <p:cNvSpPr txBox="1">
            <a:spLocks noChangeArrowheads="1"/>
          </p:cNvSpPr>
          <p:nvPr/>
        </p:nvSpPr>
        <p:spPr bwMode="auto">
          <a:xfrm>
            <a:off x="5667375" y="3883025"/>
            <a:ext cx="3171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sym typeface="Wingdings" pitchFamily="2" charset="2"/>
              </a:rPr>
              <a:t>STEP </a:t>
            </a:r>
            <a:r>
              <a:rPr lang="en-US" altLang="ja-JP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8</a:t>
            </a:r>
            <a:r>
              <a:rPr lang="en-US" altLang="ja-JP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: Write the time line of each process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               as following bellowing symbol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37781" name="Rectangle 7"/>
          <p:cNvSpPr>
            <a:spLocks noChangeArrowheads="1"/>
          </p:cNvSpPr>
          <p:nvPr/>
        </p:nvSpPr>
        <p:spPr bwMode="auto">
          <a:xfrm>
            <a:off x="1846263" y="4546600"/>
            <a:ext cx="12128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Straight Line</a:t>
            </a:r>
            <a:endParaRPr lang="ja-JP" altLang="en-US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7782" name="Rectangle 9"/>
          <p:cNvSpPr>
            <a:spLocks noChangeArrowheads="1"/>
          </p:cNvSpPr>
          <p:nvPr/>
        </p:nvSpPr>
        <p:spPr bwMode="auto">
          <a:xfrm>
            <a:off x="1927225" y="5114925"/>
            <a:ext cx="923925" cy="236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Dash line</a:t>
            </a:r>
          </a:p>
        </p:txBody>
      </p:sp>
      <p:sp>
        <p:nvSpPr>
          <p:cNvPr id="2037783" name="Rectangle 10"/>
          <p:cNvSpPr>
            <a:spLocks noChangeArrowheads="1"/>
          </p:cNvSpPr>
          <p:nvPr/>
        </p:nvSpPr>
        <p:spPr bwMode="auto">
          <a:xfrm>
            <a:off x="1901825" y="5686425"/>
            <a:ext cx="121285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Wavy line</a:t>
            </a:r>
            <a:r>
              <a:rPr lang="th-TH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endParaRPr lang="en-US" sz="120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37784" name="Rectangle 14"/>
          <p:cNvSpPr>
            <a:spLocks noChangeArrowheads="1"/>
          </p:cNvSpPr>
          <p:nvPr/>
        </p:nvSpPr>
        <p:spPr bwMode="auto">
          <a:xfrm>
            <a:off x="4243388" y="4589463"/>
            <a:ext cx="1092200" cy="18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Working time</a:t>
            </a:r>
          </a:p>
        </p:txBody>
      </p:sp>
      <p:sp>
        <p:nvSpPr>
          <p:cNvPr id="2037785" name="Rectangle 15"/>
          <p:cNvSpPr>
            <a:spLocks noChangeArrowheads="1"/>
          </p:cNvSpPr>
          <p:nvPr/>
        </p:nvSpPr>
        <p:spPr bwMode="auto">
          <a:xfrm>
            <a:off x="4225925" y="5033963"/>
            <a:ext cx="2508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Machine cycle time</a:t>
            </a:r>
          </a:p>
        </p:txBody>
      </p:sp>
      <p:sp>
        <p:nvSpPr>
          <p:cNvPr id="2037786" name="Rectangle 16"/>
          <p:cNvSpPr>
            <a:spLocks noChangeArrowheads="1"/>
          </p:cNvSpPr>
          <p:nvPr/>
        </p:nvSpPr>
        <p:spPr bwMode="auto">
          <a:xfrm>
            <a:off x="4251325" y="5662613"/>
            <a:ext cx="1081088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Walking time</a:t>
            </a:r>
          </a:p>
        </p:txBody>
      </p:sp>
      <p:sp>
        <p:nvSpPr>
          <p:cNvPr id="2037787" name="Rectangle 6"/>
          <p:cNvSpPr>
            <a:spLocks noChangeArrowheads="1"/>
          </p:cNvSpPr>
          <p:nvPr/>
        </p:nvSpPr>
        <p:spPr bwMode="auto">
          <a:xfrm>
            <a:off x="1893888" y="6388100"/>
            <a:ext cx="3725862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9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</a:t>
            </a:r>
            <a:r>
              <a:rPr lang="th-TH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a</a:t>
            </a:r>
            <a:r>
              <a:rPr lang="th-TH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ja-JP" alt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C</a:t>
            </a:r>
            <a:r>
              <a:rPr lang="en-US" altLang="ja-JP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ycle Time line into the table.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786" name="Rectangle 8"/>
          <p:cNvSpPr>
            <a:spLocks noChangeArrowheads="1"/>
          </p:cNvSpPr>
          <p:nvPr/>
        </p:nvSpPr>
        <p:spPr bwMode="auto">
          <a:xfrm>
            <a:off x="323850" y="5237163"/>
            <a:ext cx="7993063" cy="1192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>
                <a:solidFill>
                  <a:srgbClr val="000000"/>
                </a:solidFill>
                <a:latin typeface="Angsana New" pitchFamily="18" charset="-34"/>
              </a:rPr>
              <a:t>1 :</a:t>
            </a:r>
            <a:r>
              <a:rPr lang="en-US" b="1" i="1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จากตารางจับเวลา 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ทำการรวมค่าเวลาในแนวดิ่ง(Total Cycle Time) เลือก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ชุดข้อมูลที่มีผลรวมเวลา</a:t>
            </a:r>
            <a:r>
              <a:rPr lang="en-US">
                <a:solidFill>
                  <a:srgbClr val="000000"/>
                </a:solidFill>
                <a:latin typeface="Angsana New" pitchFamily="18" charset="-34"/>
              </a:rPr>
              <a:t>ที่น้อยที่สุดเพื่อนำไป</a:t>
            </a:r>
            <a:r>
              <a:rPr lang="th-TH">
                <a:solidFill>
                  <a:srgbClr val="000000"/>
                </a:solidFill>
                <a:latin typeface="Angsana New" pitchFamily="18" charset="-34"/>
              </a:rPr>
              <a:t>วิเคราะห์</a:t>
            </a:r>
            <a:endParaRPr lang="en-US" i="1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16" name="ตัวยึดเนื้อหา 4"/>
          <p:cNvSpPr txBox="1">
            <a:spLocks/>
          </p:cNvSpPr>
          <p:nvPr/>
        </p:nvSpPr>
        <p:spPr bwMode="auto">
          <a:xfrm>
            <a:off x="1835150" y="4856163"/>
            <a:ext cx="4929188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spcBef>
                <a:spcPct val="20000"/>
              </a:spcBef>
              <a:spcAft>
                <a:spcPct val="0"/>
              </a:spcAft>
            </a:pPr>
            <a:r>
              <a:rPr lang="en-US" sz="1600" b="1">
                <a:solidFill>
                  <a:srgbClr val="000000"/>
                </a:solidFill>
              </a:rPr>
              <a:t>10.2  12.4   12    12    12.8  11.6   12    14      8     13</a:t>
            </a:r>
          </a:p>
        </p:txBody>
      </p:sp>
      <p:sp>
        <p:nvSpPr>
          <p:cNvPr id="2038788" name="Line 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38789" name="Text Box 5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pic>
        <p:nvPicPr>
          <p:cNvPr id="2038791" name="Picture 2"/>
          <p:cNvPicPr>
            <a:picLocks noChangeAspect="1" noChangeArrowheads="1"/>
          </p:cNvPicPr>
          <p:nvPr/>
        </p:nvPicPr>
        <p:blipFill>
          <a:blip r:embed="rId3" cstate="print"/>
          <a:srcRect b="-3130"/>
          <a:stretch>
            <a:fillRect/>
          </a:stretch>
        </p:blipFill>
        <p:spPr bwMode="auto">
          <a:xfrm>
            <a:off x="395288" y="981075"/>
            <a:ext cx="8424862" cy="431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38792" name="Text Box 3"/>
          <p:cNvSpPr txBox="1">
            <a:spLocks noChangeArrowheads="1"/>
          </p:cNvSpPr>
          <p:nvPr/>
        </p:nvSpPr>
        <p:spPr bwMode="auto">
          <a:xfrm>
            <a:off x="2952750" y="1244600"/>
            <a:ext cx="35337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000" b="1" u="sng">
                <a:solidFill>
                  <a:srgbClr val="000000"/>
                </a:solidFill>
                <a:latin typeface="Microsoft Sans Serif" pitchFamily="34" charset="0"/>
                <a:cs typeface="Microsoft Sans Serif" pitchFamily="34" charset="0"/>
              </a:rPr>
              <a:t>Time Measurement Sheet </a:t>
            </a:r>
          </a:p>
        </p:txBody>
      </p:sp>
      <p:sp>
        <p:nvSpPr>
          <p:cNvPr id="8" name="ตัวยึดเนื้อหา 4"/>
          <p:cNvSpPr txBox="1">
            <a:spLocks/>
          </p:cNvSpPr>
          <p:nvPr/>
        </p:nvSpPr>
        <p:spPr bwMode="auto">
          <a:xfrm>
            <a:off x="684213" y="2060575"/>
            <a:ext cx="1150937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ตรวจสอบชิ้นงานและ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ทำความสะอาด</a:t>
            </a:r>
          </a:p>
        </p:txBody>
      </p:sp>
      <p:sp>
        <p:nvSpPr>
          <p:cNvPr id="2" name="ตัวยึดเนื้อหา 4"/>
          <p:cNvSpPr txBox="1">
            <a:spLocks/>
          </p:cNvSpPr>
          <p:nvPr/>
        </p:nvSpPr>
        <p:spPr bwMode="auto">
          <a:xfrm>
            <a:off x="660400" y="2357438"/>
            <a:ext cx="1643063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นำชิ้นงานเข้าเครื่อง </a:t>
            </a: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P001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กดสวิตซ์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3" name="ตัวยึดเนื้อหา 4"/>
          <p:cNvSpPr txBox="1">
            <a:spLocks/>
          </p:cNvSpPr>
          <p:nvPr/>
        </p:nvSpPr>
        <p:spPr bwMode="auto">
          <a:xfrm>
            <a:off x="660400" y="2628900"/>
            <a:ext cx="12954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นำชิ้นงานเข้าเครื่อง </a:t>
            </a: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P002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กดสวิตซ์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endParaRPr lang="en-US" sz="1200">
              <a:solidFill>
                <a:srgbClr val="000000"/>
              </a:solidFill>
            </a:endParaRPr>
          </a:p>
        </p:txBody>
      </p:sp>
      <p:sp>
        <p:nvSpPr>
          <p:cNvPr id="4" name="ตัวยึดเนื้อหา 4"/>
          <p:cNvSpPr txBox="1">
            <a:spLocks/>
          </p:cNvSpPr>
          <p:nvPr/>
        </p:nvSpPr>
        <p:spPr bwMode="auto">
          <a:xfrm>
            <a:off x="652463" y="2900363"/>
            <a:ext cx="1295400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นำชิ้นงานไปยัง </a:t>
            </a: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Store Side</a:t>
            </a:r>
          </a:p>
          <a:p>
            <a:pPr marL="342900" indent="-342900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latin typeface="Angsana New" pitchFamily="18" charset="-34"/>
              </a:rPr>
              <a:t>Line</a:t>
            </a:r>
          </a:p>
        </p:txBody>
      </p:sp>
      <p:sp>
        <p:nvSpPr>
          <p:cNvPr id="5" name="ตัวยึดเนื้อหา 4"/>
          <p:cNvSpPr txBox="1">
            <a:spLocks/>
          </p:cNvSpPr>
          <p:nvPr/>
        </p:nvSpPr>
        <p:spPr bwMode="auto">
          <a:xfrm>
            <a:off x="428625" y="2125663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1</a:t>
            </a:r>
          </a:p>
        </p:txBody>
      </p:sp>
      <p:sp>
        <p:nvSpPr>
          <p:cNvPr id="6" name="ตัวยึดเนื้อหา 4"/>
          <p:cNvSpPr txBox="1">
            <a:spLocks/>
          </p:cNvSpPr>
          <p:nvPr/>
        </p:nvSpPr>
        <p:spPr bwMode="auto">
          <a:xfrm>
            <a:off x="428625" y="2405063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2</a:t>
            </a:r>
          </a:p>
        </p:txBody>
      </p:sp>
      <p:sp>
        <p:nvSpPr>
          <p:cNvPr id="7" name="ตัวยึดเนื้อหา 4"/>
          <p:cNvSpPr txBox="1">
            <a:spLocks/>
          </p:cNvSpPr>
          <p:nvPr/>
        </p:nvSpPr>
        <p:spPr bwMode="auto">
          <a:xfrm>
            <a:off x="428625" y="2668588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3</a:t>
            </a:r>
          </a:p>
        </p:txBody>
      </p:sp>
      <p:sp>
        <p:nvSpPr>
          <p:cNvPr id="10" name="ตัวยึดเนื้อหา 4"/>
          <p:cNvSpPr txBox="1">
            <a:spLocks/>
          </p:cNvSpPr>
          <p:nvPr/>
        </p:nvSpPr>
        <p:spPr bwMode="auto">
          <a:xfrm>
            <a:off x="428625" y="2924175"/>
            <a:ext cx="288925" cy="21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marL="342900" indent="-342900" algn="ctr" fontAlgn="base">
              <a:lnSpc>
                <a:spcPct val="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600">
                <a:solidFill>
                  <a:srgbClr val="000000"/>
                </a:solidFill>
                <a:latin typeface="Angsana New" pitchFamily="18" charset="-34"/>
              </a:rPr>
              <a:t>4</a:t>
            </a:r>
          </a:p>
        </p:txBody>
      </p:sp>
      <p:sp>
        <p:nvSpPr>
          <p:cNvPr id="9" name="ตัวยึดเนื้อหา 4"/>
          <p:cNvSpPr txBox="1">
            <a:spLocks/>
          </p:cNvSpPr>
          <p:nvPr/>
        </p:nvSpPr>
        <p:spPr bwMode="auto">
          <a:xfrm>
            <a:off x="1958975" y="2022475"/>
            <a:ext cx="4929188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 3      5.2       5        4        6      4.8</a:t>
            </a:r>
            <a:r>
              <a:rPr lang="th-TH" sz="1400">
                <a:solidFill>
                  <a:srgbClr val="000000"/>
                </a:solidFill>
              </a:rPr>
              <a:t> </a:t>
            </a:r>
            <a:r>
              <a:rPr lang="en-US" sz="1400">
                <a:solidFill>
                  <a:srgbClr val="000000"/>
                </a:solidFill>
              </a:rPr>
              <a:t>      5       5        4        6</a:t>
            </a:r>
          </a:p>
        </p:txBody>
      </p:sp>
      <p:sp>
        <p:nvSpPr>
          <p:cNvPr id="11" name="ตัวยึดเนื้อหา 4"/>
          <p:cNvSpPr txBox="1">
            <a:spLocks/>
          </p:cNvSpPr>
          <p:nvPr/>
        </p:nvSpPr>
        <p:spPr bwMode="auto">
          <a:xfrm>
            <a:off x="2012950" y="2298700"/>
            <a:ext cx="4929188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2      2.1       2        2        2      1.9       2       3        1        2</a:t>
            </a:r>
            <a:endParaRPr lang="th-TH" sz="1400">
              <a:solidFill>
                <a:srgbClr val="000000"/>
              </a:solidFill>
            </a:endParaRPr>
          </a:p>
        </p:txBody>
      </p:sp>
      <p:sp>
        <p:nvSpPr>
          <p:cNvPr id="12" name="ตัวยึดเนื้อหา 4"/>
          <p:cNvSpPr txBox="1">
            <a:spLocks/>
          </p:cNvSpPr>
          <p:nvPr/>
        </p:nvSpPr>
        <p:spPr bwMode="auto">
          <a:xfrm>
            <a:off x="1911350" y="2573338"/>
            <a:ext cx="4929188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2.1     2.1       2        2      1.9     1.9       2       3        1        2</a:t>
            </a:r>
          </a:p>
        </p:txBody>
      </p:sp>
      <p:sp>
        <p:nvSpPr>
          <p:cNvPr id="13" name="ตัวยึดเนื้อหา 4"/>
          <p:cNvSpPr txBox="1">
            <a:spLocks/>
          </p:cNvSpPr>
          <p:nvPr/>
        </p:nvSpPr>
        <p:spPr bwMode="auto">
          <a:xfrm>
            <a:off x="1908175" y="2844800"/>
            <a:ext cx="4929188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fontAlgn="base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1400">
                <a:solidFill>
                  <a:srgbClr val="000000"/>
                </a:solidFill>
              </a:rPr>
              <a:t>3.1      3         3        4      2.9       3        3       3        2        3</a:t>
            </a:r>
          </a:p>
        </p:txBody>
      </p:sp>
      <p:sp>
        <p:nvSpPr>
          <p:cNvPr id="2038805" name="Rectangle 6"/>
          <p:cNvSpPr>
            <a:spLocks noChangeArrowheads="1"/>
          </p:cNvSpPr>
          <p:nvPr/>
        </p:nvSpPr>
        <p:spPr bwMode="auto">
          <a:xfrm>
            <a:off x="5724525" y="1773238"/>
            <a:ext cx="647700" cy="3479800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4000" b="1">
              <a:solidFill>
                <a:srgbClr val="FF0000"/>
              </a:solidFill>
            </a:endParaRPr>
          </a:p>
        </p:txBody>
      </p:sp>
      <p:sp>
        <p:nvSpPr>
          <p:cNvPr id="2038806" name="Rectangle 8"/>
          <p:cNvSpPr>
            <a:spLocks noChangeArrowheads="1"/>
          </p:cNvSpPr>
          <p:nvPr/>
        </p:nvSpPr>
        <p:spPr bwMode="auto">
          <a:xfrm>
            <a:off x="576263" y="6110288"/>
            <a:ext cx="8243887" cy="760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1 :</a:t>
            </a:r>
            <a:r>
              <a:rPr lang="en-US" sz="1200" b="1" i="1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From Time Measurement Sheet summarize the time in </a:t>
            </a:r>
            <a:r>
              <a:rPr lang="th-TH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vertical </a:t>
            </a: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(Total Cycle Time) and choose the minimum to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              analyze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0834" name="Picture 4"/>
          <p:cNvPicPr>
            <a:picLocks noChangeAspect="1" noChangeArrowheads="1"/>
          </p:cNvPicPr>
          <p:nvPr/>
        </p:nvPicPr>
        <p:blipFill>
          <a:blip r:embed="rId2" cstate="print"/>
          <a:srcRect l="1810" t="13385" r="16061" b="16431"/>
          <a:stretch>
            <a:fillRect/>
          </a:stretch>
        </p:blipFill>
        <p:spPr bwMode="auto">
          <a:xfrm>
            <a:off x="179388" y="1196975"/>
            <a:ext cx="2879725" cy="19700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sp>
        <p:nvSpPr>
          <p:cNvPr id="2040835" name="AutoShape 3"/>
          <p:cNvSpPr>
            <a:spLocks noChangeArrowheads="1"/>
          </p:cNvSpPr>
          <p:nvPr/>
        </p:nvSpPr>
        <p:spPr bwMode="auto">
          <a:xfrm>
            <a:off x="1114425" y="2420938"/>
            <a:ext cx="7345363" cy="2519362"/>
          </a:xfrm>
          <a:prstGeom prst="wedgeRectCallout">
            <a:avLst>
              <a:gd name="adj1" fmla="val -49523"/>
              <a:gd name="adj2" fmla="val -79176"/>
            </a:avLst>
          </a:prstGeom>
          <a:noFill/>
          <a:ln w="28575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0836" name="Oval 4"/>
          <p:cNvSpPr>
            <a:spLocks noChangeArrowheads="1"/>
          </p:cNvSpPr>
          <p:nvPr/>
        </p:nvSpPr>
        <p:spPr bwMode="auto">
          <a:xfrm>
            <a:off x="0" y="1268413"/>
            <a:ext cx="1619250" cy="792162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65125" y="5043488"/>
            <a:ext cx="8461375" cy="1192212"/>
            <a:chOff x="230" y="3177"/>
            <a:chExt cx="5330" cy="751"/>
          </a:xfrm>
        </p:grpSpPr>
        <p:sp>
          <p:nvSpPr>
            <p:cNvPr id="2040838" name="Rectangle 8"/>
            <p:cNvSpPr>
              <a:spLocks noChangeArrowheads="1"/>
            </p:cNvSpPr>
            <p:nvPr/>
          </p:nvSpPr>
          <p:spPr bwMode="auto">
            <a:xfrm>
              <a:off x="230" y="3177"/>
              <a:ext cx="5330" cy="75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b="1" smtClean="0">
                  <a:solidFill>
                    <a:srgbClr val="000000"/>
                  </a:solidFill>
                  <a:latin typeface="Angsana New" pitchFamily="18" charset="-34"/>
                </a:rPr>
                <a:t>ขั้นตอนที่ </a:t>
              </a:r>
              <a:r>
                <a:rPr lang="en-US" b="1" smtClean="0">
                  <a:solidFill>
                    <a:srgbClr val="000000"/>
                  </a:solidFill>
                  <a:latin typeface="Angsana New" pitchFamily="18" charset="-34"/>
                </a:rPr>
                <a:t>2 : </a:t>
              </a:r>
              <a:r>
                <a:rPr lang="th-TH" smtClean="0">
                  <a:solidFill>
                    <a:srgbClr val="000000"/>
                  </a:solidFill>
                  <a:latin typeface="Angsana New" pitchFamily="18" charset="-34"/>
                </a:rPr>
                <a:t>เขียนรายละเอียดขั้นตอนการทำงานลงในตาราง หากขั้นตอนการทำงานนั้นมีเรื่องคุณภาพเข้ามาเกี่ยวข้องให้ใส่สัญลักษณ์      กำกับ  หากเป็นเรื่องความปลอดภัยให้ใส่สัญลักษณ์       กำกับ   </a:t>
              </a:r>
              <a:endParaRPr lang="en-US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0839" name="AutoShape 7"/>
            <p:cNvSpPr>
              <a:spLocks noChangeArrowheads="1"/>
            </p:cNvSpPr>
            <p:nvPr/>
          </p:nvSpPr>
          <p:spPr bwMode="auto">
            <a:xfrm>
              <a:off x="2979" y="3465"/>
              <a:ext cx="189" cy="181"/>
            </a:xfrm>
            <a:prstGeom prst="flowChartDecision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0840" name="AutoShape 8"/>
            <p:cNvSpPr>
              <a:spLocks noChangeArrowheads="1"/>
            </p:cNvSpPr>
            <p:nvPr/>
          </p:nvSpPr>
          <p:spPr bwMode="auto">
            <a:xfrm>
              <a:off x="1111" y="3753"/>
              <a:ext cx="168" cy="168"/>
            </a:xfrm>
            <a:prstGeom prst="plus">
              <a:avLst>
                <a:gd name="adj" fmla="val 30954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839788" y="2514600"/>
            <a:ext cx="7475537" cy="2320925"/>
            <a:chOff x="529" y="1584"/>
            <a:chExt cx="4709" cy="1462"/>
          </a:xfrm>
        </p:grpSpPr>
        <p:pic>
          <p:nvPicPr>
            <p:cNvPr id="204084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837" t="21077" r="59416" b="63541"/>
            <a:stretch>
              <a:fillRect/>
            </a:stretch>
          </p:blipFill>
          <p:spPr bwMode="auto">
            <a:xfrm>
              <a:off x="756" y="1584"/>
              <a:ext cx="4482" cy="1462"/>
            </a:xfrm>
            <a:prstGeom prst="rect">
              <a:avLst/>
            </a:prstGeom>
            <a:noFill/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</p:spPr>
        </p:pic>
        <p:sp>
          <p:nvSpPr>
            <p:cNvPr id="2040843" name="Text Box 11"/>
            <p:cNvSpPr txBox="1">
              <a:spLocks noChangeArrowheads="1"/>
            </p:cNvSpPr>
            <p:nvPr/>
          </p:nvSpPr>
          <p:spPr bwMode="auto">
            <a:xfrm>
              <a:off x="872" y="1931"/>
              <a:ext cx="20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smtClean="0">
                  <a:solidFill>
                    <a:srgbClr val="000000"/>
                  </a:solidFill>
                  <a:latin typeface="Times New Roman" pitchFamily="18" charset="0"/>
                </a:rPr>
                <a:t>1.</a:t>
              </a:r>
              <a:r>
                <a:rPr lang="th-TH" sz="2000" smtClean="0">
                  <a:solidFill>
                    <a:srgbClr val="000000"/>
                  </a:solidFill>
                  <a:latin typeface="Times New Roman" pitchFamily="18" charset="0"/>
                </a:rPr>
                <a:t>ตรวจสอบชิ้นงานและทำความสะอาด</a:t>
              </a:r>
            </a:p>
          </p:txBody>
        </p:sp>
        <p:sp>
          <p:nvSpPr>
            <p:cNvPr id="2040844" name="Text Box 12"/>
            <p:cNvSpPr txBox="1">
              <a:spLocks noChangeArrowheads="1"/>
            </p:cNvSpPr>
            <p:nvPr/>
          </p:nvSpPr>
          <p:spPr bwMode="auto">
            <a:xfrm>
              <a:off x="872" y="2158"/>
              <a:ext cx="20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smtClean="0">
                  <a:solidFill>
                    <a:srgbClr val="000000"/>
                  </a:solidFill>
                  <a:latin typeface="Times New Roman" pitchFamily="18" charset="0"/>
                </a:rPr>
                <a:t>2.</a:t>
              </a:r>
              <a:r>
                <a:rPr lang="th-TH" sz="2000" smtClean="0">
                  <a:solidFill>
                    <a:srgbClr val="000000"/>
                  </a:solidFill>
                  <a:latin typeface="Times New Roman" pitchFamily="18" charset="0"/>
                </a:rPr>
                <a:t>นำชิ้นงานเข้าเครื่องจักร </a:t>
              </a:r>
              <a:r>
                <a:rPr lang="en-US" sz="2000" smtClean="0">
                  <a:solidFill>
                    <a:srgbClr val="000000"/>
                  </a:solidFill>
                  <a:latin typeface="Times New Roman" pitchFamily="18" charset="0"/>
                </a:rPr>
                <a:t>P001</a:t>
              </a:r>
              <a:endParaRPr lang="th-TH" sz="20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0845" name="Text Box 13"/>
            <p:cNvSpPr txBox="1">
              <a:spLocks noChangeArrowheads="1"/>
            </p:cNvSpPr>
            <p:nvPr/>
          </p:nvSpPr>
          <p:spPr bwMode="auto">
            <a:xfrm>
              <a:off x="872" y="2385"/>
              <a:ext cx="20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smtClean="0">
                  <a:solidFill>
                    <a:srgbClr val="000000"/>
                  </a:solidFill>
                  <a:latin typeface="Times New Roman" pitchFamily="18" charset="0"/>
                </a:rPr>
                <a:t>3.</a:t>
              </a:r>
              <a:r>
                <a:rPr lang="th-TH" sz="2000" smtClean="0">
                  <a:solidFill>
                    <a:srgbClr val="000000"/>
                  </a:solidFill>
                  <a:latin typeface="Times New Roman" pitchFamily="18" charset="0"/>
                </a:rPr>
                <a:t>นำชิ้นงานเข้าเครื่องจักร </a:t>
              </a:r>
              <a:r>
                <a:rPr lang="en-US" sz="2000" smtClean="0">
                  <a:solidFill>
                    <a:srgbClr val="000000"/>
                  </a:solidFill>
                  <a:latin typeface="Times New Roman" pitchFamily="18" charset="0"/>
                </a:rPr>
                <a:t>P002</a:t>
              </a:r>
              <a:endParaRPr lang="th-TH" sz="20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0846" name="Text Box 14"/>
            <p:cNvSpPr txBox="1">
              <a:spLocks noChangeArrowheads="1"/>
            </p:cNvSpPr>
            <p:nvPr/>
          </p:nvSpPr>
          <p:spPr bwMode="auto">
            <a:xfrm>
              <a:off x="872" y="2589"/>
              <a:ext cx="200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smtClean="0">
                  <a:solidFill>
                    <a:srgbClr val="000000"/>
                  </a:solidFill>
                  <a:latin typeface="Times New Roman" pitchFamily="18" charset="0"/>
                </a:rPr>
                <a:t>4.</a:t>
              </a:r>
              <a:r>
                <a:rPr lang="th-TH" sz="2000" smtClean="0">
                  <a:solidFill>
                    <a:srgbClr val="000000"/>
                  </a:solidFill>
                  <a:latin typeface="Times New Roman" pitchFamily="18" charset="0"/>
                </a:rPr>
                <a:t>ทำการจัดเก็บชิ้นงาน</a:t>
              </a:r>
            </a:p>
          </p:txBody>
        </p:sp>
        <p:sp>
          <p:nvSpPr>
            <p:cNvPr id="2040847" name="AutoShape 15"/>
            <p:cNvSpPr>
              <a:spLocks noChangeArrowheads="1"/>
            </p:cNvSpPr>
            <p:nvPr/>
          </p:nvSpPr>
          <p:spPr bwMode="auto">
            <a:xfrm>
              <a:off x="742" y="1980"/>
              <a:ext cx="182" cy="136"/>
            </a:xfrm>
            <a:prstGeom prst="flowChartDecision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0848" name="AutoShape 16"/>
            <p:cNvSpPr>
              <a:spLocks noChangeArrowheads="1"/>
            </p:cNvSpPr>
            <p:nvPr/>
          </p:nvSpPr>
          <p:spPr bwMode="auto">
            <a:xfrm>
              <a:off x="756" y="2416"/>
              <a:ext cx="168" cy="168"/>
            </a:xfrm>
            <a:prstGeom prst="plus">
              <a:avLst>
                <a:gd name="adj" fmla="val 30954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0849" name="Text Box 17"/>
            <p:cNvSpPr txBox="1">
              <a:spLocks noChangeArrowheads="1"/>
            </p:cNvSpPr>
            <p:nvPr/>
          </p:nvSpPr>
          <p:spPr bwMode="auto">
            <a:xfrm>
              <a:off x="2843" y="2174"/>
              <a:ext cx="45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 smtClean="0">
                  <a:solidFill>
                    <a:srgbClr val="000000"/>
                  </a:solidFill>
                  <a:latin typeface="Times New Roman" pitchFamily="18" charset="0"/>
                </a:rPr>
                <a:t>P001</a:t>
              </a:r>
              <a:endParaRPr lang="th-TH" sz="18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0850" name="Text Box 18"/>
            <p:cNvSpPr txBox="1">
              <a:spLocks noChangeArrowheads="1"/>
            </p:cNvSpPr>
            <p:nvPr/>
          </p:nvSpPr>
          <p:spPr bwMode="auto">
            <a:xfrm>
              <a:off x="2854" y="2413"/>
              <a:ext cx="45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800" smtClean="0">
                  <a:solidFill>
                    <a:srgbClr val="000000"/>
                  </a:solidFill>
                  <a:latin typeface="Times New Roman" pitchFamily="18" charset="0"/>
                </a:rPr>
                <a:t>P002</a:t>
              </a:r>
              <a:endParaRPr lang="th-TH" sz="18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0851" name="Oval 19"/>
            <p:cNvSpPr>
              <a:spLocks noChangeArrowheads="1"/>
            </p:cNvSpPr>
            <p:nvPr/>
          </p:nvSpPr>
          <p:spPr bwMode="auto">
            <a:xfrm>
              <a:off x="529" y="1968"/>
              <a:ext cx="2994" cy="952"/>
            </a:xfrm>
            <a:prstGeom prst="ellipse">
              <a:avLst/>
            </a:prstGeom>
            <a:noFill/>
            <a:ln w="28575" cap="rnd" algn="ctr">
              <a:solidFill>
                <a:srgbClr val="FF0000"/>
              </a:solidFill>
              <a:prstDash val="sysDot"/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2040852" name="Line 20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0853" name="Text Box 21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768350" y="6249988"/>
            <a:ext cx="7991475" cy="503237"/>
            <a:chOff x="484" y="3937"/>
            <a:chExt cx="5034" cy="317"/>
          </a:xfrm>
        </p:grpSpPr>
        <p:sp>
          <p:nvSpPr>
            <p:cNvPr id="2040856" name="Rectangle 8"/>
            <p:cNvSpPr>
              <a:spLocks noChangeArrowheads="1"/>
            </p:cNvSpPr>
            <p:nvPr/>
          </p:nvSpPr>
          <p:spPr bwMode="auto">
            <a:xfrm>
              <a:off x="484" y="3937"/>
              <a:ext cx="5034" cy="3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b="1" smtClean="0">
                  <a:solidFill>
                    <a:srgbClr val="000000"/>
                  </a:solidFill>
                  <a:ea typeface="MS PGothic" pitchFamily="34" charset="-128"/>
                  <a:sym typeface="Wingdings" pitchFamily="2" charset="2"/>
                </a:rPr>
                <a:t>STEP 2 :</a:t>
              </a:r>
              <a:r>
                <a:rPr lang="en-US" sz="1200" b="1" i="1" smtClean="0">
                  <a:solidFill>
                    <a:srgbClr val="000000"/>
                  </a:solidFill>
                  <a:ea typeface="MS PGothic" pitchFamily="34" charset="-128"/>
                  <a:sym typeface="Wingdings" pitchFamily="2" charset="2"/>
                </a:rPr>
                <a:t> </a:t>
              </a: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  <a:sym typeface="Wingdings" pitchFamily="2" charset="2"/>
                </a:rPr>
                <a:t>Write work sequence details into the table. If have process that concerned with quality please write      , if concerned with safety write       into the table.    </a:t>
              </a:r>
              <a:endParaRPr lang="en-US" sz="1200" i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40857" name="AutoShape 25"/>
            <p:cNvSpPr>
              <a:spLocks noChangeArrowheads="1"/>
            </p:cNvSpPr>
            <p:nvPr/>
          </p:nvSpPr>
          <p:spPr bwMode="auto">
            <a:xfrm>
              <a:off x="5151" y="3969"/>
              <a:ext cx="136" cy="130"/>
            </a:xfrm>
            <a:prstGeom prst="flowChartDecision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0858" name="AutoShape 26"/>
            <p:cNvSpPr>
              <a:spLocks noChangeArrowheads="1"/>
            </p:cNvSpPr>
            <p:nvPr/>
          </p:nvSpPr>
          <p:spPr bwMode="auto">
            <a:xfrm>
              <a:off x="1717" y="4097"/>
              <a:ext cx="136" cy="136"/>
            </a:xfrm>
            <a:prstGeom prst="plus">
              <a:avLst>
                <a:gd name="adj" fmla="val 30954"/>
              </a:avLst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858" name="Rectangle 8"/>
          <p:cNvSpPr>
            <a:spLocks noChangeArrowheads="1"/>
          </p:cNvSpPr>
          <p:nvPr/>
        </p:nvSpPr>
        <p:spPr bwMode="auto">
          <a:xfrm>
            <a:off x="395288" y="5554663"/>
            <a:ext cx="7993062" cy="62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3 :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ใส่เวลาที่ใช้โดยแบ่งเป็นเวลาของ คน เครื่องจักร และ เวลาในการเดิน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pic>
        <p:nvPicPr>
          <p:cNvPr id="2041859" name="Picture 4"/>
          <p:cNvPicPr>
            <a:picLocks noChangeAspect="1" noChangeArrowheads="1"/>
          </p:cNvPicPr>
          <p:nvPr/>
        </p:nvPicPr>
        <p:blipFill>
          <a:blip r:embed="rId2" cstate="print"/>
          <a:srcRect l="1810" t="13385" r="16061" b="16431"/>
          <a:stretch>
            <a:fillRect/>
          </a:stretch>
        </p:blipFill>
        <p:spPr bwMode="auto">
          <a:xfrm>
            <a:off x="268288" y="1270000"/>
            <a:ext cx="2879725" cy="19700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pic>
        <p:nvPicPr>
          <p:cNvPr id="2041860" name="Picture 4"/>
          <p:cNvPicPr>
            <a:picLocks noChangeAspect="1" noChangeArrowheads="1"/>
          </p:cNvPicPr>
          <p:nvPr/>
        </p:nvPicPr>
        <p:blipFill>
          <a:blip r:embed="rId2" cstate="print"/>
          <a:srcRect l="2837" t="21077" r="59416" b="63541"/>
          <a:stretch>
            <a:fillRect/>
          </a:stretch>
        </p:blipFill>
        <p:spPr bwMode="auto">
          <a:xfrm>
            <a:off x="1276350" y="2947988"/>
            <a:ext cx="7115175" cy="23209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sp>
        <p:nvSpPr>
          <p:cNvPr id="2041861" name="AutoShape 5"/>
          <p:cNvSpPr>
            <a:spLocks noChangeArrowheads="1"/>
          </p:cNvSpPr>
          <p:nvPr/>
        </p:nvSpPr>
        <p:spPr bwMode="auto">
          <a:xfrm>
            <a:off x="1131888" y="2854325"/>
            <a:ext cx="7345362" cy="2519363"/>
          </a:xfrm>
          <a:prstGeom prst="wedgeRectCallout">
            <a:avLst>
              <a:gd name="adj1" fmla="val -56093"/>
              <a:gd name="adj2" fmla="val -95685"/>
            </a:avLst>
          </a:prstGeom>
          <a:noFill/>
          <a:ln w="28575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62" name="Oval 6"/>
          <p:cNvSpPr>
            <a:spLocks noChangeArrowheads="1"/>
          </p:cNvSpPr>
          <p:nvPr/>
        </p:nvSpPr>
        <p:spPr bwMode="auto">
          <a:xfrm>
            <a:off x="88900" y="1341438"/>
            <a:ext cx="1619250" cy="792162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1863" name="Text Box 7"/>
          <p:cNvSpPr txBox="1">
            <a:spLocks noChangeArrowheads="1"/>
          </p:cNvSpPr>
          <p:nvPr/>
        </p:nvSpPr>
        <p:spPr bwMode="auto">
          <a:xfrm>
            <a:off x="1473200" y="3536950"/>
            <a:ext cx="3187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</a:t>
            </a:r>
            <a:r>
              <a:rPr lang="th-TH" sz="2000" smtClean="0">
                <a:solidFill>
                  <a:srgbClr val="000000"/>
                </a:solidFill>
                <a:latin typeface="Times New Roman" pitchFamily="18" charset="0"/>
              </a:rPr>
              <a:t>ตรวจสอบชิ้นงานและทำความสะอาด</a:t>
            </a:r>
          </a:p>
        </p:txBody>
      </p:sp>
      <p:sp>
        <p:nvSpPr>
          <p:cNvPr id="2041864" name="Text Box 8"/>
          <p:cNvSpPr txBox="1">
            <a:spLocks noChangeArrowheads="1"/>
          </p:cNvSpPr>
          <p:nvPr/>
        </p:nvSpPr>
        <p:spPr bwMode="auto">
          <a:xfrm>
            <a:off x="1473200" y="3897313"/>
            <a:ext cx="3187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2.</a:t>
            </a:r>
            <a:r>
              <a:rPr lang="th-TH" sz="2000" smtClean="0">
                <a:solidFill>
                  <a:srgbClr val="000000"/>
                </a:solidFill>
                <a:latin typeface="Times New Roman" pitchFamily="18" charset="0"/>
              </a:rPr>
              <a:t>นำชิ้นงานเข้าเครื่องจักร </a:t>
            </a: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P001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65" name="Text Box 9"/>
          <p:cNvSpPr txBox="1">
            <a:spLocks noChangeArrowheads="1"/>
          </p:cNvSpPr>
          <p:nvPr/>
        </p:nvSpPr>
        <p:spPr bwMode="auto">
          <a:xfrm>
            <a:off x="1473200" y="4257675"/>
            <a:ext cx="3187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3.</a:t>
            </a:r>
            <a:r>
              <a:rPr lang="th-TH" sz="2000" smtClean="0">
                <a:solidFill>
                  <a:srgbClr val="000000"/>
                </a:solidFill>
                <a:latin typeface="Times New Roman" pitchFamily="18" charset="0"/>
              </a:rPr>
              <a:t>นำชิ้นงานเข้าเครื่องจักร </a:t>
            </a: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P002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66" name="Text Box 10"/>
          <p:cNvSpPr txBox="1">
            <a:spLocks noChangeArrowheads="1"/>
          </p:cNvSpPr>
          <p:nvPr/>
        </p:nvSpPr>
        <p:spPr bwMode="auto">
          <a:xfrm>
            <a:off x="1473200" y="4581525"/>
            <a:ext cx="31877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4.</a:t>
            </a:r>
            <a:r>
              <a:rPr lang="th-TH" sz="2000" smtClean="0">
                <a:solidFill>
                  <a:srgbClr val="000000"/>
                </a:solidFill>
                <a:latin typeface="Times New Roman" pitchFamily="18" charset="0"/>
              </a:rPr>
              <a:t>ทำการจัดเก็บชิ้นงาน</a:t>
            </a:r>
          </a:p>
        </p:txBody>
      </p:sp>
      <p:sp>
        <p:nvSpPr>
          <p:cNvPr id="2041867" name="AutoShape 11"/>
          <p:cNvSpPr>
            <a:spLocks noChangeArrowheads="1"/>
          </p:cNvSpPr>
          <p:nvPr/>
        </p:nvSpPr>
        <p:spPr bwMode="auto">
          <a:xfrm>
            <a:off x="1254125" y="3602038"/>
            <a:ext cx="288925" cy="215900"/>
          </a:xfrm>
          <a:prstGeom prst="flowChartDecision">
            <a:avLst/>
          </a:prstGeom>
          <a:solidFill>
            <a:srgbClr val="FFFF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1868" name="AutoShape 12"/>
          <p:cNvSpPr>
            <a:spLocks noChangeArrowheads="1"/>
          </p:cNvSpPr>
          <p:nvPr/>
        </p:nvSpPr>
        <p:spPr bwMode="auto">
          <a:xfrm>
            <a:off x="1276350" y="4294188"/>
            <a:ext cx="266700" cy="266700"/>
          </a:xfrm>
          <a:prstGeom prst="plus">
            <a:avLst>
              <a:gd name="adj" fmla="val 30954"/>
            </a:avLst>
          </a:prstGeom>
          <a:solidFill>
            <a:srgbClr val="00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1869" name="Text Box 13"/>
          <p:cNvSpPr txBox="1">
            <a:spLocks noChangeArrowheads="1"/>
          </p:cNvSpPr>
          <p:nvPr/>
        </p:nvSpPr>
        <p:spPr bwMode="auto">
          <a:xfrm>
            <a:off x="4589463" y="3897313"/>
            <a:ext cx="7191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P001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70" name="Text Box 14"/>
          <p:cNvSpPr txBox="1">
            <a:spLocks noChangeArrowheads="1"/>
          </p:cNvSpPr>
          <p:nvPr/>
        </p:nvSpPr>
        <p:spPr bwMode="auto">
          <a:xfrm>
            <a:off x="4606925" y="4276725"/>
            <a:ext cx="719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P002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71" name="Text Box 15"/>
          <p:cNvSpPr txBox="1">
            <a:spLocks noChangeArrowheads="1"/>
          </p:cNvSpPr>
          <p:nvPr/>
        </p:nvSpPr>
        <p:spPr bwMode="auto">
          <a:xfrm>
            <a:off x="5095875" y="3514725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3.8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72" name="Text Box 16"/>
          <p:cNvSpPr txBox="1">
            <a:spLocks noChangeArrowheads="1"/>
          </p:cNvSpPr>
          <p:nvPr/>
        </p:nvSpPr>
        <p:spPr bwMode="auto">
          <a:xfrm>
            <a:off x="5092700" y="3897313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1.9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73" name="Text Box 17"/>
          <p:cNvSpPr txBox="1">
            <a:spLocks noChangeArrowheads="1"/>
          </p:cNvSpPr>
          <p:nvPr/>
        </p:nvSpPr>
        <p:spPr bwMode="auto">
          <a:xfrm>
            <a:off x="5597525" y="3897313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74" name="Text Box 18"/>
          <p:cNvSpPr txBox="1">
            <a:spLocks noChangeArrowheads="1"/>
          </p:cNvSpPr>
          <p:nvPr/>
        </p:nvSpPr>
        <p:spPr bwMode="auto">
          <a:xfrm>
            <a:off x="5597525" y="425767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75" name="Text Box 19"/>
          <p:cNvSpPr txBox="1">
            <a:spLocks noChangeArrowheads="1"/>
          </p:cNvSpPr>
          <p:nvPr/>
        </p:nvSpPr>
        <p:spPr bwMode="auto">
          <a:xfrm>
            <a:off x="6029325" y="47974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76" name="Text Box 20"/>
          <p:cNvSpPr txBox="1">
            <a:spLocks noChangeArrowheads="1"/>
          </p:cNvSpPr>
          <p:nvPr/>
        </p:nvSpPr>
        <p:spPr bwMode="auto">
          <a:xfrm>
            <a:off x="5237163" y="45815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77" name="Text Box 21"/>
          <p:cNvSpPr txBox="1">
            <a:spLocks noChangeArrowheads="1"/>
          </p:cNvSpPr>
          <p:nvPr/>
        </p:nvSpPr>
        <p:spPr bwMode="auto">
          <a:xfrm>
            <a:off x="5095875" y="4257675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1.9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1878" name="Oval 22"/>
          <p:cNvSpPr>
            <a:spLocks noChangeArrowheads="1"/>
          </p:cNvSpPr>
          <p:nvPr/>
        </p:nvSpPr>
        <p:spPr bwMode="auto">
          <a:xfrm>
            <a:off x="4589463" y="3214688"/>
            <a:ext cx="1871662" cy="2159000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1879" name="Text Box 23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41881" name="Line 25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1882" name="Rectangle 8"/>
          <p:cNvSpPr>
            <a:spLocks noChangeArrowheads="1"/>
          </p:cNvSpPr>
          <p:nvPr/>
        </p:nvSpPr>
        <p:spPr bwMode="auto">
          <a:xfrm>
            <a:off x="1004888" y="6021388"/>
            <a:ext cx="6443662" cy="427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cs typeface="Times New Roman" pitchFamily="18" charset="0"/>
                <a:sym typeface="Wingdings" pitchFamily="2" charset="2"/>
              </a:rPr>
              <a:t>STEP 3 :</a:t>
            </a:r>
            <a:r>
              <a:rPr lang="en-US" sz="1200" b="1" i="1" smtClean="0">
                <a:solidFill>
                  <a:srgbClr val="000000"/>
                </a:solidFill>
                <a:ea typeface="MS PGothic" pitchFamily="34" charset="-128"/>
                <a:cs typeface="Times New Roman" pitchFamily="18" charset="0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cs typeface="Times New Roman" pitchFamily="18" charset="0"/>
                <a:sym typeface="Wingdings" pitchFamily="2" charset="2"/>
              </a:rPr>
              <a:t>Write a time that separated by Working time, Machine Time and Walking Time.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882" name="Rectangle 8"/>
          <p:cNvSpPr>
            <a:spLocks noChangeArrowheads="1"/>
          </p:cNvSpPr>
          <p:nvPr/>
        </p:nvSpPr>
        <p:spPr bwMode="auto">
          <a:xfrm>
            <a:off x="468313" y="5678488"/>
            <a:ext cx="79930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4 :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เขียนเส้นเวลาการทำงานลงในตารางเวลา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pic>
        <p:nvPicPr>
          <p:cNvPr id="2042883" name="Picture 4"/>
          <p:cNvPicPr>
            <a:picLocks noChangeAspect="1" noChangeArrowheads="1"/>
          </p:cNvPicPr>
          <p:nvPr/>
        </p:nvPicPr>
        <p:blipFill>
          <a:blip r:embed="rId2" cstate="print"/>
          <a:srcRect l="1810" t="13385" r="16061" b="16431"/>
          <a:stretch>
            <a:fillRect/>
          </a:stretch>
        </p:blipFill>
        <p:spPr bwMode="auto">
          <a:xfrm>
            <a:off x="179388" y="1270000"/>
            <a:ext cx="2879725" cy="19700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pic>
        <p:nvPicPr>
          <p:cNvPr id="2042884" name="Picture 4"/>
          <p:cNvPicPr>
            <a:picLocks noChangeAspect="1" noChangeArrowheads="1"/>
          </p:cNvPicPr>
          <p:nvPr/>
        </p:nvPicPr>
        <p:blipFill>
          <a:blip r:embed="rId2" cstate="print"/>
          <a:srcRect l="20792" t="21077" r="40997" b="63541"/>
          <a:stretch>
            <a:fillRect/>
          </a:stretch>
        </p:blipFill>
        <p:spPr bwMode="auto">
          <a:xfrm>
            <a:off x="1114425" y="2947988"/>
            <a:ext cx="7202488" cy="23209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sp>
        <p:nvSpPr>
          <p:cNvPr id="2042885" name="AutoShape 5"/>
          <p:cNvSpPr>
            <a:spLocks noChangeArrowheads="1"/>
          </p:cNvSpPr>
          <p:nvPr/>
        </p:nvSpPr>
        <p:spPr bwMode="auto">
          <a:xfrm>
            <a:off x="1042988" y="2854325"/>
            <a:ext cx="7345362" cy="2519363"/>
          </a:xfrm>
          <a:prstGeom prst="wedgeRectCallout">
            <a:avLst>
              <a:gd name="adj1" fmla="val -39282"/>
              <a:gd name="adj2" fmla="val -87745"/>
            </a:avLst>
          </a:prstGeom>
          <a:noFill/>
          <a:ln w="28575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86" name="Oval 6"/>
          <p:cNvSpPr>
            <a:spLocks noChangeArrowheads="1"/>
          </p:cNvSpPr>
          <p:nvPr/>
        </p:nvSpPr>
        <p:spPr bwMode="auto">
          <a:xfrm>
            <a:off x="755650" y="1485900"/>
            <a:ext cx="2232025" cy="792163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2887" name="Text Box 7"/>
          <p:cNvSpPr txBox="1">
            <a:spLocks noChangeArrowheads="1"/>
          </p:cNvSpPr>
          <p:nvPr/>
        </p:nvSpPr>
        <p:spPr bwMode="auto">
          <a:xfrm>
            <a:off x="1042988" y="3897313"/>
            <a:ext cx="7191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P001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88" name="Text Box 8"/>
          <p:cNvSpPr txBox="1">
            <a:spLocks noChangeArrowheads="1"/>
          </p:cNvSpPr>
          <p:nvPr/>
        </p:nvSpPr>
        <p:spPr bwMode="auto">
          <a:xfrm>
            <a:off x="1060450" y="4276725"/>
            <a:ext cx="719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P002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89" name="Text Box 9"/>
          <p:cNvSpPr txBox="1">
            <a:spLocks noChangeArrowheads="1"/>
          </p:cNvSpPr>
          <p:nvPr/>
        </p:nvSpPr>
        <p:spPr bwMode="auto">
          <a:xfrm>
            <a:off x="1549400" y="3514725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3.8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90" name="Text Box 10"/>
          <p:cNvSpPr txBox="1">
            <a:spLocks noChangeArrowheads="1"/>
          </p:cNvSpPr>
          <p:nvPr/>
        </p:nvSpPr>
        <p:spPr bwMode="auto">
          <a:xfrm>
            <a:off x="1546225" y="3897313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1.9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91" name="Text Box 11"/>
          <p:cNvSpPr txBox="1">
            <a:spLocks noChangeArrowheads="1"/>
          </p:cNvSpPr>
          <p:nvPr/>
        </p:nvSpPr>
        <p:spPr bwMode="auto">
          <a:xfrm>
            <a:off x="2051050" y="3897313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92" name="Text Box 12"/>
          <p:cNvSpPr txBox="1">
            <a:spLocks noChangeArrowheads="1"/>
          </p:cNvSpPr>
          <p:nvPr/>
        </p:nvSpPr>
        <p:spPr bwMode="auto">
          <a:xfrm>
            <a:off x="2051050" y="425767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93" name="Text Box 13"/>
          <p:cNvSpPr txBox="1">
            <a:spLocks noChangeArrowheads="1"/>
          </p:cNvSpPr>
          <p:nvPr/>
        </p:nvSpPr>
        <p:spPr bwMode="auto">
          <a:xfrm>
            <a:off x="2482850" y="47974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94" name="Text Box 14"/>
          <p:cNvSpPr txBox="1">
            <a:spLocks noChangeArrowheads="1"/>
          </p:cNvSpPr>
          <p:nvPr/>
        </p:nvSpPr>
        <p:spPr bwMode="auto">
          <a:xfrm>
            <a:off x="1690688" y="45815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95" name="Text Box 15"/>
          <p:cNvSpPr txBox="1">
            <a:spLocks noChangeArrowheads="1"/>
          </p:cNvSpPr>
          <p:nvPr/>
        </p:nvSpPr>
        <p:spPr bwMode="auto">
          <a:xfrm>
            <a:off x="1549400" y="4257675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1.9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96" name="Line 16"/>
          <p:cNvSpPr>
            <a:spLocks noChangeShapeType="1"/>
          </p:cNvSpPr>
          <p:nvPr/>
        </p:nvSpPr>
        <p:spPr bwMode="auto">
          <a:xfrm>
            <a:off x="2943225" y="3717925"/>
            <a:ext cx="6921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2897" name="Line 17"/>
          <p:cNvSpPr>
            <a:spLocks noChangeShapeType="1"/>
          </p:cNvSpPr>
          <p:nvPr/>
        </p:nvSpPr>
        <p:spPr bwMode="auto">
          <a:xfrm>
            <a:off x="3635375" y="4078288"/>
            <a:ext cx="395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2898" name="Text Box 18"/>
          <p:cNvSpPr txBox="1">
            <a:spLocks noChangeArrowheads="1"/>
          </p:cNvSpPr>
          <p:nvPr/>
        </p:nvSpPr>
        <p:spPr bwMode="auto">
          <a:xfrm>
            <a:off x="3171825" y="31702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899" name="Text Box 19"/>
          <p:cNvSpPr txBox="1">
            <a:spLocks noChangeArrowheads="1"/>
          </p:cNvSpPr>
          <p:nvPr/>
        </p:nvSpPr>
        <p:spPr bwMode="auto">
          <a:xfrm>
            <a:off x="3552825" y="31750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00" name="Text Box 20"/>
          <p:cNvSpPr txBox="1">
            <a:spLocks noChangeArrowheads="1"/>
          </p:cNvSpPr>
          <p:nvPr/>
        </p:nvSpPr>
        <p:spPr bwMode="auto">
          <a:xfrm>
            <a:off x="3913188" y="31734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01" name="Text Box 21"/>
          <p:cNvSpPr txBox="1">
            <a:spLocks noChangeArrowheads="1"/>
          </p:cNvSpPr>
          <p:nvPr/>
        </p:nvSpPr>
        <p:spPr bwMode="auto">
          <a:xfrm>
            <a:off x="4284663" y="31734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02" name="Text Box 22"/>
          <p:cNvSpPr txBox="1">
            <a:spLocks noChangeArrowheads="1"/>
          </p:cNvSpPr>
          <p:nvPr/>
        </p:nvSpPr>
        <p:spPr bwMode="auto">
          <a:xfrm>
            <a:off x="4633913" y="31734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03" name="Rectangle 23"/>
          <p:cNvSpPr>
            <a:spLocks noChangeArrowheads="1"/>
          </p:cNvSpPr>
          <p:nvPr/>
        </p:nvSpPr>
        <p:spPr bwMode="auto">
          <a:xfrm>
            <a:off x="4643438" y="3175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10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04" name="Rectangle 24"/>
          <p:cNvSpPr>
            <a:spLocks noChangeArrowheads="1"/>
          </p:cNvSpPr>
          <p:nvPr/>
        </p:nvSpPr>
        <p:spPr bwMode="auto">
          <a:xfrm>
            <a:off x="5014913" y="317023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05" name="Rectangle 25"/>
          <p:cNvSpPr>
            <a:spLocks noChangeArrowheads="1"/>
          </p:cNvSpPr>
          <p:nvPr/>
        </p:nvSpPr>
        <p:spPr bwMode="auto">
          <a:xfrm>
            <a:off x="5381625" y="3175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06" name="Rectangle 26"/>
          <p:cNvSpPr>
            <a:spLocks noChangeArrowheads="1"/>
          </p:cNvSpPr>
          <p:nvPr/>
        </p:nvSpPr>
        <p:spPr bwMode="auto">
          <a:xfrm>
            <a:off x="5757863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07" name="Rectangle 27"/>
          <p:cNvSpPr>
            <a:spLocks noChangeArrowheads="1"/>
          </p:cNvSpPr>
          <p:nvPr/>
        </p:nvSpPr>
        <p:spPr bwMode="auto">
          <a:xfrm>
            <a:off x="6111875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08" name="Rectangle 28"/>
          <p:cNvSpPr>
            <a:spLocks noChangeArrowheads="1"/>
          </p:cNvSpPr>
          <p:nvPr/>
        </p:nvSpPr>
        <p:spPr bwMode="auto">
          <a:xfrm>
            <a:off x="6443663" y="31861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20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09" name="Rectangle 29"/>
          <p:cNvSpPr>
            <a:spLocks noChangeArrowheads="1"/>
          </p:cNvSpPr>
          <p:nvPr/>
        </p:nvSpPr>
        <p:spPr bwMode="auto">
          <a:xfrm>
            <a:off x="6796088" y="31813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10" name="Rectangle 30"/>
          <p:cNvSpPr>
            <a:spLocks noChangeArrowheads="1"/>
          </p:cNvSpPr>
          <p:nvPr/>
        </p:nvSpPr>
        <p:spPr bwMode="auto">
          <a:xfrm>
            <a:off x="7161213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11" name="Rectangle 31"/>
          <p:cNvSpPr>
            <a:spLocks noChangeArrowheads="1"/>
          </p:cNvSpPr>
          <p:nvPr/>
        </p:nvSpPr>
        <p:spPr bwMode="auto">
          <a:xfrm>
            <a:off x="7543800" y="3175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12" name="Rectangle 32"/>
          <p:cNvSpPr>
            <a:spLocks noChangeArrowheads="1"/>
          </p:cNvSpPr>
          <p:nvPr/>
        </p:nvSpPr>
        <p:spPr bwMode="auto">
          <a:xfrm>
            <a:off x="7904163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2913" name="Oval 33"/>
          <p:cNvSpPr>
            <a:spLocks noChangeArrowheads="1"/>
          </p:cNvSpPr>
          <p:nvPr/>
        </p:nvSpPr>
        <p:spPr bwMode="auto">
          <a:xfrm>
            <a:off x="2195513" y="3143250"/>
            <a:ext cx="5616575" cy="2159000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2914" name="Line 34"/>
          <p:cNvSpPr>
            <a:spLocks noChangeShapeType="1"/>
          </p:cNvSpPr>
          <p:nvPr/>
        </p:nvSpPr>
        <p:spPr bwMode="auto">
          <a:xfrm>
            <a:off x="4032250" y="4416425"/>
            <a:ext cx="395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2915" name="Line 35"/>
          <p:cNvSpPr>
            <a:spLocks noChangeShapeType="1"/>
          </p:cNvSpPr>
          <p:nvPr/>
        </p:nvSpPr>
        <p:spPr bwMode="auto">
          <a:xfrm>
            <a:off x="4427538" y="4770438"/>
            <a:ext cx="3952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cxnSp>
        <p:nvCxnSpPr>
          <p:cNvPr id="2042916" name="AutoShape 36"/>
          <p:cNvCxnSpPr>
            <a:cxnSpLocks noChangeShapeType="1"/>
            <a:stCxn id="2042896" idx="1"/>
            <a:endCxn id="2042897" idx="0"/>
          </p:cNvCxnSpPr>
          <p:nvPr/>
        </p:nvCxnSpPr>
        <p:spPr bwMode="auto">
          <a:xfrm>
            <a:off x="3635375" y="3746500"/>
            <a:ext cx="0" cy="3032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042917" name="AutoShape 37"/>
          <p:cNvCxnSpPr>
            <a:cxnSpLocks noChangeShapeType="1"/>
            <a:stCxn id="2042897" idx="1"/>
            <a:endCxn id="2042914" idx="0"/>
          </p:cNvCxnSpPr>
          <p:nvPr/>
        </p:nvCxnSpPr>
        <p:spPr bwMode="auto">
          <a:xfrm>
            <a:off x="4030663" y="4106863"/>
            <a:ext cx="1587" cy="280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042918" name="AutoShape 38"/>
          <p:cNvCxnSpPr>
            <a:cxnSpLocks noChangeShapeType="1"/>
            <a:stCxn id="2042914" idx="1"/>
            <a:endCxn id="2042915" idx="0"/>
          </p:cNvCxnSpPr>
          <p:nvPr/>
        </p:nvCxnSpPr>
        <p:spPr bwMode="auto">
          <a:xfrm>
            <a:off x="4427538" y="4445000"/>
            <a:ext cx="0" cy="296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042919" name="Text Box 39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42921" name="Line 41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2922" name="Rectangle 8"/>
          <p:cNvSpPr>
            <a:spLocks noChangeArrowheads="1"/>
          </p:cNvSpPr>
          <p:nvPr/>
        </p:nvSpPr>
        <p:spPr bwMode="auto">
          <a:xfrm>
            <a:off x="1743075" y="6046788"/>
            <a:ext cx="3529013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4  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Draw a Time line into the table</a:t>
            </a:r>
            <a:r>
              <a:rPr lang="th-TH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endParaRPr lang="en-US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4102100" y="1125538"/>
            <a:ext cx="4887913" cy="1668462"/>
            <a:chOff x="2376" y="677"/>
            <a:chExt cx="3079" cy="1051"/>
          </a:xfrm>
        </p:grpSpPr>
        <p:sp>
          <p:nvSpPr>
            <p:cNvPr id="2042924" name="Rectangle 7"/>
            <p:cNvSpPr>
              <a:spLocks noChangeArrowheads="1"/>
            </p:cNvSpPr>
            <p:nvPr/>
          </p:nvSpPr>
          <p:spPr bwMode="auto">
            <a:xfrm>
              <a:off x="2443" y="677"/>
              <a:ext cx="129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2400" smtClean="0">
                  <a:solidFill>
                    <a:srgbClr val="000000"/>
                  </a:solidFill>
                  <a:latin typeface="Times New Roman" pitchFamily="18" charset="0"/>
                </a:rPr>
                <a:t>เส้นทึบ</a:t>
              </a:r>
              <a:endParaRPr lang="en-US" sz="24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2925" name="Rectangle 9"/>
            <p:cNvSpPr>
              <a:spLocks noChangeArrowheads="1"/>
            </p:cNvSpPr>
            <p:nvPr/>
          </p:nvSpPr>
          <p:spPr bwMode="auto">
            <a:xfrm>
              <a:off x="2435" y="1021"/>
              <a:ext cx="544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2400" smtClean="0">
                  <a:solidFill>
                    <a:srgbClr val="000000"/>
                  </a:solidFill>
                  <a:latin typeface="Times New Roman" pitchFamily="18" charset="0"/>
                </a:rPr>
                <a:t>เส้นประ</a:t>
              </a:r>
              <a:endParaRPr lang="en-US" sz="24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2926" name="Rectangle 10"/>
            <p:cNvSpPr>
              <a:spLocks noChangeArrowheads="1"/>
            </p:cNvSpPr>
            <p:nvPr/>
          </p:nvSpPr>
          <p:spPr bwMode="auto">
            <a:xfrm>
              <a:off x="2395" y="1365"/>
              <a:ext cx="129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2400" smtClean="0">
                  <a:solidFill>
                    <a:srgbClr val="000000"/>
                  </a:solidFill>
                  <a:latin typeface="Times New Roman" pitchFamily="18" charset="0"/>
                </a:rPr>
                <a:t>เส้นคลื่น</a:t>
              </a:r>
              <a:endParaRPr lang="en-US" sz="24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2927" name="Line 11"/>
            <p:cNvSpPr>
              <a:spLocks noChangeShapeType="1"/>
            </p:cNvSpPr>
            <p:nvPr/>
          </p:nvSpPr>
          <p:spPr bwMode="auto">
            <a:xfrm>
              <a:off x="3123" y="895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2928" name="Line 12"/>
            <p:cNvSpPr>
              <a:spLocks noChangeShapeType="1"/>
            </p:cNvSpPr>
            <p:nvPr/>
          </p:nvSpPr>
          <p:spPr bwMode="auto">
            <a:xfrm>
              <a:off x="3126" y="1247"/>
              <a:ext cx="5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2929" name="Freeform 13"/>
            <p:cNvSpPr>
              <a:spLocks/>
            </p:cNvSpPr>
            <p:nvPr/>
          </p:nvSpPr>
          <p:spPr bwMode="auto">
            <a:xfrm>
              <a:off x="3126" y="1501"/>
              <a:ext cx="650" cy="58"/>
            </a:xfrm>
            <a:custGeom>
              <a:avLst/>
              <a:gdLst>
                <a:gd name="T0" fmla="*/ 0 w 650"/>
                <a:gd name="T1" fmla="*/ 40 h 58"/>
                <a:gd name="T2" fmla="*/ 27 w 650"/>
                <a:gd name="T3" fmla="*/ 31 h 58"/>
                <a:gd name="T4" fmla="*/ 45 w 650"/>
                <a:gd name="T5" fmla="*/ 4 h 58"/>
                <a:gd name="T6" fmla="*/ 90 w 650"/>
                <a:gd name="T7" fmla="*/ 13 h 58"/>
                <a:gd name="T8" fmla="*/ 108 w 650"/>
                <a:gd name="T9" fmla="*/ 40 h 58"/>
                <a:gd name="T10" fmla="*/ 135 w 650"/>
                <a:gd name="T11" fmla="*/ 22 h 58"/>
                <a:gd name="T12" fmla="*/ 162 w 650"/>
                <a:gd name="T13" fmla="*/ 13 h 58"/>
                <a:gd name="T14" fmla="*/ 216 w 650"/>
                <a:gd name="T15" fmla="*/ 22 h 58"/>
                <a:gd name="T16" fmla="*/ 243 w 650"/>
                <a:gd name="T17" fmla="*/ 40 h 58"/>
                <a:gd name="T18" fmla="*/ 297 w 650"/>
                <a:gd name="T19" fmla="*/ 13 h 58"/>
                <a:gd name="T20" fmla="*/ 342 w 650"/>
                <a:gd name="T21" fmla="*/ 22 h 58"/>
                <a:gd name="T22" fmla="*/ 351 w 650"/>
                <a:gd name="T23" fmla="*/ 49 h 58"/>
                <a:gd name="T24" fmla="*/ 378 w 650"/>
                <a:gd name="T25" fmla="*/ 31 h 58"/>
                <a:gd name="T26" fmla="*/ 414 w 650"/>
                <a:gd name="T27" fmla="*/ 13 h 58"/>
                <a:gd name="T28" fmla="*/ 486 w 650"/>
                <a:gd name="T29" fmla="*/ 22 h 58"/>
                <a:gd name="T30" fmla="*/ 513 w 650"/>
                <a:gd name="T31" fmla="*/ 40 h 58"/>
                <a:gd name="T32" fmla="*/ 567 w 650"/>
                <a:gd name="T33" fmla="*/ 22 h 58"/>
                <a:gd name="T34" fmla="*/ 594 w 650"/>
                <a:gd name="T35" fmla="*/ 13 h 58"/>
                <a:gd name="T36" fmla="*/ 648 w 650"/>
                <a:gd name="T37" fmla="*/ 58 h 5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650"/>
                <a:gd name="T58" fmla="*/ 0 h 58"/>
                <a:gd name="T59" fmla="*/ 650 w 650"/>
                <a:gd name="T60" fmla="*/ 58 h 58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650" h="58">
                  <a:moveTo>
                    <a:pt x="0" y="40"/>
                  </a:moveTo>
                  <a:cubicBezTo>
                    <a:pt x="9" y="37"/>
                    <a:pt x="20" y="37"/>
                    <a:pt x="27" y="31"/>
                  </a:cubicBezTo>
                  <a:cubicBezTo>
                    <a:pt x="35" y="24"/>
                    <a:pt x="35" y="7"/>
                    <a:pt x="45" y="4"/>
                  </a:cubicBezTo>
                  <a:cubicBezTo>
                    <a:pt x="60" y="0"/>
                    <a:pt x="75" y="10"/>
                    <a:pt x="90" y="13"/>
                  </a:cubicBezTo>
                  <a:cubicBezTo>
                    <a:pt x="96" y="22"/>
                    <a:pt x="97" y="38"/>
                    <a:pt x="108" y="40"/>
                  </a:cubicBezTo>
                  <a:cubicBezTo>
                    <a:pt x="119" y="42"/>
                    <a:pt x="125" y="27"/>
                    <a:pt x="135" y="22"/>
                  </a:cubicBezTo>
                  <a:cubicBezTo>
                    <a:pt x="143" y="18"/>
                    <a:pt x="153" y="16"/>
                    <a:pt x="162" y="13"/>
                  </a:cubicBezTo>
                  <a:cubicBezTo>
                    <a:pt x="180" y="16"/>
                    <a:pt x="199" y="16"/>
                    <a:pt x="216" y="22"/>
                  </a:cubicBezTo>
                  <a:cubicBezTo>
                    <a:pt x="226" y="25"/>
                    <a:pt x="232" y="38"/>
                    <a:pt x="243" y="40"/>
                  </a:cubicBezTo>
                  <a:cubicBezTo>
                    <a:pt x="258" y="42"/>
                    <a:pt x="288" y="19"/>
                    <a:pt x="297" y="13"/>
                  </a:cubicBezTo>
                  <a:cubicBezTo>
                    <a:pt x="312" y="16"/>
                    <a:pt x="329" y="14"/>
                    <a:pt x="342" y="22"/>
                  </a:cubicBezTo>
                  <a:cubicBezTo>
                    <a:pt x="350" y="27"/>
                    <a:pt x="342" y="47"/>
                    <a:pt x="351" y="49"/>
                  </a:cubicBezTo>
                  <a:cubicBezTo>
                    <a:pt x="361" y="52"/>
                    <a:pt x="369" y="36"/>
                    <a:pt x="378" y="31"/>
                  </a:cubicBezTo>
                  <a:cubicBezTo>
                    <a:pt x="390" y="24"/>
                    <a:pt x="402" y="19"/>
                    <a:pt x="414" y="13"/>
                  </a:cubicBezTo>
                  <a:cubicBezTo>
                    <a:pt x="438" y="16"/>
                    <a:pt x="463" y="16"/>
                    <a:pt x="486" y="22"/>
                  </a:cubicBezTo>
                  <a:cubicBezTo>
                    <a:pt x="496" y="25"/>
                    <a:pt x="502" y="40"/>
                    <a:pt x="513" y="40"/>
                  </a:cubicBezTo>
                  <a:cubicBezTo>
                    <a:pt x="532" y="40"/>
                    <a:pt x="549" y="28"/>
                    <a:pt x="567" y="22"/>
                  </a:cubicBezTo>
                  <a:cubicBezTo>
                    <a:pt x="576" y="19"/>
                    <a:pt x="594" y="13"/>
                    <a:pt x="594" y="13"/>
                  </a:cubicBezTo>
                  <a:cubicBezTo>
                    <a:pt x="650" y="51"/>
                    <a:pt x="648" y="27"/>
                    <a:pt x="648" y="5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mtClean="0">
                <a:solidFill>
                  <a:srgbClr val="000000"/>
                </a:solidFill>
              </a:endParaRPr>
            </a:p>
          </p:txBody>
        </p:sp>
        <p:sp>
          <p:nvSpPr>
            <p:cNvPr id="2042930" name="Rectangle 14"/>
            <p:cNvSpPr>
              <a:spLocks noChangeArrowheads="1"/>
            </p:cNvSpPr>
            <p:nvPr/>
          </p:nvSpPr>
          <p:spPr bwMode="auto">
            <a:xfrm>
              <a:off x="3874" y="684"/>
              <a:ext cx="129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2400" smtClean="0">
                  <a:solidFill>
                    <a:srgbClr val="000000"/>
                  </a:solidFill>
                  <a:latin typeface="Times New Roman" pitchFamily="18" charset="0"/>
                </a:rPr>
                <a:t>เวลาที่คนทำงาน</a:t>
              </a:r>
              <a:endParaRPr lang="en-US" sz="24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2931" name="Rectangle 15"/>
            <p:cNvSpPr>
              <a:spLocks noChangeArrowheads="1"/>
            </p:cNvSpPr>
            <p:nvPr/>
          </p:nvSpPr>
          <p:spPr bwMode="auto">
            <a:xfrm>
              <a:off x="3878" y="1028"/>
              <a:ext cx="1465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2400" smtClean="0">
                  <a:solidFill>
                    <a:srgbClr val="000000"/>
                  </a:solidFill>
                  <a:latin typeface="Times New Roman" pitchFamily="18" charset="0"/>
                </a:rPr>
                <a:t>เวลาที่เครื่องจักรทำงาน</a:t>
              </a:r>
              <a:endParaRPr lang="en-US" sz="24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2932" name="Rectangle 16"/>
            <p:cNvSpPr>
              <a:spLocks noChangeArrowheads="1"/>
            </p:cNvSpPr>
            <p:nvPr/>
          </p:nvSpPr>
          <p:spPr bwMode="auto">
            <a:xfrm>
              <a:off x="3878" y="1357"/>
              <a:ext cx="129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2400" smtClean="0">
                  <a:solidFill>
                    <a:srgbClr val="000000"/>
                  </a:solidFill>
                  <a:latin typeface="Times New Roman" pitchFamily="18" charset="0"/>
                </a:rPr>
                <a:t>เวลาเดิน</a:t>
              </a:r>
              <a:endParaRPr lang="en-US" sz="2400" smtClean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042933" name="Rectangle 7"/>
            <p:cNvSpPr>
              <a:spLocks noChangeArrowheads="1"/>
            </p:cNvSpPr>
            <p:nvPr/>
          </p:nvSpPr>
          <p:spPr bwMode="auto">
            <a:xfrm>
              <a:off x="2376" y="876"/>
              <a:ext cx="76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  <a:sym typeface="Wingdings" pitchFamily="2" charset="2"/>
                </a:rPr>
                <a:t>Straight Line</a:t>
              </a:r>
              <a:endParaRPr lang="ja-JP" alt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42934" name="Rectangle 9"/>
            <p:cNvSpPr>
              <a:spLocks noChangeArrowheads="1"/>
            </p:cNvSpPr>
            <p:nvPr/>
          </p:nvSpPr>
          <p:spPr bwMode="auto">
            <a:xfrm>
              <a:off x="2427" y="1234"/>
              <a:ext cx="582" cy="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  <a:sym typeface="Wingdings" pitchFamily="2" charset="2"/>
                </a:rPr>
                <a:t>Dash line</a:t>
              </a:r>
            </a:p>
          </p:txBody>
        </p:sp>
        <p:sp>
          <p:nvSpPr>
            <p:cNvPr id="2042935" name="Rectangle 10"/>
            <p:cNvSpPr>
              <a:spLocks noChangeArrowheads="1"/>
            </p:cNvSpPr>
            <p:nvPr/>
          </p:nvSpPr>
          <p:spPr bwMode="auto">
            <a:xfrm>
              <a:off x="2411" y="1562"/>
              <a:ext cx="764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  <a:sym typeface="Wingdings" pitchFamily="2" charset="2"/>
                </a:rPr>
                <a:t>Wavy line</a:t>
              </a:r>
              <a:r>
                <a:rPr lang="th-TH" sz="1200" smtClean="0">
                  <a:solidFill>
                    <a:srgbClr val="000000"/>
                  </a:solidFill>
                  <a:ea typeface="MS PGothic" pitchFamily="34" charset="-128"/>
                  <a:sym typeface="Wingdings" pitchFamily="2" charset="2"/>
                </a:rPr>
                <a:t> </a:t>
              </a:r>
              <a:endPara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endParaRPr>
            </a:p>
          </p:txBody>
        </p:sp>
        <p:sp>
          <p:nvSpPr>
            <p:cNvPr id="2042936" name="Rectangle 14"/>
            <p:cNvSpPr>
              <a:spLocks noChangeArrowheads="1"/>
            </p:cNvSpPr>
            <p:nvPr/>
          </p:nvSpPr>
          <p:spPr bwMode="auto">
            <a:xfrm>
              <a:off x="3886" y="903"/>
              <a:ext cx="688" cy="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  <a:sym typeface="Wingdings" pitchFamily="2" charset="2"/>
                </a:rPr>
                <a:t>Working time</a:t>
              </a:r>
            </a:p>
          </p:txBody>
        </p:sp>
        <p:sp>
          <p:nvSpPr>
            <p:cNvPr id="2042937" name="Rectangle 15"/>
            <p:cNvSpPr>
              <a:spLocks noChangeArrowheads="1"/>
            </p:cNvSpPr>
            <p:nvPr/>
          </p:nvSpPr>
          <p:spPr bwMode="auto">
            <a:xfrm>
              <a:off x="3875" y="1183"/>
              <a:ext cx="1580" cy="2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  <a:sym typeface="Wingdings" pitchFamily="2" charset="2"/>
                </a:rPr>
                <a:t>Machine cycle time</a:t>
              </a:r>
            </a:p>
          </p:txBody>
        </p:sp>
        <p:sp>
          <p:nvSpPr>
            <p:cNvPr id="2042938" name="Rectangle 16"/>
            <p:cNvSpPr>
              <a:spLocks noChangeArrowheads="1"/>
            </p:cNvSpPr>
            <p:nvPr/>
          </p:nvSpPr>
          <p:spPr bwMode="auto">
            <a:xfrm>
              <a:off x="3891" y="1547"/>
              <a:ext cx="681" cy="18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  <a:sym typeface="Wingdings" pitchFamily="2" charset="2"/>
                </a:rPr>
                <a:t>Walking time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906" name="Rectangle 8"/>
          <p:cNvSpPr>
            <a:spLocks noChangeArrowheads="1"/>
          </p:cNvSpPr>
          <p:nvPr/>
        </p:nvSpPr>
        <p:spPr bwMode="auto">
          <a:xfrm>
            <a:off x="466725" y="5600700"/>
            <a:ext cx="7993063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5 :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เขียนเส้นการเดินย้อนกลับไปยังขั้นตอนแรกและขีดเส้นไซเคิลไทม์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pic>
        <p:nvPicPr>
          <p:cNvPr id="2043907" name="Picture 4"/>
          <p:cNvPicPr>
            <a:picLocks noChangeAspect="1" noChangeArrowheads="1"/>
          </p:cNvPicPr>
          <p:nvPr/>
        </p:nvPicPr>
        <p:blipFill>
          <a:blip r:embed="rId2" cstate="print"/>
          <a:srcRect l="1810" t="13385" r="16061" b="16431"/>
          <a:stretch>
            <a:fillRect/>
          </a:stretch>
        </p:blipFill>
        <p:spPr bwMode="auto">
          <a:xfrm>
            <a:off x="179388" y="1270000"/>
            <a:ext cx="2879725" cy="19700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pic>
        <p:nvPicPr>
          <p:cNvPr id="2043908" name="Picture 4"/>
          <p:cNvPicPr>
            <a:picLocks noChangeAspect="1" noChangeArrowheads="1"/>
          </p:cNvPicPr>
          <p:nvPr/>
        </p:nvPicPr>
        <p:blipFill>
          <a:blip r:embed="rId2" cstate="print"/>
          <a:srcRect l="20792" t="21077" r="40997" b="63541"/>
          <a:stretch>
            <a:fillRect/>
          </a:stretch>
        </p:blipFill>
        <p:spPr bwMode="auto">
          <a:xfrm>
            <a:off x="1114425" y="2947988"/>
            <a:ext cx="7202488" cy="23209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sp>
        <p:nvSpPr>
          <p:cNvPr id="2043909" name="AutoShape 5"/>
          <p:cNvSpPr>
            <a:spLocks noChangeArrowheads="1"/>
          </p:cNvSpPr>
          <p:nvPr/>
        </p:nvSpPr>
        <p:spPr bwMode="auto">
          <a:xfrm>
            <a:off x="1042988" y="2854325"/>
            <a:ext cx="7345362" cy="2519363"/>
          </a:xfrm>
          <a:prstGeom prst="wedgeRectCallout">
            <a:avLst>
              <a:gd name="adj1" fmla="val -39282"/>
              <a:gd name="adj2" fmla="val -81949"/>
            </a:avLst>
          </a:prstGeom>
          <a:noFill/>
          <a:ln w="28575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10" name="Oval 6"/>
          <p:cNvSpPr>
            <a:spLocks noChangeArrowheads="1"/>
          </p:cNvSpPr>
          <p:nvPr/>
        </p:nvSpPr>
        <p:spPr bwMode="auto">
          <a:xfrm>
            <a:off x="755650" y="1485900"/>
            <a:ext cx="2232025" cy="792163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3911" name="Text Box 7"/>
          <p:cNvSpPr txBox="1">
            <a:spLocks noChangeArrowheads="1"/>
          </p:cNvSpPr>
          <p:nvPr/>
        </p:nvSpPr>
        <p:spPr bwMode="auto">
          <a:xfrm>
            <a:off x="1042988" y="3897313"/>
            <a:ext cx="7191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P001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12" name="Text Box 8"/>
          <p:cNvSpPr txBox="1">
            <a:spLocks noChangeArrowheads="1"/>
          </p:cNvSpPr>
          <p:nvPr/>
        </p:nvSpPr>
        <p:spPr bwMode="auto">
          <a:xfrm>
            <a:off x="1060450" y="4276725"/>
            <a:ext cx="719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P002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13" name="Text Box 9"/>
          <p:cNvSpPr txBox="1">
            <a:spLocks noChangeArrowheads="1"/>
          </p:cNvSpPr>
          <p:nvPr/>
        </p:nvSpPr>
        <p:spPr bwMode="auto">
          <a:xfrm>
            <a:off x="1549400" y="3514725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3.8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14" name="Text Box 10"/>
          <p:cNvSpPr txBox="1">
            <a:spLocks noChangeArrowheads="1"/>
          </p:cNvSpPr>
          <p:nvPr/>
        </p:nvSpPr>
        <p:spPr bwMode="auto">
          <a:xfrm>
            <a:off x="1546225" y="3897313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1.9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15" name="Text Box 11"/>
          <p:cNvSpPr txBox="1">
            <a:spLocks noChangeArrowheads="1"/>
          </p:cNvSpPr>
          <p:nvPr/>
        </p:nvSpPr>
        <p:spPr bwMode="auto">
          <a:xfrm>
            <a:off x="2051050" y="3897313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16" name="Text Box 12"/>
          <p:cNvSpPr txBox="1">
            <a:spLocks noChangeArrowheads="1"/>
          </p:cNvSpPr>
          <p:nvPr/>
        </p:nvSpPr>
        <p:spPr bwMode="auto">
          <a:xfrm>
            <a:off x="2051050" y="425767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17" name="Text Box 13"/>
          <p:cNvSpPr txBox="1">
            <a:spLocks noChangeArrowheads="1"/>
          </p:cNvSpPr>
          <p:nvPr/>
        </p:nvSpPr>
        <p:spPr bwMode="auto">
          <a:xfrm>
            <a:off x="2482850" y="47974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18" name="Text Box 14"/>
          <p:cNvSpPr txBox="1">
            <a:spLocks noChangeArrowheads="1"/>
          </p:cNvSpPr>
          <p:nvPr/>
        </p:nvSpPr>
        <p:spPr bwMode="auto">
          <a:xfrm>
            <a:off x="1690688" y="45815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19" name="Text Box 15"/>
          <p:cNvSpPr txBox="1">
            <a:spLocks noChangeArrowheads="1"/>
          </p:cNvSpPr>
          <p:nvPr/>
        </p:nvSpPr>
        <p:spPr bwMode="auto">
          <a:xfrm>
            <a:off x="1549400" y="4257675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1.9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20" name="Line 16"/>
          <p:cNvSpPr>
            <a:spLocks noChangeShapeType="1"/>
          </p:cNvSpPr>
          <p:nvPr/>
        </p:nvSpPr>
        <p:spPr bwMode="auto">
          <a:xfrm>
            <a:off x="2943225" y="3717925"/>
            <a:ext cx="6921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3921" name="Line 17"/>
          <p:cNvSpPr>
            <a:spLocks noChangeShapeType="1"/>
          </p:cNvSpPr>
          <p:nvPr/>
        </p:nvSpPr>
        <p:spPr bwMode="auto">
          <a:xfrm>
            <a:off x="3635375" y="4078288"/>
            <a:ext cx="395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3922" name="Text Box 18"/>
          <p:cNvSpPr txBox="1">
            <a:spLocks noChangeArrowheads="1"/>
          </p:cNvSpPr>
          <p:nvPr/>
        </p:nvSpPr>
        <p:spPr bwMode="auto">
          <a:xfrm>
            <a:off x="3171825" y="31702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23" name="Text Box 19"/>
          <p:cNvSpPr txBox="1">
            <a:spLocks noChangeArrowheads="1"/>
          </p:cNvSpPr>
          <p:nvPr/>
        </p:nvSpPr>
        <p:spPr bwMode="auto">
          <a:xfrm>
            <a:off x="3552825" y="31750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24" name="Text Box 20"/>
          <p:cNvSpPr txBox="1">
            <a:spLocks noChangeArrowheads="1"/>
          </p:cNvSpPr>
          <p:nvPr/>
        </p:nvSpPr>
        <p:spPr bwMode="auto">
          <a:xfrm>
            <a:off x="3913188" y="31734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25" name="Text Box 21"/>
          <p:cNvSpPr txBox="1">
            <a:spLocks noChangeArrowheads="1"/>
          </p:cNvSpPr>
          <p:nvPr/>
        </p:nvSpPr>
        <p:spPr bwMode="auto">
          <a:xfrm>
            <a:off x="4284663" y="31734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26" name="Text Box 22"/>
          <p:cNvSpPr txBox="1">
            <a:spLocks noChangeArrowheads="1"/>
          </p:cNvSpPr>
          <p:nvPr/>
        </p:nvSpPr>
        <p:spPr bwMode="auto">
          <a:xfrm>
            <a:off x="4633913" y="31734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27" name="Rectangle 23"/>
          <p:cNvSpPr>
            <a:spLocks noChangeArrowheads="1"/>
          </p:cNvSpPr>
          <p:nvPr/>
        </p:nvSpPr>
        <p:spPr bwMode="auto">
          <a:xfrm>
            <a:off x="4643438" y="3175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10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28" name="Rectangle 24"/>
          <p:cNvSpPr>
            <a:spLocks noChangeArrowheads="1"/>
          </p:cNvSpPr>
          <p:nvPr/>
        </p:nvSpPr>
        <p:spPr bwMode="auto">
          <a:xfrm>
            <a:off x="5014913" y="317023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29" name="Rectangle 25"/>
          <p:cNvSpPr>
            <a:spLocks noChangeArrowheads="1"/>
          </p:cNvSpPr>
          <p:nvPr/>
        </p:nvSpPr>
        <p:spPr bwMode="auto">
          <a:xfrm>
            <a:off x="5381625" y="3175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30" name="Rectangle 26"/>
          <p:cNvSpPr>
            <a:spLocks noChangeArrowheads="1"/>
          </p:cNvSpPr>
          <p:nvPr/>
        </p:nvSpPr>
        <p:spPr bwMode="auto">
          <a:xfrm>
            <a:off x="5757863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31" name="Rectangle 27"/>
          <p:cNvSpPr>
            <a:spLocks noChangeArrowheads="1"/>
          </p:cNvSpPr>
          <p:nvPr/>
        </p:nvSpPr>
        <p:spPr bwMode="auto">
          <a:xfrm>
            <a:off x="6111875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32" name="Rectangle 28"/>
          <p:cNvSpPr>
            <a:spLocks noChangeArrowheads="1"/>
          </p:cNvSpPr>
          <p:nvPr/>
        </p:nvSpPr>
        <p:spPr bwMode="auto">
          <a:xfrm>
            <a:off x="6443663" y="31861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20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33" name="Rectangle 29"/>
          <p:cNvSpPr>
            <a:spLocks noChangeArrowheads="1"/>
          </p:cNvSpPr>
          <p:nvPr/>
        </p:nvSpPr>
        <p:spPr bwMode="auto">
          <a:xfrm>
            <a:off x="6796088" y="31813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34" name="Rectangle 30"/>
          <p:cNvSpPr>
            <a:spLocks noChangeArrowheads="1"/>
          </p:cNvSpPr>
          <p:nvPr/>
        </p:nvSpPr>
        <p:spPr bwMode="auto">
          <a:xfrm>
            <a:off x="7161213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35" name="Rectangle 31"/>
          <p:cNvSpPr>
            <a:spLocks noChangeArrowheads="1"/>
          </p:cNvSpPr>
          <p:nvPr/>
        </p:nvSpPr>
        <p:spPr bwMode="auto">
          <a:xfrm>
            <a:off x="7543800" y="3175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36" name="Rectangle 32"/>
          <p:cNvSpPr>
            <a:spLocks noChangeArrowheads="1"/>
          </p:cNvSpPr>
          <p:nvPr/>
        </p:nvSpPr>
        <p:spPr bwMode="auto">
          <a:xfrm>
            <a:off x="7904163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3937" name="Oval 33"/>
          <p:cNvSpPr>
            <a:spLocks noChangeArrowheads="1"/>
          </p:cNvSpPr>
          <p:nvPr/>
        </p:nvSpPr>
        <p:spPr bwMode="auto">
          <a:xfrm>
            <a:off x="2195513" y="3143250"/>
            <a:ext cx="5616575" cy="2159000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3938" name="Line 34"/>
          <p:cNvSpPr>
            <a:spLocks noChangeShapeType="1"/>
          </p:cNvSpPr>
          <p:nvPr/>
        </p:nvSpPr>
        <p:spPr bwMode="auto">
          <a:xfrm>
            <a:off x="4032250" y="4416425"/>
            <a:ext cx="395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3939" name="Line 35"/>
          <p:cNvSpPr>
            <a:spLocks noChangeShapeType="1"/>
          </p:cNvSpPr>
          <p:nvPr/>
        </p:nvSpPr>
        <p:spPr bwMode="auto">
          <a:xfrm>
            <a:off x="4427538" y="4770438"/>
            <a:ext cx="3952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cxnSp>
        <p:nvCxnSpPr>
          <p:cNvPr id="2043940" name="AutoShape 36"/>
          <p:cNvCxnSpPr>
            <a:cxnSpLocks noChangeShapeType="1"/>
            <a:stCxn id="2043920" idx="1"/>
            <a:endCxn id="2043921" idx="0"/>
          </p:cNvCxnSpPr>
          <p:nvPr/>
        </p:nvCxnSpPr>
        <p:spPr bwMode="auto">
          <a:xfrm>
            <a:off x="3635375" y="3746500"/>
            <a:ext cx="0" cy="3032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043941" name="AutoShape 37"/>
          <p:cNvCxnSpPr>
            <a:cxnSpLocks noChangeShapeType="1"/>
            <a:stCxn id="2043921" idx="1"/>
            <a:endCxn id="2043938" idx="0"/>
          </p:cNvCxnSpPr>
          <p:nvPr/>
        </p:nvCxnSpPr>
        <p:spPr bwMode="auto">
          <a:xfrm>
            <a:off x="4030663" y="4106863"/>
            <a:ext cx="1587" cy="280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043942" name="AutoShape 38"/>
          <p:cNvCxnSpPr>
            <a:cxnSpLocks noChangeShapeType="1"/>
            <a:stCxn id="2043938" idx="1"/>
            <a:endCxn id="2043939" idx="0"/>
          </p:cNvCxnSpPr>
          <p:nvPr/>
        </p:nvCxnSpPr>
        <p:spPr bwMode="auto">
          <a:xfrm>
            <a:off x="4427538" y="4445000"/>
            <a:ext cx="0" cy="296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043943" name="Freeform 13"/>
          <p:cNvSpPr>
            <a:spLocks/>
          </p:cNvSpPr>
          <p:nvPr/>
        </p:nvSpPr>
        <p:spPr bwMode="auto">
          <a:xfrm rot="-4894880">
            <a:off x="4279900" y="4114800"/>
            <a:ext cx="1204913" cy="119063"/>
          </a:xfrm>
          <a:custGeom>
            <a:avLst/>
            <a:gdLst>
              <a:gd name="T0" fmla="*/ 0 w 650"/>
              <a:gd name="T1" fmla="*/ 40 h 58"/>
              <a:gd name="T2" fmla="*/ 27 w 650"/>
              <a:gd name="T3" fmla="*/ 31 h 58"/>
              <a:gd name="T4" fmla="*/ 45 w 650"/>
              <a:gd name="T5" fmla="*/ 4 h 58"/>
              <a:gd name="T6" fmla="*/ 90 w 650"/>
              <a:gd name="T7" fmla="*/ 13 h 58"/>
              <a:gd name="T8" fmla="*/ 108 w 650"/>
              <a:gd name="T9" fmla="*/ 40 h 58"/>
              <a:gd name="T10" fmla="*/ 135 w 650"/>
              <a:gd name="T11" fmla="*/ 22 h 58"/>
              <a:gd name="T12" fmla="*/ 162 w 650"/>
              <a:gd name="T13" fmla="*/ 13 h 58"/>
              <a:gd name="T14" fmla="*/ 216 w 650"/>
              <a:gd name="T15" fmla="*/ 22 h 58"/>
              <a:gd name="T16" fmla="*/ 243 w 650"/>
              <a:gd name="T17" fmla="*/ 40 h 58"/>
              <a:gd name="T18" fmla="*/ 297 w 650"/>
              <a:gd name="T19" fmla="*/ 13 h 58"/>
              <a:gd name="T20" fmla="*/ 342 w 650"/>
              <a:gd name="T21" fmla="*/ 22 h 58"/>
              <a:gd name="T22" fmla="*/ 351 w 650"/>
              <a:gd name="T23" fmla="*/ 49 h 58"/>
              <a:gd name="T24" fmla="*/ 378 w 650"/>
              <a:gd name="T25" fmla="*/ 31 h 58"/>
              <a:gd name="T26" fmla="*/ 414 w 650"/>
              <a:gd name="T27" fmla="*/ 13 h 58"/>
              <a:gd name="T28" fmla="*/ 486 w 650"/>
              <a:gd name="T29" fmla="*/ 22 h 58"/>
              <a:gd name="T30" fmla="*/ 513 w 650"/>
              <a:gd name="T31" fmla="*/ 40 h 58"/>
              <a:gd name="T32" fmla="*/ 567 w 650"/>
              <a:gd name="T33" fmla="*/ 22 h 58"/>
              <a:gd name="T34" fmla="*/ 594 w 650"/>
              <a:gd name="T35" fmla="*/ 13 h 58"/>
              <a:gd name="T36" fmla="*/ 648 w 650"/>
              <a:gd name="T37" fmla="*/ 58 h 5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50"/>
              <a:gd name="T58" fmla="*/ 0 h 58"/>
              <a:gd name="T59" fmla="*/ 650 w 650"/>
              <a:gd name="T60" fmla="*/ 58 h 5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50" h="58">
                <a:moveTo>
                  <a:pt x="0" y="40"/>
                </a:moveTo>
                <a:cubicBezTo>
                  <a:pt x="9" y="37"/>
                  <a:pt x="20" y="37"/>
                  <a:pt x="27" y="31"/>
                </a:cubicBezTo>
                <a:cubicBezTo>
                  <a:pt x="35" y="24"/>
                  <a:pt x="35" y="7"/>
                  <a:pt x="45" y="4"/>
                </a:cubicBezTo>
                <a:cubicBezTo>
                  <a:pt x="60" y="0"/>
                  <a:pt x="75" y="10"/>
                  <a:pt x="90" y="13"/>
                </a:cubicBezTo>
                <a:cubicBezTo>
                  <a:pt x="96" y="22"/>
                  <a:pt x="97" y="38"/>
                  <a:pt x="108" y="40"/>
                </a:cubicBezTo>
                <a:cubicBezTo>
                  <a:pt x="119" y="42"/>
                  <a:pt x="125" y="27"/>
                  <a:pt x="135" y="22"/>
                </a:cubicBezTo>
                <a:cubicBezTo>
                  <a:pt x="143" y="18"/>
                  <a:pt x="153" y="16"/>
                  <a:pt x="162" y="13"/>
                </a:cubicBezTo>
                <a:cubicBezTo>
                  <a:pt x="180" y="16"/>
                  <a:pt x="199" y="16"/>
                  <a:pt x="216" y="22"/>
                </a:cubicBezTo>
                <a:cubicBezTo>
                  <a:pt x="226" y="25"/>
                  <a:pt x="232" y="38"/>
                  <a:pt x="243" y="40"/>
                </a:cubicBezTo>
                <a:cubicBezTo>
                  <a:pt x="258" y="42"/>
                  <a:pt x="288" y="19"/>
                  <a:pt x="297" y="13"/>
                </a:cubicBezTo>
                <a:cubicBezTo>
                  <a:pt x="312" y="16"/>
                  <a:pt x="329" y="14"/>
                  <a:pt x="342" y="22"/>
                </a:cubicBezTo>
                <a:cubicBezTo>
                  <a:pt x="350" y="27"/>
                  <a:pt x="342" y="47"/>
                  <a:pt x="351" y="49"/>
                </a:cubicBezTo>
                <a:cubicBezTo>
                  <a:pt x="361" y="52"/>
                  <a:pt x="369" y="36"/>
                  <a:pt x="378" y="31"/>
                </a:cubicBezTo>
                <a:cubicBezTo>
                  <a:pt x="390" y="24"/>
                  <a:pt x="402" y="19"/>
                  <a:pt x="414" y="13"/>
                </a:cubicBezTo>
                <a:cubicBezTo>
                  <a:pt x="438" y="16"/>
                  <a:pt x="463" y="16"/>
                  <a:pt x="486" y="22"/>
                </a:cubicBezTo>
                <a:cubicBezTo>
                  <a:pt x="496" y="25"/>
                  <a:pt x="502" y="40"/>
                  <a:pt x="513" y="40"/>
                </a:cubicBezTo>
                <a:cubicBezTo>
                  <a:pt x="532" y="40"/>
                  <a:pt x="549" y="28"/>
                  <a:pt x="567" y="22"/>
                </a:cubicBezTo>
                <a:cubicBezTo>
                  <a:pt x="576" y="19"/>
                  <a:pt x="594" y="13"/>
                  <a:pt x="594" y="13"/>
                </a:cubicBezTo>
                <a:cubicBezTo>
                  <a:pt x="650" y="51"/>
                  <a:pt x="648" y="27"/>
                  <a:pt x="648" y="58"/>
                </a:cubicBezTo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43944" name="Line 40"/>
          <p:cNvSpPr>
            <a:spLocks noChangeShapeType="1"/>
          </p:cNvSpPr>
          <p:nvPr/>
        </p:nvSpPr>
        <p:spPr bwMode="auto">
          <a:xfrm>
            <a:off x="5003800" y="3502025"/>
            <a:ext cx="0" cy="18002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3945" name="Text Box 41"/>
          <p:cNvSpPr txBox="1">
            <a:spLocks noChangeArrowheads="1"/>
          </p:cNvSpPr>
          <p:nvPr/>
        </p:nvSpPr>
        <p:spPr bwMode="auto">
          <a:xfrm>
            <a:off x="4932363" y="3502025"/>
            <a:ext cx="17383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333399"/>
                </a:solidFill>
                <a:latin typeface="Times New Roman" pitchFamily="18" charset="0"/>
              </a:rPr>
              <a:t>C.T. = 10.6 sec</a:t>
            </a:r>
            <a:endParaRPr lang="th-TH" sz="2000" smtClean="0">
              <a:solidFill>
                <a:srgbClr val="333399"/>
              </a:solidFill>
              <a:latin typeface="Times New Roman" pitchFamily="18" charset="0"/>
            </a:endParaRPr>
          </a:p>
        </p:txBody>
      </p:sp>
      <p:sp>
        <p:nvSpPr>
          <p:cNvPr id="2043946" name="Text Box 42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43948" name="Line 4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3949" name="Rectangle 8"/>
          <p:cNvSpPr>
            <a:spLocks noChangeArrowheads="1"/>
          </p:cNvSpPr>
          <p:nvPr/>
        </p:nvSpPr>
        <p:spPr bwMode="auto">
          <a:xfrm>
            <a:off x="1057275" y="6072188"/>
            <a:ext cx="7224713" cy="3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5 :</a:t>
            </a:r>
            <a:r>
              <a:rPr lang="en-US" sz="1200" i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Write the line to return to the first process. Then writing the cycle time line by using blue color</a:t>
            </a:r>
            <a:endParaRPr lang="en-US" sz="1200" i="1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4930" name="Rectangle 8"/>
          <p:cNvSpPr>
            <a:spLocks noChangeArrowheads="1"/>
          </p:cNvSpPr>
          <p:nvPr/>
        </p:nvSpPr>
        <p:spPr bwMode="auto">
          <a:xfrm>
            <a:off x="395288" y="5473700"/>
            <a:ext cx="7993062" cy="903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6 :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เขียนเส้นการทำงานของเครื่องจักร กรณีเกินไซเคิลไทม์ให้ย้อนกลับไปเขียนเวลาส่วนที่เกินโดยเริ่มต้นจากเส้นศูนย์จนครบ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pic>
        <p:nvPicPr>
          <p:cNvPr id="2044931" name="Picture 4"/>
          <p:cNvPicPr>
            <a:picLocks noChangeAspect="1" noChangeArrowheads="1"/>
          </p:cNvPicPr>
          <p:nvPr/>
        </p:nvPicPr>
        <p:blipFill>
          <a:blip r:embed="rId2" cstate="print"/>
          <a:srcRect l="1810" t="13385" r="16061" b="16431"/>
          <a:stretch>
            <a:fillRect/>
          </a:stretch>
        </p:blipFill>
        <p:spPr bwMode="auto">
          <a:xfrm>
            <a:off x="179388" y="1270000"/>
            <a:ext cx="2879725" cy="1970088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pic>
        <p:nvPicPr>
          <p:cNvPr id="2044932" name="Picture 4"/>
          <p:cNvPicPr>
            <a:picLocks noChangeAspect="1" noChangeArrowheads="1"/>
          </p:cNvPicPr>
          <p:nvPr/>
        </p:nvPicPr>
        <p:blipFill>
          <a:blip r:embed="rId2" cstate="print"/>
          <a:srcRect l="20792" t="21077" r="40997" b="63541"/>
          <a:stretch>
            <a:fillRect/>
          </a:stretch>
        </p:blipFill>
        <p:spPr bwMode="auto">
          <a:xfrm>
            <a:off x="1114425" y="2947988"/>
            <a:ext cx="7202488" cy="23209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sp>
        <p:nvSpPr>
          <p:cNvPr id="2044933" name="AutoShape 5"/>
          <p:cNvSpPr>
            <a:spLocks noChangeArrowheads="1"/>
          </p:cNvSpPr>
          <p:nvPr/>
        </p:nvSpPr>
        <p:spPr bwMode="auto">
          <a:xfrm>
            <a:off x="1042988" y="2854325"/>
            <a:ext cx="7345362" cy="2519363"/>
          </a:xfrm>
          <a:prstGeom prst="wedgeRectCallout">
            <a:avLst>
              <a:gd name="adj1" fmla="val -39282"/>
              <a:gd name="adj2" fmla="val -81949"/>
            </a:avLst>
          </a:prstGeom>
          <a:noFill/>
          <a:ln w="28575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34" name="Oval 6"/>
          <p:cNvSpPr>
            <a:spLocks noChangeArrowheads="1"/>
          </p:cNvSpPr>
          <p:nvPr/>
        </p:nvSpPr>
        <p:spPr bwMode="auto">
          <a:xfrm>
            <a:off x="755650" y="1485900"/>
            <a:ext cx="2232025" cy="792163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4935" name="Text Box 7"/>
          <p:cNvSpPr txBox="1">
            <a:spLocks noChangeArrowheads="1"/>
          </p:cNvSpPr>
          <p:nvPr/>
        </p:nvSpPr>
        <p:spPr bwMode="auto">
          <a:xfrm>
            <a:off x="1042988" y="3897313"/>
            <a:ext cx="7191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P001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36" name="Text Box 8"/>
          <p:cNvSpPr txBox="1">
            <a:spLocks noChangeArrowheads="1"/>
          </p:cNvSpPr>
          <p:nvPr/>
        </p:nvSpPr>
        <p:spPr bwMode="auto">
          <a:xfrm>
            <a:off x="1060450" y="4276725"/>
            <a:ext cx="7191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P002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37" name="Text Box 9"/>
          <p:cNvSpPr txBox="1">
            <a:spLocks noChangeArrowheads="1"/>
          </p:cNvSpPr>
          <p:nvPr/>
        </p:nvSpPr>
        <p:spPr bwMode="auto">
          <a:xfrm>
            <a:off x="1549400" y="3514725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3.8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38" name="Text Box 10"/>
          <p:cNvSpPr txBox="1">
            <a:spLocks noChangeArrowheads="1"/>
          </p:cNvSpPr>
          <p:nvPr/>
        </p:nvSpPr>
        <p:spPr bwMode="auto">
          <a:xfrm>
            <a:off x="1546225" y="3897313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1.9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39" name="Text Box 11"/>
          <p:cNvSpPr txBox="1">
            <a:spLocks noChangeArrowheads="1"/>
          </p:cNvSpPr>
          <p:nvPr/>
        </p:nvSpPr>
        <p:spPr bwMode="auto">
          <a:xfrm>
            <a:off x="2051050" y="3897313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40" name="Text Box 12"/>
          <p:cNvSpPr txBox="1">
            <a:spLocks noChangeArrowheads="1"/>
          </p:cNvSpPr>
          <p:nvPr/>
        </p:nvSpPr>
        <p:spPr bwMode="auto">
          <a:xfrm>
            <a:off x="2051050" y="425767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41" name="Text Box 13"/>
          <p:cNvSpPr txBox="1">
            <a:spLocks noChangeArrowheads="1"/>
          </p:cNvSpPr>
          <p:nvPr/>
        </p:nvSpPr>
        <p:spPr bwMode="auto">
          <a:xfrm>
            <a:off x="2482850" y="47974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42" name="Text Box 14"/>
          <p:cNvSpPr txBox="1">
            <a:spLocks noChangeArrowheads="1"/>
          </p:cNvSpPr>
          <p:nvPr/>
        </p:nvSpPr>
        <p:spPr bwMode="auto">
          <a:xfrm>
            <a:off x="1690688" y="45815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43" name="Text Box 15"/>
          <p:cNvSpPr txBox="1">
            <a:spLocks noChangeArrowheads="1"/>
          </p:cNvSpPr>
          <p:nvPr/>
        </p:nvSpPr>
        <p:spPr bwMode="auto">
          <a:xfrm>
            <a:off x="1549400" y="4257675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1.9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44" name="Line 16"/>
          <p:cNvSpPr>
            <a:spLocks noChangeShapeType="1"/>
          </p:cNvSpPr>
          <p:nvPr/>
        </p:nvSpPr>
        <p:spPr bwMode="auto">
          <a:xfrm>
            <a:off x="2943225" y="3717925"/>
            <a:ext cx="6921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4945" name="Line 17"/>
          <p:cNvSpPr>
            <a:spLocks noChangeShapeType="1"/>
          </p:cNvSpPr>
          <p:nvPr/>
        </p:nvSpPr>
        <p:spPr bwMode="auto">
          <a:xfrm>
            <a:off x="3635375" y="4078288"/>
            <a:ext cx="395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4946" name="Text Box 18"/>
          <p:cNvSpPr txBox="1">
            <a:spLocks noChangeArrowheads="1"/>
          </p:cNvSpPr>
          <p:nvPr/>
        </p:nvSpPr>
        <p:spPr bwMode="auto">
          <a:xfrm>
            <a:off x="3171825" y="3170238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47" name="Text Box 19"/>
          <p:cNvSpPr txBox="1">
            <a:spLocks noChangeArrowheads="1"/>
          </p:cNvSpPr>
          <p:nvPr/>
        </p:nvSpPr>
        <p:spPr bwMode="auto">
          <a:xfrm>
            <a:off x="3552825" y="317500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48" name="Text Box 20"/>
          <p:cNvSpPr txBox="1">
            <a:spLocks noChangeArrowheads="1"/>
          </p:cNvSpPr>
          <p:nvPr/>
        </p:nvSpPr>
        <p:spPr bwMode="auto">
          <a:xfrm>
            <a:off x="3913188" y="31734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49" name="Text Box 21"/>
          <p:cNvSpPr txBox="1">
            <a:spLocks noChangeArrowheads="1"/>
          </p:cNvSpPr>
          <p:nvPr/>
        </p:nvSpPr>
        <p:spPr bwMode="auto">
          <a:xfrm>
            <a:off x="4284663" y="31734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50" name="Text Box 22"/>
          <p:cNvSpPr txBox="1">
            <a:spLocks noChangeArrowheads="1"/>
          </p:cNvSpPr>
          <p:nvPr/>
        </p:nvSpPr>
        <p:spPr bwMode="auto">
          <a:xfrm>
            <a:off x="4633913" y="3173413"/>
            <a:ext cx="184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51" name="Rectangle 23"/>
          <p:cNvSpPr>
            <a:spLocks noChangeArrowheads="1"/>
          </p:cNvSpPr>
          <p:nvPr/>
        </p:nvSpPr>
        <p:spPr bwMode="auto">
          <a:xfrm>
            <a:off x="4643438" y="3175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10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52" name="Rectangle 24"/>
          <p:cNvSpPr>
            <a:spLocks noChangeArrowheads="1"/>
          </p:cNvSpPr>
          <p:nvPr/>
        </p:nvSpPr>
        <p:spPr bwMode="auto">
          <a:xfrm>
            <a:off x="5014913" y="3170238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53" name="Rectangle 25"/>
          <p:cNvSpPr>
            <a:spLocks noChangeArrowheads="1"/>
          </p:cNvSpPr>
          <p:nvPr/>
        </p:nvSpPr>
        <p:spPr bwMode="auto">
          <a:xfrm>
            <a:off x="5381625" y="3175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54" name="Rectangle 26"/>
          <p:cNvSpPr>
            <a:spLocks noChangeArrowheads="1"/>
          </p:cNvSpPr>
          <p:nvPr/>
        </p:nvSpPr>
        <p:spPr bwMode="auto">
          <a:xfrm>
            <a:off x="5757863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55" name="Rectangle 27"/>
          <p:cNvSpPr>
            <a:spLocks noChangeArrowheads="1"/>
          </p:cNvSpPr>
          <p:nvPr/>
        </p:nvSpPr>
        <p:spPr bwMode="auto">
          <a:xfrm>
            <a:off x="6111875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56" name="Rectangle 28"/>
          <p:cNvSpPr>
            <a:spLocks noChangeArrowheads="1"/>
          </p:cNvSpPr>
          <p:nvPr/>
        </p:nvSpPr>
        <p:spPr bwMode="auto">
          <a:xfrm>
            <a:off x="6443663" y="31861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20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57" name="Rectangle 29"/>
          <p:cNvSpPr>
            <a:spLocks noChangeArrowheads="1"/>
          </p:cNvSpPr>
          <p:nvPr/>
        </p:nvSpPr>
        <p:spPr bwMode="auto">
          <a:xfrm>
            <a:off x="6796088" y="31813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58" name="Rectangle 30"/>
          <p:cNvSpPr>
            <a:spLocks noChangeArrowheads="1"/>
          </p:cNvSpPr>
          <p:nvPr/>
        </p:nvSpPr>
        <p:spPr bwMode="auto">
          <a:xfrm>
            <a:off x="7161213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59" name="Rectangle 31"/>
          <p:cNvSpPr>
            <a:spLocks noChangeArrowheads="1"/>
          </p:cNvSpPr>
          <p:nvPr/>
        </p:nvSpPr>
        <p:spPr bwMode="auto">
          <a:xfrm>
            <a:off x="7543800" y="317500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60" name="Rectangle 32"/>
          <p:cNvSpPr>
            <a:spLocks noChangeArrowheads="1"/>
          </p:cNvSpPr>
          <p:nvPr/>
        </p:nvSpPr>
        <p:spPr bwMode="auto">
          <a:xfrm>
            <a:off x="7904163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4961" name="Oval 33"/>
          <p:cNvSpPr>
            <a:spLocks noChangeArrowheads="1"/>
          </p:cNvSpPr>
          <p:nvPr/>
        </p:nvSpPr>
        <p:spPr bwMode="auto">
          <a:xfrm>
            <a:off x="2843213" y="3862388"/>
            <a:ext cx="2233612" cy="935037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4962" name="Line 34"/>
          <p:cNvSpPr>
            <a:spLocks noChangeShapeType="1"/>
          </p:cNvSpPr>
          <p:nvPr/>
        </p:nvSpPr>
        <p:spPr bwMode="auto">
          <a:xfrm>
            <a:off x="4032250" y="4416425"/>
            <a:ext cx="395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4963" name="Line 35"/>
          <p:cNvSpPr>
            <a:spLocks noChangeShapeType="1"/>
          </p:cNvSpPr>
          <p:nvPr/>
        </p:nvSpPr>
        <p:spPr bwMode="auto">
          <a:xfrm>
            <a:off x="4427538" y="4770438"/>
            <a:ext cx="3952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cxnSp>
        <p:nvCxnSpPr>
          <p:cNvPr id="2044964" name="AutoShape 36"/>
          <p:cNvCxnSpPr>
            <a:cxnSpLocks noChangeShapeType="1"/>
            <a:stCxn id="2044944" idx="1"/>
            <a:endCxn id="2044945" idx="0"/>
          </p:cNvCxnSpPr>
          <p:nvPr/>
        </p:nvCxnSpPr>
        <p:spPr bwMode="auto">
          <a:xfrm>
            <a:off x="3635375" y="3746500"/>
            <a:ext cx="0" cy="30321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044965" name="AutoShape 37"/>
          <p:cNvCxnSpPr>
            <a:cxnSpLocks noChangeShapeType="1"/>
            <a:stCxn id="2044945" idx="1"/>
            <a:endCxn id="2044962" idx="0"/>
          </p:cNvCxnSpPr>
          <p:nvPr/>
        </p:nvCxnSpPr>
        <p:spPr bwMode="auto">
          <a:xfrm>
            <a:off x="4030663" y="4106863"/>
            <a:ext cx="1587" cy="28098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044966" name="AutoShape 38"/>
          <p:cNvCxnSpPr>
            <a:cxnSpLocks noChangeShapeType="1"/>
            <a:stCxn id="2044962" idx="1"/>
            <a:endCxn id="2044963" idx="0"/>
          </p:cNvCxnSpPr>
          <p:nvPr/>
        </p:nvCxnSpPr>
        <p:spPr bwMode="auto">
          <a:xfrm>
            <a:off x="4427538" y="4445000"/>
            <a:ext cx="0" cy="29686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044967" name="Freeform 13"/>
          <p:cNvSpPr>
            <a:spLocks/>
          </p:cNvSpPr>
          <p:nvPr/>
        </p:nvSpPr>
        <p:spPr bwMode="auto">
          <a:xfrm rot="-4894880">
            <a:off x="4279900" y="4114800"/>
            <a:ext cx="1204913" cy="119063"/>
          </a:xfrm>
          <a:custGeom>
            <a:avLst/>
            <a:gdLst>
              <a:gd name="T0" fmla="*/ 0 w 650"/>
              <a:gd name="T1" fmla="*/ 40 h 58"/>
              <a:gd name="T2" fmla="*/ 27 w 650"/>
              <a:gd name="T3" fmla="*/ 31 h 58"/>
              <a:gd name="T4" fmla="*/ 45 w 650"/>
              <a:gd name="T5" fmla="*/ 4 h 58"/>
              <a:gd name="T6" fmla="*/ 90 w 650"/>
              <a:gd name="T7" fmla="*/ 13 h 58"/>
              <a:gd name="T8" fmla="*/ 108 w 650"/>
              <a:gd name="T9" fmla="*/ 40 h 58"/>
              <a:gd name="T10" fmla="*/ 135 w 650"/>
              <a:gd name="T11" fmla="*/ 22 h 58"/>
              <a:gd name="T12" fmla="*/ 162 w 650"/>
              <a:gd name="T13" fmla="*/ 13 h 58"/>
              <a:gd name="T14" fmla="*/ 216 w 650"/>
              <a:gd name="T15" fmla="*/ 22 h 58"/>
              <a:gd name="T16" fmla="*/ 243 w 650"/>
              <a:gd name="T17" fmla="*/ 40 h 58"/>
              <a:gd name="T18" fmla="*/ 297 w 650"/>
              <a:gd name="T19" fmla="*/ 13 h 58"/>
              <a:gd name="T20" fmla="*/ 342 w 650"/>
              <a:gd name="T21" fmla="*/ 22 h 58"/>
              <a:gd name="T22" fmla="*/ 351 w 650"/>
              <a:gd name="T23" fmla="*/ 49 h 58"/>
              <a:gd name="T24" fmla="*/ 378 w 650"/>
              <a:gd name="T25" fmla="*/ 31 h 58"/>
              <a:gd name="T26" fmla="*/ 414 w 650"/>
              <a:gd name="T27" fmla="*/ 13 h 58"/>
              <a:gd name="T28" fmla="*/ 486 w 650"/>
              <a:gd name="T29" fmla="*/ 22 h 58"/>
              <a:gd name="T30" fmla="*/ 513 w 650"/>
              <a:gd name="T31" fmla="*/ 40 h 58"/>
              <a:gd name="T32" fmla="*/ 567 w 650"/>
              <a:gd name="T33" fmla="*/ 22 h 58"/>
              <a:gd name="T34" fmla="*/ 594 w 650"/>
              <a:gd name="T35" fmla="*/ 13 h 58"/>
              <a:gd name="T36" fmla="*/ 648 w 650"/>
              <a:gd name="T37" fmla="*/ 58 h 5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50"/>
              <a:gd name="T58" fmla="*/ 0 h 58"/>
              <a:gd name="T59" fmla="*/ 650 w 650"/>
              <a:gd name="T60" fmla="*/ 58 h 5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50" h="58">
                <a:moveTo>
                  <a:pt x="0" y="40"/>
                </a:moveTo>
                <a:cubicBezTo>
                  <a:pt x="9" y="37"/>
                  <a:pt x="20" y="37"/>
                  <a:pt x="27" y="31"/>
                </a:cubicBezTo>
                <a:cubicBezTo>
                  <a:pt x="35" y="24"/>
                  <a:pt x="35" y="7"/>
                  <a:pt x="45" y="4"/>
                </a:cubicBezTo>
                <a:cubicBezTo>
                  <a:pt x="60" y="0"/>
                  <a:pt x="75" y="10"/>
                  <a:pt x="90" y="13"/>
                </a:cubicBezTo>
                <a:cubicBezTo>
                  <a:pt x="96" y="22"/>
                  <a:pt x="97" y="38"/>
                  <a:pt x="108" y="40"/>
                </a:cubicBezTo>
                <a:cubicBezTo>
                  <a:pt x="119" y="42"/>
                  <a:pt x="125" y="27"/>
                  <a:pt x="135" y="22"/>
                </a:cubicBezTo>
                <a:cubicBezTo>
                  <a:pt x="143" y="18"/>
                  <a:pt x="153" y="16"/>
                  <a:pt x="162" y="13"/>
                </a:cubicBezTo>
                <a:cubicBezTo>
                  <a:pt x="180" y="16"/>
                  <a:pt x="199" y="16"/>
                  <a:pt x="216" y="22"/>
                </a:cubicBezTo>
                <a:cubicBezTo>
                  <a:pt x="226" y="25"/>
                  <a:pt x="232" y="38"/>
                  <a:pt x="243" y="40"/>
                </a:cubicBezTo>
                <a:cubicBezTo>
                  <a:pt x="258" y="42"/>
                  <a:pt x="288" y="19"/>
                  <a:pt x="297" y="13"/>
                </a:cubicBezTo>
                <a:cubicBezTo>
                  <a:pt x="312" y="16"/>
                  <a:pt x="329" y="14"/>
                  <a:pt x="342" y="22"/>
                </a:cubicBezTo>
                <a:cubicBezTo>
                  <a:pt x="350" y="27"/>
                  <a:pt x="342" y="47"/>
                  <a:pt x="351" y="49"/>
                </a:cubicBezTo>
                <a:cubicBezTo>
                  <a:pt x="361" y="52"/>
                  <a:pt x="369" y="36"/>
                  <a:pt x="378" y="31"/>
                </a:cubicBezTo>
                <a:cubicBezTo>
                  <a:pt x="390" y="24"/>
                  <a:pt x="402" y="19"/>
                  <a:pt x="414" y="13"/>
                </a:cubicBezTo>
                <a:cubicBezTo>
                  <a:pt x="438" y="16"/>
                  <a:pt x="463" y="16"/>
                  <a:pt x="486" y="22"/>
                </a:cubicBezTo>
                <a:cubicBezTo>
                  <a:pt x="496" y="25"/>
                  <a:pt x="502" y="40"/>
                  <a:pt x="513" y="40"/>
                </a:cubicBezTo>
                <a:cubicBezTo>
                  <a:pt x="532" y="40"/>
                  <a:pt x="549" y="28"/>
                  <a:pt x="567" y="22"/>
                </a:cubicBezTo>
                <a:cubicBezTo>
                  <a:pt x="576" y="19"/>
                  <a:pt x="594" y="13"/>
                  <a:pt x="594" y="13"/>
                </a:cubicBezTo>
                <a:cubicBezTo>
                  <a:pt x="650" y="51"/>
                  <a:pt x="648" y="27"/>
                  <a:pt x="648" y="58"/>
                </a:cubicBezTo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44968" name="Line 40"/>
          <p:cNvSpPr>
            <a:spLocks noChangeShapeType="1"/>
          </p:cNvSpPr>
          <p:nvPr/>
        </p:nvSpPr>
        <p:spPr bwMode="auto">
          <a:xfrm>
            <a:off x="5003800" y="3502025"/>
            <a:ext cx="0" cy="18002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4969" name="Line 12"/>
          <p:cNvSpPr>
            <a:spLocks noChangeShapeType="1"/>
          </p:cNvSpPr>
          <p:nvPr/>
        </p:nvSpPr>
        <p:spPr bwMode="auto">
          <a:xfrm>
            <a:off x="4405313" y="4432300"/>
            <a:ext cx="598487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4970" name="Line 12"/>
          <p:cNvSpPr>
            <a:spLocks noChangeShapeType="1"/>
          </p:cNvSpPr>
          <p:nvPr/>
        </p:nvSpPr>
        <p:spPr bwMode="auto">
          <a:xfrm>
            <a:off x="4022725" y="4089400"/>
            <a:ext cx="598488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4971" name="Line 12"/>
          <p:cNvSpPr>
            <a:spLocks noChangeShapeType="1"/>
          </p:cNvSpPr>
          <p:nvPr/>
        </p:nvSpPr>
        <p:spPr bwMode="auto">
          <a:xfrm>
            <a:off x="2938463" y="4427538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4972" name="Text Box 44"/>
          <p:cNvSpPr txBox="1">
            <a:spLocks noChangeArrowheads="1"/>
          </p:cNvSpPr>
          <p:nvPr/>
        </p:nvSpPr>
        <p:spPr bwMode="auto">
          <a:xfrm>
            <a:off x="4932363" y="3502025"/>
            <a:ext cx="17383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333399"/>
                </a:solidFill>
                <a:latin typeface="Times New Roman" pitchFamily="18" charset="0"/>
              </a:rPr>
              <a:t>C.T. = 10.6 sec</a:t>
            </a:r>
            <a:endParaRPr lang="th-TH" sz="2000" smtClean="0">
              <a:solidFill>
                <a:srgbClr val="333399"/>
              </a:solidFill>
              <a:latin typeface="Times New Roman" pitchFamily="18" charset="0"/>
            </a:endParaRPr>
          </a:p>
        </p:txBody>
      </p:sp>
      <p:sp>
        <p:nvSpPr>
          <p:cNvPr id="2044973" name="Text Box 45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44975" name="Line 47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4976" name="Rectangle 8"/>
          <p:cNvSpPr>
            <a:spLocks noChangeArrowheads="1"/>
          </p:cNvSpPr>
          <p:nvPr/>
        </p:nvSpPr>
        <p:spPr bwMode="auto">
          <a:xfrm>
            <a:off x="750888" y="6351588"/>
            <a:ext cx="8064500" cy="40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6 :</a:t>
            </a:r>
            <a:r>
              <a:rPr lang="en-US" sz="1200" b="1" i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Write the machine time line. In case of machine time line is over cycle time line, we will return to start point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              (0 point) again until finish</a:t>
            </a:r>
            <a:endParaRPr lang="en-US" sz="1200" i="1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5954" name="Rectangle 8"/>
          <p:cNvSpPr>
            <a:spLocks noChangeArrowheads="1"/>
          </p:cNvSpPr>
          <p:nvPr/>
        </p:nvSpPr>
        <p:spPr bwMode="auto">
          <a:xfrm>
            <a:off x="682625" y="5548313"/>
            <a:ext cx="7993063" cy="54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7 :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เขียนเส้นแทกค์ไทม์ ด้วยเส้นสีแดง พร้อมทั้งค่าของแทกค์ไทม์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pic>
        <p:nvPicPr>
          <p:cNvPr id="2045955" name="Picture 4"/>
          <p:cNvPicPr>
            <a:picLocks noChangeAspect="1" noChangeArrowheads="1"/>
          </p:cNvPicPr>
          <p:nvPr/>
        </p:nvPicPr>
        <p:blipFill>
          <a:blip r:embed="rId2" cstate="print"/>
          <a:srcRect l="1810" t="13385" r="16061" b="16431"/>
          <a:stretch>
            <a:fillRect/>
          </a:stretch>
        </p:blipFill>
        <p:spPr bwMode="auto">
          <a:xfrm>
            <a:off x="179388" y="1268413"/>
            <a:ext cx="2879725" cy="197008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pic>
        <p:nvPicPr>
          <p:cNvPr id="2045956" name="Picture 4"/>
          <p:cNvPicPr>
            <a:picLocks noChangeAspect="1" noChangeArrowheads="1"/>
          </p:cNvPicPr>
          <p:nvPr/>
        </p:nvPicPr>
        <p:blipFill>
          <a:blip r:embed="rId2" cstate="print"/>
          <a:srcRect l="20792" t="21077" r="40997" b="63541"/>
          <a:stretch>
            <a:fillRect/>
          </a:stretch>
        </p:blipFill>
        <p:spPr bwMode="auto">
          <a:xfrm>
            <a:off x="1114425" y="2946400"/>
            <a:ext cx="7202488" cy="2320925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sp>
        <p:nvSpPr>
          <p:cNvPr id="2045957" name="AutoShape 5"/>
          <p:cNvSpPr>
            <a:spLocks noChangeArrowheads="1"/>
          </p:cNvSpPr>
          <p:nvPr/>
        </p:nvSpPr>
        <p:spPr bwMode="auto">
          <a:xfrm>
            <a:off x="1042988" y="2852738"/>
            <a:ext cx="7345362" cy="2519362"/>
          </a:xfrm>
          <a:prstGeom prst="wedgeRectCallout">
            <a:avLst>
              <a:gd name="adj1" fmla="val -39282"/>
              <a:gd name="adj2" fmla="val -81949"/>
            </a:avLst>
          </a:prstGeom>
          <a:noFill/>
          <a:ln w="28575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58" name="Oval 6"/>
          <p:cNvSpPr>
            <a:spLocks noChangeArrowheads="1"/>
          </p:cNvSpPr>
          <p:nvPr/>
        </p:nvSpPr>
        <p:spPr bwMode="auto">
          <a:xfrm>
            <a:off x="755650" y="1484313"/>
            <a:ext cx="2232025" cy="792162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5959" name="Text Box 7"/>
          <p:cNvSpPr txBox="1">
            <a:spLocks noChangeArrowheads="1"/>
          </p:cNvSpPr>
          <p:nvPr/>
        </p:nvSpPr>
        <p:spPr bwMode="auto">
          <a:xfrm>
            <a:off x="1042988" y="3895725"/>
            <a:ext cx="71913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P001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60" name="Text Box 8"/>
          <p:cNvSpPr txBox="1">
            <a:spLocks noChangeArrowheads="1"/>
          </p:cNvSpPr>
          <p:nvPr/>
        </p:nvSpPr>
        <p:spPr bwMode="auto">
          <a:xfrm>
            <a:off x="1060450" y="4275138"/>
            <a:ext cx="719138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P002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61" name="Text Box 9"/>
          <p:cNvSpPr txBox="1">
            <a:spLocks noChangeArrowheads="1"/>
          </p:cNvSpPr>
          <p:nvPr/>
        </p:nvSpPr>
        <p:spPr bwMode="auto">
          <a:xfrm>
            <a:off x="1549400" y="3513138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3.8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62" name="Text Box 10"/>
          <p:cNvSpPr txBox="1">
            <a:spLocks noChangeArrowheads="1"/>
          </p:cNvSpPr>
          <p:nvPr/>
        </p:nvSpPr>
        <p:spPr bwMode="auto">
          <a:xfrm>
            <a:off x="1546225" y="3895725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1.9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63" name="Text Box 11"/>
          <p:cNvSpPr txBox="1">
            <a:spLocks noChangeArrowheads="1"/>
          </p:cNvSpPr>
          <p:nvPr/>
        </p:nvSpPr>
        <p:spPr bwMode="auto">
          <a:xfrm>
            <a:off x="2051050" y="3895725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3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64" name="Text Box 12"/>
          <p:cNvSpPr txBox="1">
            <a:spLocks noChangeArrowheads="1"/>
          </p:cNvSpPr>
          <p:nvPr/>
        </p:nvSpPr>
        <p:spPr bwMode="auto">
          <a:xfrm>
            <a:off x="2051050" y="4256088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65" name="Text Box 13"/>
          <p:cNvSpPr txBox="1">
            <a:spLocks noChangeArrowheads="1"/>
          </p:cNvSpPr>
          <p:nvPr/>
        </p:nvSpPr>
        <p:spPr bwMode="auto">
          <a:xfrm>
            <a:off x="2482850" y="4795838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66" name="Text Box 14"/>
          <p:cNvSpPr txBox="1">
            <a:spLocks noChangeArrowheads="1"/>
          </p:cNvSpPr>
          <p:nvPr/>
        </p:nvSpPr>
        <p:spPr bwMode="auto">
          <a:xfrm>
            <a:off x="1690688" y="4579938"/>
            <a:ext cx="311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67" name="Text Box 15"/>
          <p:cNvSpPr txBox="1">
            <a:spLocks noChangeArrowheads="1"/>
          </p:cNvSpPr>
          <p:nvPr/>
        </p:nvSpPr>
        <p:spPr bwMode="auto">
          <a:xfrm>
            <a:off x="1549400" y="4256088"/>
            <a:ext cx="5016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000000"/>
                </a:solidFill>
                <a:latin typeface="Times New Roman" pitchFamily="18" charset="0"/>
              </a:rPr>
              <a:t>1.9</a:t>
            </a:r>
            <a:endParaRPr lang="th-TH" sz="2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68" name="Line 16"/>
          <p:cNvSpPr>
            <a:spLocks noChangeShapeType="1"/>
          </p:cNvSpPr>
          <p:nvPr/>
        </p:nvSpPr>
        <p:spPr bwMode="auto">
          <a:xfrm>
            <a:off x="2943225" y="3716338"/>
            <a:ext cx="6921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5969" name="Line 17"/>
          <p:cNvSpPr>
            <a:spLocks noChangeShapeType="1"/>
          </p:cNvSpPr>
          <p:nvPr/>
        </p:nvSpPr>
        <p:spPr bwMode="auto">
          <a:xfrm>
            <a:off x="3635375" y="4076700"/>
            <a:ext cx="395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5970" name="Text Box 18"/>
          <p:cNvSpPr txBox="1">
            <a:spLocks noChangeArrowheads="1"/>
          </p:cNvSpPr>
          <p:nvPr/>
        </p:nvSpPr>
        <p:spPr bwMode="auto">
          <a:xfrm>
            <a:off x="3171825" y="3168650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71" name="Text Box 19"/>
          <p:cNvSpPr txBox="1">
            <a:spLocks noChangeArrowheads="1"/>
          </p:cNvSpPr>
          <p:nvPr/>
        </p:nvSpPr>
        <p:spPr bwMode="auto">
          <a:xfrm>
            <a:off x="3552825" y="3173413"/>
            <a:ext cx="2984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72" name="Text Box 20"/>
          <p:cNvSpPr txBox="1">
            <a:spLocks noChangeArrowheads="1"/>
          </p:cNvSpPr>
          <p:nvPr/>
        </p:nvSpPr>
        <p:spPr bwMode="auto">
          <a:xfrm>
            <a:off x="3913188" y="317182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73" name="Text Box 21"/>
          <p:cNvSpPr txBox="1">
            <a:spLocks noChangeArrowheads="1"/>
          </p:cNvSpPr>
          <p:nvPr/>
        </p:nvSpPr>
        <p:spPr bwMode="auto">
          <a:xfrm>
            <a:off x="4284663" y="3171825"/>
            <a:ext cx="2984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74" name="Text Box 22"/>
          <p:cNvSpPr txBox="1">
            <a:spLocks noChangeArrowheads="1"/>
          </p:cNvSpPr>
          <p:nvPr/>
        </p:nvSpPr>
        <p:spPr bwMode="auto">
          <a:xfrm>
            <a:off x="4633913" y="3171825"/>
            <a:ext cx="184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75" name="Rectangle 23"/>
          <p:cNvSpPr>
            <a:spLocks noChangeArrowheads="1"/>
          </p:cNvSpPr>
          <p:nvPr/>
        </p:nvSpPr>
        <p:spPr bwMode="auto">
          <a:xfrm>
            <a:off x="4643438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10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76" name="Rectangle 24"/>
          <p:cNvSpPr>
            <a:spLocks noChangeArrowheads="1"/>
          </p:cNvSpPr>
          <p:nvPr/>
        </p:nvSpPr>
        <p:spPr bwMode="auto">
          <a:xfrm>
            <a:off x="5014913" y="3168650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77" name="Rectangle 25"/>
          <p:cNvSpPr>
            <a:spLocks noChangeArrowheads="1"/>
          </p:cNvSpPr>
          <p:nvPr/>
        </p:nvSpPr>
        <p:spPr bwMode="auto">
          <a:xfrm>
            <a:off x="5381625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78" name="Rectangle 26"/>
          <p:cNvSpPr>
            <a:spLocks noChangeArrowheads="1"/>
          </p:cNvSpPr>
          <p:nvPr/>
        </p:nvSpPr>
        <p:spPr bwMode="auto">
          <a:xfrm>
            <a:off x="5757863" y="317182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79" name="Rectangle 27"/>
          <p:cNvSpPr>
            <a:spLocks noChangeArrowheads="1"/>
          </p:cNvSpPr>
          <p:nvPr/>
        </p:nvSpPr>
        <p:spPr bwMode="auto">
          <a:xfrm>
            <a:off x="6111875" y="317182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18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80" name="Rectangle 28"/>
          <p:cNvSpPr>
            <a:spLocks noChangeArrowheads="1"/>
          </p:cNvSpPr>
          <p:nvPr/>
        </p:nvSpPr>
        <p:spPr bwMode="auto">
          <a:xfrm>
            <a:off x="6443663" y="318452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20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81" name="Rectangle 29"/>
          <p:cNvSpPr>
            <a:spLocks noChangeArrowheads="1"/>
          </p:cNvSpPr>
          <p:nvPr/>
        </p:nvSpPr>
        <p:spPr bwMode="auto">
          <a:xfrm>
            <a:off x="6796088" y="317976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22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82" name="Rectangle 30"/>
          <p:cNvSpPr>
            <a:spLocks noChangeArrowheads="1"/>
          </p:cNvSpPr>
          <p:nvPr/>
        </p:nvSpPr>
        <p:spPr bwMode="auto">
          <a:xfrm>
            <a:off x="7161213" y="317182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24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83" name="Rectangle 31"/>
          <p:cNvSpPr>
            <a:spLocks noChangeArrowheads="1"/>
          </p:cNvSpPr>
          <p:nvPr/>
        </p:nvSpPr>
        <p:spPr bwMode="auto">
          <a:xfrm>
            <a:off x="7543800" y="3173413"/>
            <a:ext cx="412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26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84" name="Rectangle 32"/>
          <p:cNvSpPr>
            <a:spLocks noChangeArrowheads="1"/>
          </p:cNvSpPr>
          <p:nvPr/>
        </p:nvSpPr>
        <p:spPr bwMode="auto">
          <a:xfrm>
            <a:off x="7904163" y="3171825"/>
            <a:ext cx="4127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800" smtClean="0">
                <a:solidFill>
                  <a:srgbClr val="000000"/>
                </a:solidFill>
                <a:latin typeface="Times New Roman" pitchFamily="18" charset="0"/>
              </a:rPr>
              <a:t>28</a:t>
            </a:r>
            <a:endParaRPr lang="th-TH" sz="18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5985" name="Oval 33"/>
          <p:cNvSpPr>
            <a:spLocks noChangeArrowheads="1"/>
          </p:cNvSpPr>
          <p:nvPr/>
        </p:nvSpPr>
        <p:spPr bwMode="auto">
          <a:xfrm>
            <a:off x="4427538" y="3355975"/>
            <a:ext cx="649287" cy="2016125"/>
          </a:xfrm>
          <a:prstGeom prst="ellipse">
            <a:avLst/>
          </a:prstGeom>
          <a:noFill/>
          <a:ln w="28575" cap="rnd" algn="ctr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5986" name="Line 34"/>
          <p:cNvSpPr>
            <a:spLocks noChangeShapeType="1"/>
          </p:cNvSpPr>
          <p:nvPr/>
        </p:nvSpPr>
        <p:spPr bwMode="auto">
          <a:xfrm>
            <a:off x="4032250" y="4414838"/>
            <a:ext cx="395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5987" name="Line 35"/>
          <p:cNvSpPr>
            <a:spLocks noChangeShapeType="1"/>
          </p:cNvSpPr>
          <p:nvPr/>
        </p:nvSpPr>
        <p:spPr bwMode="auto">
          <a:xfrm>
            <a:off x="4427538" y="4768850"/>
            <a:ext cx="3952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cxnSp>
        <p:nvCxnSpPr>
          <p:cNvPr id="2045988" name="AutoShape 36"/>
          <p:cNvCxnSpPr>
            <a:cxnSpLocks noChangeShapeType="1"/>
            <a:stCxn id="2045968" idx="1"/>
            <a:endCxn id="2045969" idx="0"/>
          </p:cNvCxnSpPr>
          <p:nvPr/>
        </p:nvCxnSpPr>
        <p:spPr bwMode="auto">
          <a:xfrm>
            <a:off x="3635375" y="3744913"/>
            <a:ext cx="0" cy="30321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045989" name="AutoShape 37"/>
          <p:cNvCxnSpPr>
            <a:cxnSpLocks noChangeShapeType="1"/>
            <a:stCxn id="2045969" idx="1"/>
            <a:endCxn id="2045986" idx="0"/>
          </p:cNvCxnSpPr>
          <p:nvPr/>
        </p:nvCxnSpPr>
        <p:spPr bwMode="auto">
          <a:xfrm>
            <a:off x="4030663" y="4105275"/>
            <a:ext cx="1587" cy="2809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2045990" name="AutoShape 38"/>
          <p:cNvCxnSpPr>
            <a:cxnSpLocks noChangeShapeType="1"/>
            <a:stCxn id="2045986" idx="1"/>
            <a:endCxn id="2045987" idx="0"/>
          </p:cNvCxnSpPr>
          <p:nvPr/>
        </p:nvCxnSpPr>
        <p:spPr bwMode="auto">
          <a:xfrm>
            <a:off x="4427538" y="4443413"/>
            <a:ext cx="0" cy="296862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</p:cxnSp>
      <p:sp>
        <p:nvSpPr>
          <p:cNvPr id="2045991" name="Freeform 13"/>
          <p:cNvSpPr>
            <a:spLocks/>
          </p:cNvSpPr>
          <p:nvPr/>
        </p:nvSpPr>
        <p:spPr bwMode="auto">
          <a:xfrm rot="-4894880">
            <a:off x="4279901" y="4113212"/>
            <a:ext cx="1204912" cy="119063"/>
          </a:xfrm>
          <a:custGeom>
            <a:avLst/>
            <a:gdLst>
              <a:gd name="T0" fmla="*/ 0 w 650"/>
              <a:gd name="T1" fmla="*/ 40 h 58"/>
              <a:gd name="T2" fmla="*/ 27 w 650"/>
              <a:gd name="T3" fmla="*/ 31 h 58"/>
              <a:gd name="T4" fmla="*/ 45 w 650"/>
              <a:gd name="T5" fmla="*/ 4 h 58"/>
              <a:gd name="T6" fmla="*/ 90 w 650"/>
              <a:gd name="T7" fmla="*/ 13 h 58"/>
              <a:gd name="T8" fmla="*/ 108 w 650"/>
              <a:gd name="T9" fmla="*/ 40 h 58"/>
              <a:gd name="T10" fmla="*/ 135 w 650"/>
              <a:gd name="T11" fmla="*/ 22 h 58"/>
              <a:gd name="T12" fmla="*/ 162 w 650"/>
              <a:gd name="T13" fmla="*/ 13 h 58"/>
              <a:gd name="T14" fmla="*/ 216 w 650"/>
              <a:gd name="T15" fmla="*/ 22 h 58"/>
              <a:gd name="T16" fmla="*/ 243 w 650"/>
              <a:gd name="T17" fmla="*/ 40 h 58"/>
              <a:gd name="T18" fmla="*/ 297 w 650"/>
              <a:gd name="T19" fmla="*/ 13 h 58"/>
              <a:gd name="T20" fmla="*/ 342 w 650"/>
              <a:gd name="T21" fmla="*/ 22 h 58"/>
              <a:gd name="T22" fmla="*/ 351 w 650"/>
              <a:gd name="T23" fmla="*/ 49 h 58"/>
              <a:gd name="T24" fmla="*/ 378 w 650"/>
              <a:gd name="T25" fmla="*/ 31 h 58"/>
              <a:gd name="T26" fmla="*/ 414 w 650"/>
              <a:gd name="T27" fmla="*/ 13 h 58"/>
              <a:gd name="T28" fmla="*/ 486 w 650"/>
              <a:gd name="T29" fmla="*/ 22 h 58"/>
              <a:gd name="T30" fmla="*/ 513 w 650"/>
              <a:gd name="T31" fmla="*/ 40 h 58"/>
              <a:gd name="T32" fmla="*/ 567 w 650"/>
              <a:gd name="T33" fmla="*/ 22 h 58"/>
              <a:gd name="T34" fmla="*/ 594 w 650"/>
              <a:gd name="T35" fmla="*/ 13 h 58"/>
              <a:gd name="T36" fmla="*/ 648 w 650"/>
              <a:gd name="T37" fmla="*/ 58 h 5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650"/>
              <a:gd name="T58" fmla="*/ 0 h 58"/>
              <a:gd name="T59" fmla="*/ 650 w 650"/>
              <a:gd name="T60" fmla="*/ 58 h 5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650" h="58">
                <a:moveTo>
                  <a:pt x="0" y="40"/>
                </a:moveTo>
                <a:cubicBezTo>
                  <a:pt x="9" y="37"/>
                  <a:pt x="20" y="37"/>
                  <a:pt x="27" y="31"/>
                </a:cubicBezTo>
                <a:cubicBezTo>
                  <a:pt x="35" y="24"/>
                  <a:pt x="35" y="7"/>
                  <a:pt x="45" y="4"/>
                </a:cubicBezTo>
                <a:cubicBezTo>
                  <a:pt x="60" y="0"/>
                  <a:pt x="75" y="10"/>
                  <a:pt x="90" y="13"/>
                </a:cubicBezTo>
                <a:cubicBezTo>
                  <a:pt x="96" y="22"/>
                  <a:pt x="97" y="38"/>
                  <a:pt x="108" y="40"/>
                </a:cubicBezTo>
                <a:cubicBezTo>
                  <a:pt x="119" y="42"/>
                  <a:pt x="125" y="27"/>
                  <a:pt x="135" y="22"/>
                </a:cubicBezTo>
                <a:cubicBezTo>
                  <a:pt x="143" y="18"/>
                  <a:pt x="153" y="16"/>
                  <a:pt x="162" y="13"/>
                </a:cubicBezTo>
                <a:cubicBezTo>
                  <a:pt x="180" y="16"/>
                  <a:pt x="199" y="16"/>
                  <a:pt x="216" y="22"/>
                </a:cubicBezTo>
                <a:cubicBezTo>
                  <a:pt x="226" y="25"/>
                  <a:pt x="232" y="38"/>
                  <a:pt x="243" y="40"/>
                </a:cubicBezTo>
                <a:cubicBezTo>
                  <a:pt x="258" y="42"/>
                  <a:pt x="288" y="19"/>
                  <a:pt x="297" y="13"/>
                </a:cubicBezTo>
                <a:cubicBezTo>
                  <a:pt x="312" y="16"/>
                  <a:pt x="329" y="14"/>
                  <a:pt x="342" y="22"/>
                </a:cubicBezTo>
                <a:cubicBezTo>
                  <a:pt x="350" y="27"/>
                  <a:pt x="342" y="47"/>
                  <a:pt x="351" y="49"/>
                </a:cubicBezTo>
                <a:cubicBezTo>
                  <a:pt x="361" y="52"/>
                  <a:pt x="369" y="36"/>
                  <a:pt x="378" y="31"/>
                </a:cubicBezTo>
                <a:cubicBezTo>
                  <a:pt x="390" y="24"/>
                  <a:pt x="402" y="19"/>
                  <a:pt x="414" y="13"/>
                </a:cubicBezTo>
                <a:cubicBezTo>
                  <a:pt x="438" y="16"/>
                  <a:pt x="463" y="16"/>
                  <a:pt x="486" y="22"/>
                </a:cubicBezTo>
                <a:cubicBezTo>
                  <a:pt x="496" y="25"/>
                  <a:pt x="502" y="40"/>
                  <a:pt x="513" y="40"/>
                </a:cubicBezTo>
                <a:cubicBezTo>
                  <a:pt x="532" y="40"/>
                  <a:pt x="549" y="28"/>
                  <a:pt x="567" y="22"/>
                </a:cubicBezTo>
                <a:cubicBezTo>
                  <a:pt x="576" y="19"/>
                  <a:pt x="594" y="13"/>
                  <a:pt x="594" y="13"/>
                </a:cubicBezTo>
                <a:cubicBezTo>
                  <a:pt x="650" y="51"/>
                  <a:pt x="648" y="27"/>
                  <a:pt x="648" y="58"/>
                </a:cubicBezTo>
              </a:path>
            </a:pathLst>
          </a:cu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45992" name="Line 40"/>
          <p:cNvSpPr>
            <a:spLocks noChangeShapeType="1"/>
          </p:cNvSpPr>
          <p:nvPr/>
        </p:nvSpPr>
        <p:spPr bwMode="auto">
          <a:xfrm>
            <a:off x="5003800" y="3500438"/>
            <a:ext cx="0" cy="18002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5993" name="Line 12"/>
          <p:cNvSpPr>
            <a:spLocks noChangeShapeType="1"/>
          </p:cNvSpPr>
          <p:nvPr/>
        </p:nvSpPr>
        <p:spPr bwMode="auto">
          <a:xfrm>
            <a:off x="4405313" y="4430713"/>
            <a:ext cx="598487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5994" name="Line 12"/>
          <p:cNvSpPr>
            <a:spLocks noChangeShapeType="1"/>
          </p:cNvSpPr>
          <p:nvPr/>
        </p:nvSpPr>
        <p:spPr bwMode="auto">
          <a:xfrm>
            <a:off x="4022725" y="4087813"/>
            <a:ext cx="598488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5995" name="Line 12"/>
          <p:cNvSpPr>
            <a:spLocks noChangeShapeType="1"/>
          </p:cNvSpPr>
          <p:nvPr/>
        </p:nvSpPr>
        <p:spPr bwMode="auto">
          <a:xfrm>
            <a:off x="2938463" y="4425950"/>
            <a:ext cx="36036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none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5996" name="Text Box 44"/>
          <p:cNvSpPr txBox="1">
            <a:spLocks noChangeArrowheads="1"/>
          </p:cNvSpPr>
          <p:nvPr/>
        </p:nvSpPr>
        <p:spPr bwMode="auto">
          <a:xfrm>
            <a:off x="4932363" y="3500438"/>
            <a:ext cx="17383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333399"/>
                </a:solidFill>
                <a:latin typeface="Times New Roman" pitchFamily="18" charset="0"/>
              </a:rPr>
              <a:t>C.T. = 10.6 sec</a:t>
            </a:r>
            <a:endParaRPr lang="th-TH" sz="2000" smtClean="0">
              <a:solidFill>
                <a:srgbClr val="333399"/>
              </a:solidFill>
              <a:latin typeface="Times New Roman" pitchFamily="18" charset="0"/>
            </a:endParaRPr>
          </a:p>
        </p:txBody>
      </p:sp>
      <p:sp>
        <p:nvSpPr>
          <p:cNvPr id="2045997" name="Line 45"/>
          <p:cNvSpPr>
            <a:spLocks noChangeShapeType="1"/>
          </p:cNvSpPr>
          <p:nvPr/>
        </p:nvSpPr>
        <p:spPr bwMode="auto">
          <a:xfrm>
            <a:off x="4787900" y="3500438"/>
            <a:ext cx="0" cy="18002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5998" name="Text Box 46"/>
          <p:cNvSpPr txBox="1">
            <a:spLocks noChangeArrowheads="1"/>
          </p:cNvSpPr>
          <p:nvPr/>
        </p:nvSpPr>
        <p:spPr bwMode="auto">
          <a:xfrm>
            <a:off x="3325813" y="4832350"/>
            <a:ext cx="15335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smtClean="0">
                <a:solidFill>
                  <a:srgbClr val="FF0000"/>
                </a:solidFill>
                <a:latin typeface="Times New Roman" pitchFamily="18" charset="0"/>
              </a:rPr>
              <a:t>T.T. = 10 sec</a:t>
            </a:r>
            <a:endParaRPr lang="th-TH" sz="2000" smtClean="0">
              <a:solidFill>
                <a:srgbClr val="FF0000"/>
              </a:solidFill>
              <a:latin typeface="Times New Roman" pitchFamily="18" charset="0"/>
            </a:endParaRPr>
          </a:p>
        </p:txBody>
      </p:sp>
      <p:sp>
        <p:nvSpPr>
          <p:cNvPr id="2045999" name="Text Box 47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46001" name="Line 49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6002" name="Rectangle 8"/>
          <p:cNvSpPr>
            <a:spLocks noChangeArrowheads="1"/>
          </p:cNvSpPr>
          <p:nvPr/>
        </p:nvSpPr>
        <p:spPr bwMode="auto">
          <a:xfrm>
            <a:off x="1276350" y="6034088"/>
            <a:ext cx="4392613" cy="32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7 :</a:t>
            </a:r>
            <a:r>
              <a:rPr lang="en-US" sz="1200" b="1" i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Write the takt time line with value by red color</a:t>
            </a:r>
            <a:endParaRPr lang="en-US" sz="1200" i="1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978" name="Rectangle 2"/>
          <p:cNvSpPr>
            <a:spLocks noChangeArrowheads="1"/>
          </p:cNvSpPr>
          <p:nvPr/>
        </p:nvSpPr>
        <p:spPr bwMode="auto">
          <a:xfrm>
            <a:off x="1687513" y="1196975"/>
            <a:ext cx="5692775" cy="414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 smtClean="0">
                <a:solidFill>
                  <a:srgbClr val="000000"/>
                </a:solidFill>
                <a:latin typeface="Times New Roman" pitchFamily="18" charset="0"/>
              </a:rPr>
              <a:t>ตัวอย่างการบันทึกใบประกอบงานตามมาตรฐาน</a:t>
            </a:r>
          </a:p>
        </p:txBody>
      </p:sp>
      <p:sp>
        <p:nvSpPr>
          <p:cNvPr id="2046979" name="Text Box 3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46981" name="Line 5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6982" name="Rectangle 6"/>
          <p:cNvSpPr>
            <a:spLocks noChangeArrowheads="1"/>
          </p:cNvSpPr>
          <p:nvPr/>
        </p:nvSpPr>
        <p:spPr bwMode="auto">
          <a:xfrm>
            <a:off x="2411413" y="1557338"/>
            <a:ext cx="4244975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</a:rPr>
              <a:t>Example of Standardized Work Combination Table</a:t>
            </a:r>
            <a:r>
              <a:rPr lang="th-TH" altLang="ja-JP" sz="1200" smtClean="0">
                <a:solidFill>
                  <a:srgbClr val="000000"/>
                </a:solidFill>
                <a:ea typeface="MS PGothic" pitchFamily="34" charset="-128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</a:rPr>
              <a:t>Record</a:t>
            </a:r>
            <a:endParaRPr lang="th-TH" sz="1200" smtClean="0">
              <a:solidFill>
                <a:srgbClr val="000000"/>
              </a:solidFill>
              <a:ea typeface="MS PGothic" pitchFamily="34" charset="-128"/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582613" y="1844675"/>
            <a:ext cx="8318500" cy="4848225"/>
            <a:chOff x="367" y="1162"/>
            <a:chExt cx="5240" cy="3054"/>
          </a:xfrm>
        </p:grpSpPr>
        <p:sp>
          <p:nvSpPr>
            <p:cNvPr id="2046984" name="Rectangle 8"/>
            <p:cNvSpPr>
              <a:spLocks noChangeArrowheads="1"/>
            </p:cNvSpPr>
            <p:nvPr/>
          </p:nvSpPr>
          <p:spPr bwMode="auto">
            <a:xfrm>
              <a:off x="375" y="2310"/>
              <a:ext cx="1633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3. C.T. &lt; T.T. </a:t>
              </a:r>
              <a:endParaRPr lang="th-TH" sz="2000" b="1" smtClean="0">
                <a:solidFill>
                  <a:srgbClr val="000000"/>
                </a:solidFill>
                <a:latin typeface="Angsana New" pitchFamily="18" charset="-34"/>
              </a:endParaRPr>
            </a:p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ทำให้มีการรองานเกิดขึ้น</a:t>
              </a:r>
              <a:endParaRPr lang="en-US" sz="2000" b="1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6985" name="Rectangle 9"/>
            <p:cNvSpPr>
              <a:spLocks noChangeArrowheads="1"/>
            </p:cNvSpPr>
            <p:nvPr/>
          </p:nvSpPr>
          <p:spPr bwMode="auto">
            <a:xfrm>
              <a:off x="368" y="2842"/>
              <a:ext cx="177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4.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รองานในระหว่างทำงาน</a:t>
              </a:r>
            </a:p>
          </p:txBody>
        </p:sp>
        <p:sp>
          <p:nvSpPr>
            <p:cNvPr id="2046986" name="Line 10"/>
            <p:cNvSpPr>
              <a:spLocks noChangeShapeType="1"/>
            </p:cNvSpPr>
            <p:nvPr/>
          </p:nvSpPr>
          <p:spPr bwMode="auto">
            <a:xfrm>
              <a:off x="385" y="3518"/>
              <a:ext cx="5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6987" name="Rectangle 11"/>
            <p:cNvSpPr>
              <a:spLocks noChangeArrowheads="1"/>
            </p:cNvSpPr>
            <p:nvPr/>
          </p:nvSpPr>
          <p:spPr bwMode="auto">
            <a:xfrm>
              <a:off x="385" y="3566"/>
              <a:ext cx="1678" cy="3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5. เกิดการทำงานพร้อมกัน เช่น การกดสวิตซ์ แล้วเครื่องจักรสองเครื่องเริ่มทำงานพร้อมกัน</a:t>
              </a:r>
            </a:p>
          </p:txBody>
        </p:sp>
        <p:sp>
          <p:nvSpPr>
            <p:cNvPr id="2046988" name="Rectangle 12"/>
            <p:cNvSpPr>
              <a:spLocks noChangeArrowheads="1"/>
            </p:cNvSpPr>
            <p:nvPr/>
          </p:nvSpPr>
          <p:spPr bwMode="auto">
            <a:xfrm>
              <a:off x="3475" y="1217"/>
              <a:ext cx="1950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เวลาของเครื่องจักรจะวกกลับจากเส้น 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T.T.</a:t>
              </a:r>
            </a:p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ไปเริ่มที่ 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0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ใหม่ จนครบรอบเวลา</a:t>
              </a:r>
            </a:p>
          </p:txBody>
        </p:sp>
        <p:sp>
          <p:nvSpPr>
            <p:cNvPr id="2046989" name="Rectangle 13"/>
            <p:cNvSpPr>
              <a:spLocks noChangeArrowheads="1"/>
            </p:cNvSpPr>
            <p:nvPr/>
          </p:nvSpPr>
          <p:spPr bwMode="auto">
            <a:xfrm>
              <a:off x="3475" y="2331"/>
              <a:ext cx="1950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ใช้ลูกศร           แสดงเน้นในช่วงระยะเวลาที่รอ พร้อมกับเวลาที่รอ</a:t>
              </a:r>
            </a:p>
          </p:txBody>
        </p:sp>
        <p:sp>
          <p:nvSpPr>
            <p:cNvPr id="2046990" name="Rectangle 14"/>
            <p:cNvSpPr>
              <a:spLocks noChangeArrowheads="1"/>
            </p:cNvSpPr>
            <p:nvPr/>
          </p:nvSpPr>
          <p:spPr bwMode="auto">
            <a:xfrm>
              <a:off x="3490" y="3562"/>
              <a:ext cx="1935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เขียนเส้นของเวลาคู่ขนานกัน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ณ จุดที่เกิดงานพร้อมกัน</a:t>
              </a:r>
              <a:endParaRPr lang="en-US" sz="2000" b="1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6991" name="Line 15"/>
            <p:cNvSpPr>
              <a:spLocks noChangeShapeType="1"/>
            </p:cNvSpPr>
            <p:nvPr/>
          </p:nvSpPr>
          <p:spPr bwMode="auto">
            <a:xfrm>
              <a:off x="385" y="1162"/>
              <a:ext cx="5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6992" name="Line 16"/>
            <p:cNvSpPr>
              <a:spLocks noChangeShapeType="1"/>
            </p:cNvSpPr>
            <p:nvPr/>
          </p:nvSpPr>
          <p:spPr bwMode="auto">
            <a:xfrm>
              <a:off x="385" y="1734"/>
              <a:ext cx="5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6993" name="Line 17"/>
            <p:cNvSpPr>
              <a:spLocks noChangeShapeType="1"/>
            </p:cNvSpPr>
            <p:nvPr/>
          </p:nvSpPr>
          <p:spPr bwMode="auto">
            <a:xfrm>
              <a:off x="385" y="2294"/>
              <a:ext cx="5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6994" name="Line 18"/>
            <p:cNvSpPr>
              <a:spLocks noChangeShapeType="1"/>
            </p:cNvSpPr>
            <p:nvPr/>
          </p:nvSpPr>
          <p:spPr bwMode="auto">
            <a:xfrm>
              <a:off x="385" y="2886"/>
              <a:ext cx="5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6995" name="Line 19"/>
            <p:cNvSpPr>
              <a:spLocks noChangeShapeType="1"/>
            </p:cNvSpPr>
            <p:nvPr/>
          </p:nvSpPr>
          <p:spPr bwMode="auto">
            <a:xfrm>
              <a:off x="385" y="1162"/>
              <a:ext cx="0" cy="3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6996" name="Line 20"/>
            <p:cNvSpPr>
              <a:spLocks noChangeShapeType="1"/>
            </p:cNvSpPr>
            <p:nvPr/>
          </p:nvSpPr>
          <p:spPr bwMode="auto">
            <a:xfrm>
              <a:off x="5471" y="1162"/>
              <a:ext cx="0" cy="3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6997" name="AutoShape 21"/>
            <p:cNvSpPr>
              <a:spLocks noChangeArrowheads="1"/>
            </p:cNvSpPr>
            <p:nvPr/>
          </p:nvSpPr>
          <p:spPr bwMode="auto">
            <a:xfrm>
              <a:off x="3906" y="2337"/>
              <a:ext cx="240" cy="96"/>
            </a:xfrm>
            <a:prstGeom prst="leftRightArrow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grpSp>
          <p:nvGrpSpPr>
            <p:cNvPr id="3" name="Group 22"/>
            <p:cNvGrpSpPr>
              <a:grpSpLocks/>
            </p:cNvGrpSpPr>
            <p:nvPr/>
          </p:nvGrpSpPr>
          <p:grpSpPr bwMode="auto">
            <a:xfrm>
              <a:off x="2119" y="3646"/>
              <a:ext cx="1272" cy="347"/>
              <a:chOff x="2111" y="3198"/>
              <a:chExt cx="1272" cy="347"/>
            </a:xfrm>
          </p:grpSpPr>
          <p:sp>
            <p:nvSpPr>
              <p:cNvPr id="2046999" name="Line 23"/>
              <p:cNvSpPr>
                <a:spLocks noChangeShapeType="1"/>
              </p:cNvSpPr>
              <p:nvPr/>
            </p:nvSpPr>
            <p:spPr bwMode="auto">
              <a:xfrm>
                <a:off x="2111" y="329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00" name="Line 24"/>
              <p:cNvSpPr>
                <a:spLocks noChangeShapeType="1"/>
              </p:cNvSpPr>
              <p:nvPr/>
            </p:nvSpPr>
            <p:spPr bwMode="auto">
              <a:xfrm>
                <a:off x="2111" y="3342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01" name="Freeform 25"/>
              <p:cNvSpPr>
                <a:spLocks/>
              </p:cNvSpPr>
              <p:nvPr/>
            </p:nvSpPr>
            <p:spPr bwMode="auto">
              <a:xfrm>
                <a:off x="2249" y="3342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02" name="Line 26"/>
              <p:cNvSpPr>
                <a:spLocks noChangeShapeType="1"/>
              </p:cNvSpPr>
              <p:nvPr/>
            </p:nvSpPr>
            <p:spPr bwMode="auto">
              <a:xfrm>
                <a:off x="2303" y="3390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03" name="Freeform 27"/>
              <p:cNvSpPr>
                <a:spLocks/>
              </p:cNvSpPr>
              <p:nvPr/>
            </p:nvSpPr>
            <p:spPr bwMode="auto">
              <a:xfrm>
                <a:off x="2447" y="3390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04" name="Line 28"/>
              <p:cNvSpPr>
                <a:spLocks noChangeShapeType="1"/>
              </p:cNvSpPr>
              <p:nvPr/>
            </p:nvSpPr>
            <p:spPr bwMode="auto">
              <a:xfrm>
                <a:off x="2495" y="3438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05" name="Freeform 29"/>
              <p:cNvSpPr>
                <a:spLocks/>
              </p:cNvSpPr>
              <p:nvPr/>
            </p:nvSpPr>
            <p:spPr bwMode="auto">
              <a:xfrm>
                <a:off x="2639" y="3438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06" name="Line 30"/>
              <p:cNvSpPr>
                <a:spLocks noChangeShapeType="1"/>
              </p:cNvSpPr>
              <p:nvPr/>
            </p:nvSpPr>
            <p:spPr bwMode="auto">
              <a:xfrm>
                <a:off x="2687" y="3486"/>
                <a:ext cx="288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07" name="Line 31"/>
              <p:cNvSpPr>
                <a:spLocks noChangeShapeType="1"/>
              </p:cNvSpPr>
              <p:nvPr/>
            </p:nvSpPr>
            <p:spPr bwMode="auto">
              <a:xfrm>
                <a:off x="3311" y="329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08" name="Line 32"/>
              <p:cNvSpPr>
                <a:spLocks noChangeShapeType="1"/>
              </p:cNvSpPr>
              <p:nvPr/>
            </p:nvSpPr>
            <p:spPr bwMode="auto">
              <a:xfrm>
                <a:off x="2975" y="3486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09" name="Line 33"/>
              <p:cNvSpPr>
                <a:spLocks noChangeShapeType="1"/>
              </p:cNvSpPr>
              <p:nvPr/>
            </p:nvSpPr>
            <p:spPr bwMode="auto">
              <a:xfrm>
                <a:off x="2111" y="3486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10" name="Line 34"/>
              <p:cNvSpPr>
                <a:spLocks noChangeShapeType="1"/>
              </p:cNvSpPr>
              <p:nvPr/>
            </p:nvSpPr>
            <p:spPr bwMode="auto">
              <a:xfrm>
                <a:off x="2975" y="3390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11" name="WordArt 35"/>
              <p:cNvSpPr>
                <a:spLocks noChangeArrowheads="1" noChangeShapeType="1" noTextEdit="1"/>
              </p:cNvSpPr>
              <p:nvPr/>
            </p:nvSpPr>
            <p:spPr bwMode="auto">
              <a:xfrm rot="10800000" flipV="1">
                <a:off x="3119" y="3198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T.T</a:t>
                </a:r>
                <a:endParaRPr lang="th-TH" sz="3600" b="1" kern="10" smtClean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/>
                </a:endParaRPr>
              </a:p>
            </p:txBody>
          </p:sp>
          <p:sp>
            <p:nvSpPr>
              <p:cNvPr id="2047012" name="Oval 36"/>
              <p:cNvSpPr>
                <a:spLocks noChangeArrowheads="1"/>
              </p:cNvSpPr>
              <p:nvPr/>
            </p:nvSpPr>
            <p:spPr bwMode="auto">
              <a:xfrm>
                <a:off x="2884" y="3318"/>
                <a:ext cx="499" cy="227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47013" name="Line 37"/>
            <p:cNvSpPr>
              <a:spLocks noChangeShapeType="1"/>
            </p:cNvSpPr>
            <p:nvPr/>
          </p:nvSpPr>
          <p:spPr bwMode="auto">
            <a:xfrm>
              <a:off x="2015" y="1162"/>
              <a:ext cx="0" cy="3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7014" name="Line 38"/>
            <p:cNvSpPr>
              <a:spLocks noChangeShapeType="1"/>
            </p:cNvSpPr>
            <p:nvPr/>
          </p:nvSpPr>
          <p:spPr bwMode="auto">
            <a:xfrm>
              <a:off x="3503" y="1162"/>
              <a:ext cx="0" cy="30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grpSp>
          <p:nvGrpSpPr>
            <p:cNvPr id="4" name="Group 39"/>
            <p:cNvGrpSpPr>
              <a:grpSpLocks/>
            </p:cNvGrpSpPr>
            <p:nvPr/>
          </p:nvGrpSpPr>
          <p:grpSpPr bwMode="auto">
            <a:xfrm>
              <a:off x="2063" y="1210"/>
              <a:ext cx="1407" cy="366"/>
              <a:chOff x="2038" y="1231"/>
              <a:chExt cx="1407" cy="366"/>
            </a:xfrm>
          </p:grpSpPr>
          <p:grpSp>
            <p:nvGrpSpPr>
              <p:cNvPr id="5" name="Group 40"/>
              <p:cNvGrpSpPr>
                <a:grpSpLocks/>
              </p:cNvGrpSpPr>
              <p:nvPr/>
            </p:nvGrpSpPr>
            <p:grpSpPr bwMode="auto">
              <a:xfrm>
                <a:off x="2038" y="1231"/>
                <a:ext cx="1407" cy="366"/>
                <a:chOff x="2022" y="1365"/>
                <a:chExt cx="1407" cy="366"/>
              </a:xfrm>
            </p:grpSpPr>
            <p:grpSp>
              <p:nvGrpSpPr>
                <p:cNvPr id="6" name="Group 41"/>
                <p:cNvGrpSpPr>
                  <a:grpSpLocks/>
                </p:cNvGrpSpPr>
                <p:nvPr/>
              </p:nvGrpSpPr>
              <p:grpSpPr bwMode="auto">
                <a:xfrm>
                  <a:off x="2022" y="1365"/>
                  <a:ext cx="1289" cy="357"/>
                  <a:chOff x="2022" y="1374"/>
                  <a:chExt cx="1289" cy="357"/>
                </a:xfrm>
              </p:grpSpPr>
              <p:sp>
                <p:nvSpPr>
                  <p:cNvPr id="2047018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2111" y="1470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19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2111" y="1518"/>
                    <a:ext cx="144" cy="0"/>
                  </a:xfrm>
                  <a:prstGeom prst="line">
                    <a:avLst/>
                  </a:prstGeom>
                  <a:noFill/>
                  <a:ln w="349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20" name="Freeform 44"/>
                  <p:cNvSpPr>
                    <a:spLocks/>
                  </p:cNvSpPr>
                  <p:nvPr/>
                </p:nvSpPr>
                <p:spPr bwMode="auto">
                  <a:xfrm>
                    <a:off x="2249" y="1518"/>
                    <a:ext cx="54" cy="54"/>
                  </a:xfrm>
                  <a:custGeom>
                    <a:avLst/>
                    <a:gdLst/>
                    <a:ahLst/>
                    <a:cxnLst>
                      <a:cxn ang="0">
                        <a:pos x="8" y="0"/>
                      </a:cxn>
                      <a:cxn ang="0">
                        <a:pos x="8" y="48"/>
                      </a:cxn>
                      <a:cxn ang="0">
                        <a:pos x="56" y="48"/>
                      </a:cxn>
                    </a:cxnLst>
                    <a:rect l="0" t="0" r="r" b="b"/>
                    <a:pathLst>
                      <a:path w="56" h="56">
                        <a:moveTo>
                          <a:pt x="8" y="0"/>
                        </a:moveTo>
                        <a:cubicBezTo>
                          <a:pt x="4" y="20"/>
                          <a:pt x="0" y="40"/>
                          <a:pt x="8" y="48"/>
                        </a:cubicBezTo>
                        <a:cubicBezTo>
                          <a:pt x="16" y="56"/>
                          <a:pt x="48" y="48"/>
                          <a:pt x="56" y="48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21" name="Line 45"/>
                  <p:cNvSpPr>
                    <a:spLocks noChangeShapeType="1"/>
                  </p:cNvSpPr>
                  <p:nvPr/>
                </p:nvSpPr>
                <p:spPr bwMode="auto">
                  <a:xfrm>
                    <a:off x="2303" y="1566"/>
                    <a:ext cx="144" cy="0"/>
                  </a:xfrm>
                  <a:prstGeom prst="line">
                    <a:avLst/>
                  </a:prstGeom>
                  <a:noFill/>
                  <a:ln w="349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22" name="Freeform 46"/>
                  <p:cNvSpPr>
                    <a:spLocks/>
                  </p:cNvSpPr>
                  <p:nvPr/>
                </p:nvSpPr>
                <p:spPr bwMode="auto">
                  <a:xfrm>
                    <a:off x="2447" y="1566"/>
                    <a:ext cx="54" cy="54"/>
                  </a:xfrm>
                  <a:custGeom>
                    <a:avLst/>
                    <a:gdLst/>
                    <a:ahLst/>
                    <a:cxnLst>
                      <a:cxn ang="0">
                        <a:pos x="8" y="0"/>
                      </a:cxn>
                      <a:cxn ang="0">
                        <a:pos x="8" y="48"/>
                      </a:cxn>
                      <a:cxn ang="0">
                        <a:pos x="56" y="48"/>
                      </a:cxn>
                    </a:cxnLst>
                    <a:rect l="0" t="0" r="r" b="b"/>
                    <a:pathLst>
                      <a:path w="56" h="56">
                        <a:moveTo>
                          <a:pt x="8" y="0"/>
                        </a:moveTo>
                        <a:cubicBezTo>
                          <a:pt x="4" y="20"/>
                          <a:pt x="0" y="40"/>
                          <a:pt x="8" y="48"/>
                        </a:cubicBezTo>
                        <a:cubicBezTo>
                          <a:pt x="16" y="56"/>
                          <a:pt x="48" y="48"/>
                          <a:pt x="56" y="48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23" name="Line 47"/>
                  <p:cNvSpPr>
                    <a:spLocks noChangeShapeType="1"/>
                  </p:cNvSpPr>
                  <p:nvPr/>
                </p:nvSpPr>
                <p:spPr bwMode="auto">
                  <a:xfrm>
                    <a:off x="2495" y="1614"/>
                    <a:ext cx="144" cy="0"/>
                  </a:xfrm>
                  <a:prstGeom prst="line">
                    <a:avLst/>
                  </a:prstGeom>
                  <a:noFill/>
                  <a:ln w="349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24" name="Freeform 48"/>
                  <p:cNvSpPr>
                    <a:spLocks/>
                  </p:cNvSpPr>
                  <p:nvPr/>
                </p:nvSpPr>
                <p:spPr bwMode="auto">
                  <a:xfrm>
                    <a:off x="2639" y="1614"/>
                    <a:ext cx="54" cy="54"/>
                  </a:xfrm>
                  <a:custGeom>
                    <a:avLst/>
                    <a:gdLst/>
                    <a:ahLst/>
                    <a:cxnLst>
                      <a:cxn ang="0">
                        <a:pos x="8" y="0"/>
                      </a:cxn>
                      <a:cxn ang="0">
                        <a:pos x="8" y="48"/>
                      </a:cxn>
                      <a:cxn ang="0">
                        <a:pos x="56" y="48"/>
                      </a:cxn>
                    </a:cxnLst>
                    <a:rect l="0" t="0" r="r" b="b"/>
                    <a:pathLst>
                      <a:path w="56" h="56">
                        <a:moveTo>
                          <a:pt x="8" y="0"/>
                        </a:moveTo>
                        <a:cubicBezTo>
                          <a:pt x="4" y="20"/>
                          <a:pt x="0" y="40"/>
                          <a:pt x="8" y="48"/>
                        </a:cubicBezTo>
                        <a:cubicBezTo>
                          <a:pt x="16" y="56"/>
                          <a:pt x="48" y="48"/>
                          <a:pt x="56" y="48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25" name="Line 49"/>
                  <p:cNvSpPr>
                    <a:spLocks noChangeShapeType="1"/>
                  </p:cNvSpPr>
                  <p:nvPr/>
                </p:nvSpPr>
                <p:spPr bwMode="auto">
                  <a:xfrm>
                    <a:off x="2687" y="1662"/>
                    <a:ext cx="288" cy="0"/>
                  </a:xfrm>
                  <a:prstGeom prst="line">
                    <a:avLst/>
                  </a:prstGeom>
                  <a:noFill/>
                  <a:ln w="34925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26" name="Line 50"/>
                  <p:cNvSpPr>
                    <a:spLocks noChangeShapeType="1"/>
                  </p:cNvSpPr>
                  <p:nvPr/>
                </p:nvSpPr>
                <p:spPr bwMode="auto">
                  <a:xfrm>
                    <a:off x="3311" y="1470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27" name="Freeform 51"/>
                  <p:cNvSpPr>
                    <a:spLocks/>
                  </p:cNvSpPr>
                  <p:nvPr/>
                </p:nvSpPr>
                <p:spPr bwMode="auto">
                  <a:xfrm>
                    <a:off x="3167" y="1470"/>
                    <a:ext cx="144" cy="240"/>
                  </a:xfrm>
                  <a:custGeom>
                    <a:avLst/>
                    <a:gdLst/>
                    <a:ahLst/>
                    <a:cxnLst>
                      <a:cxn ang="0">
                        <a:pos x="0" y="240"/>
                      </a:cxn>
                      <a:cxn ang="0">
                        <a:pos x="48" y="192"/>
                      </a:cxn>
                      <a:cxn ang="0">
                        <a:pos x="48" y="144"/>
                      </a:cxn>
                      <a:cxn ang="0">
                        <a:pos x="96" y="96"/>
                      </a:cxn>
                      <a:cxn ang="0">
                        <a:pos x="96" y="48"/>
                      </a:cxn>
                      <a:cxn ang="0">
                        <a:pos x="144" y="0"/>
                      </a:cxn>
                    </a:cxnLst>
                    <a:rect l="0" t="0" r="r" b="b"/>
                    <a:pathLst>
                      <a:path w="144" h="240">
                        <a:moveTo>
                          <a:pt x="0" y="240"/>
                        </a:moveTo>
                        <a:cubicBezTo>
                          <a:pt x="20" y="224"/>
                          <a:pt x="40" y="208"/>
                          <a:pt x="48" y="192"/>
                        </a:cubicBezTo>
                        <a:cubicBezTo>
                          <a:pt x="56" y="176"/>
                          <a:pt x="40" y="160"/>
                          <a:pt x="48" y="144"/>
                        </a:cubicBezTo>
                        <a:cubicBezTo>
                          <a:pt x="56" y="128"/>
                          <a:pt x="88" y="112"/>
                          <a:pt x="96" y="96"/>
                        </a:cubicBezTo>
                        <a:cubicBezTo>
                          <a:pt x="104" y="80"/>
                          <a:pt x="88" y="64"/>
                          <a:pt x="96" y="48"/>
                        </a:cubicBezTo>
                        <a:cubicBezTo>
                          <a:pt x="104" y="32"/>
                          <a:pt x="136" y="8"/>
                          <a:pt x="144" y="0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28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2975" y="1662"/>
                    <a:ext cx="336" cy="0"/>
                  </a:xfrm>
                  <a:prstGeom prst="line">
                    <a:avLst/>
                  </a:prstGeom>
                  <a:noFill/>
                  <a:ln w="1587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29" name="Line 53"/>
                  <p:cNvSpPr>
                    <a:spLocks noChangeShapeType="1"/>
                  </p:cNvSpPr>
                  <p:nvPr/>
                </p:nvSpPr>
                <p:spPr bwMode="auto">
                  <a:xfrm>
                    <a:off x="2111" y="1662"/>
                    <a:ext cx="336" cy="0"/>
                  </a:xfrm>
                  <a:prstGeom prst="line">
                    <a:avLst/>
                  </a:prstGeom>
                  <a:noFill/>
                  <a:ln w="15875">
                    <a:solidFill>
                      <a:srgbClr val="000000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30" name="WordArt 54"/>
                  <p:cNvSpPr>
                    <a:spLocks noChangeArrowheads="1" noChangeShapeType="1" noTextEdit="1"/>
                  </p:cNvSpPr>
                  <p:nvPr/>
                </p:nvSpPr>
                <p:spPr bwMode="auto">
                  <a:xfrm rot="10800000" flipV="1">
                    <a:off x="3119" y="1374"/>
                    <a:ext cx="144" cy="96"/>
                  </a:xfrm>
                  <a:prstGeom prst="rect">
                    <a:avLst/>
                  </a:prstGeom>
                </p:spPr>
                <p:txBody>
                  <a:bodyPr wrap="none" fromWordArt="1">
                    <a:prstTxWarp prst="textPlain">
                      <a:avLst>
                        <a:gd name="adj" fmla="val 50000"/>
                      </a:avLst>
                    </a:prstTxWarp>
                  </a:bodyPr>
                  <a:lstStyle/>
                  <a:p>
                    <a:pPr algn="ctr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3600" b="1" kern="10" smtClean="0">
                        <a:ln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solidFill>
                          <a:srgbClr val="000000"/>
                        </a:solidFill>
                        <a:latin typeface="Arial Black"/>
                      </a:rPr>
                      <a:t>T.T</a:t>
                    </a:r>
                    <a:endParaRPr lang="th-TH" sz="3600" b="1" kern="10" smtClean="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rgbClr val="000000"/>
                      </a:solidFill>
                      <a:latin typeface="Arial Black"/>
                    </a:endParaRPr>
                  </a:p>
                </p:txBody>
              </p:sp>
              <p:sp>
                <p:nvSpPr>
                  <p:cNvPr id="2047031" name="Freeform 55"/>
                  <p:cNvSpPr>
                    <a:spLocks/>
                  </p:cNvSpPr>
                  <p:nvPr/>
                </p:nvSpPr>
                <p:spPr bwMode="auto">
                  <a:xfrm>
                    <a:off x="2975" y="1662"/>
                    <a:ext cx="54" cy="54"/>
                  </a:xfrm>
                  <a:custGeom>
                    <a:avLst/>
                    <a:gdLst/>
                    <a:ahLst/>
                    <a:cxnLst>
                      <a:cxn ang="0">
                        <a:pos x="8" y="0"/>
                      </a:cxn>
                      <a:cxn ang="0">
                        <a:pos x="8" y="48"/>
                      </a:cxn>
                      <a:cxn ang="0">
                        <a:pos x="56" y="48"/>
                      </a:cxn>
                    </a:cxnLst>
                    <a:rect l="0" t="0" r="r" b="b"/>
                    <a:pathLst>
                      <a:path w="56" h="56">
                        <a:moveTo>
                          <a:pt x="8" y="0"/>
                        </a:moveTo>
                        <a:cubicBezTo>
                          <a:pt x="4" y="20"/>
                          <a:pt x="0" y="40"/>
                          <a:pt x="8" y="48"/>
                        </a:cubicBezTo>
                        <a:cubicBezTo>
                          <a:pt x="16" y="56"/>
                          <a:pt x="48" y="48"/>
                          <a:pt x="56" y="48"/>
                        </a:cubicBezTo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ffectLst/>
                </p:spPr>
                <p:txBody>
                  <a:bodyPr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  <p:sp>
                <p:nvSpPr>
                  <p:cNvPr id="2047032" name="Oval 56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1595"/>
                    <a:ext cx="499" cy="136"/>
                  </a:xfrm>
                  <a:prstGeom prst="ellipse">
                    <a:avLst/>
                  </a:prstGeom>
                  <a:noFill/>
                  <a:ln w="9525">
                    <a:solidFill>
                      <a:srgbClr val="FF0000"/>
                    </a:solidFill>
                    <a:prstDash val="sysDot"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th-TH" b="1" smtClean="0">
                      <a:solidFill>
                        <a:srgbClr val="000000"/>
                      </a:solidFill>
                    </a:endParaRPr>
                  </a:p>
                </p:txBody>
              </p:sp>
            </p:grpSp>
            <p:sp>
              <p:nvSpPr>
                <p:cNvPr id="2047033" name="Oval 57"/>
                <p:cNvSpPr>
                  <a:spLocks noChangeArrowheads="1"/>
                </p:cNvSpPr>
                <p:nvPr/>
              </p:nvSpPr>
              <p:spPr bwMode="auto">
                <a:xfrm>
                  <a:off x="2930" y="1595"/>
                  <a:ext cx="499" cy="136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</p:grpSp>
          <p:sp>
            <p:nvSpPr>
              <p:cNvPr id="2047034" name="Line 58"/>
              <p:cNvSpPr>
                <a:spLocks noChangeShapeType="1"/>
              </p:cNvSpPr>
              <p:nvPr/>
            </p:nvSpPr>
            <p:spPr bwMode="auto">
              <a:xfrm>
                <a:off x="3063" y="1578"/>
                <a:ext cx="96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47035" name="Text Box 59"/>
            <p:cNvSpPr txBox="1">
              <a:spLocks noChangeArrowheads="1"/>
            </p:cNvSpPr>
            <p:nvPr/>
          </p:nvSpPr>
          <p:spPr bwMode="auto">
            <a:xfrm>
              <a:off x="367" y="1174"/>
              <a:ext cx="1588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1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. เวลาการทำงานของเครื่องจักรวกกลับ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กรณีที่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 C.T. </a:t>
              </a:r>
              <a:r>
                <a:rPr lang="en-US" sz="2000" b="1" u="sng" smtClean="0">
                  <a:solidFill>
                    <a:srgbClr val="000000"/>
                  </a:solidFill>
                  <a:latin typeface="Angsana New" pitchFamily="18" charset="-34"/>
                </a:rPr>
                <a:t>&lt;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 T.T.</a:t>
              </a:r>
              <a:endParaRPr lang="th-TH" sz="2000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7036" name="Text Box 60"/>
            <p:cNvSpPr txBox="1">
              <a:spLocks noChangeArrowheads="1"/>
            </p:cNvSpPr>
            <p:nvPr/>
          </p:nvSpPr>
          <p:spPr bwMode="auto">
            <a:xfrm>
              <a:off x="374" y="1759"/>
              <a:ext cx="1588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2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. เวลาการทำงานของเครื่องจักรวกกลับ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กรณีที่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 C.T. &gt; T.T.</a:t>
              </a:r>
              <a:endParaRPr lang="th-TH" sz="2000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7037" name="Rectangle 61"/>
            <p:cNvSpPr>
              <a:spLocks noChangeArrowheads="1"/>
            </p:cNvSpPr>
            <p:nvPr/>
          </p:nvSpPr>
          <p:spPr bwMode="auto">
            <a:xfrm>
              <a:off x="3475" y="1782"/>
              <a:ext cx="205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เวลาของเครื่องจักรจะวกกลับจากเส้น 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C.T.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ไปเริ่มที่ 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0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ใหม่ จนครบรอบเวลา</a:t>
              </a:r>
            </a:p>
          </p:txBody>
        </p:sp>
        <p:sp>
          <p:nvSpPr>
            <p:cNvPr id="2047038" name="Rectangle 62"/>
            <p:cNvSpPr>
              <a:spLocks noChangeArrowheads="1"/>
            </p:cNvSpPr>
            <p:nvPr/>
          </p:nvSpPr>
          <p:spPr bwMode="auto">
            <a:xfrm>
              <a:off x="3489" y="2938"/>
              <a:ext cx="1950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ใช้ลูกศร           แสดงเน้นในช่วงระยะเวลาที่เกิดการรอ พร้อมกับเวลาที่รอ</a:t>
              </a:r>
            </a:p>
          </p:txBody>
        </p:sp>
        <p:sp>
          <p:nvSpPr>
            <p:cNvPr id="2047039" name="AutoShape 63"/>
            <p:cNvSpPr>
              <a:spLocks noChangeArrowheads="1"/>
            </p:cNvSpPr>
            <p:nvPr/>
          </p:nvSpPr>
          <p:spPr bwMode="auto">
            <a:xfrm>
              <a:off x="3913" y="2953"/>
              <a:ext cx="240" cy="96"/>
            </a:xfrm>
            <a:prstGeom prst="leftRightArrow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grpSp>
          <p:nvGrpSpPr>
            <p:cNvPr id="7" name="Group 64"/>
            <p:cNvGrpSpPr>
              <a:grpSpLocks/>
            </p:cNvGrpSpPr>
            <p:nvPr/>
          </p:nvGrpSpPr>
          <p:grpSpPr bwMode="auto">
            <a:xfrm>
              <a:off x="2111" y="3077"/>
              <a:ext cx="1200" cy="294"/>
              <a:chOff x="2111" y="2758"/>
              <a:chExt cx="1200" cy="294"/>
            </a:xfrm>
          </p:grpSpPr>
          <p:sp>
            <p:nvSpPr>
              <p:cNvPr id="2047041" name="Line 65"/>
              <p:cNvSpPr>
                <a:spLocks noChangeShapeType="1"/>
              </p:cNvSpPr>
              <p:nvPr/>
            </p:nvSpPr>
            <p:spPr bwMode="auto">
              <a:xfrm>
                <a:off x="2111" y="2806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42" name="Line 66"/>
              <p:cNvSpPr>
                <a:spLocks noChangeShapeType="1"/>
              </p:cNvSpPr>
              <p:nvPr/>
            </p:nvSpPr>
            <p:spPr bwMode="auto">
              <a:xfrm>
                <a:off x="2111" y="2854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43" name="Freeform 67"/>
              <p:cNvSpPr>
                <a:spLocks/>
              </p:cNvSpPr>
              <p:nvPr/>
            </p:nvSpPr>
            <p:spPr bwMode="auto">
              <a:xfrm>
                <a:off x="2249" y="2854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44" name="Line 68"/>
              <p:cNvSpPr>
                <a:spLocks noChangeShapeType="1"/>
              </p:cNvSpPr>
              <p:nvPr/>
            </p:nvSpPr>
            <p:spPr bwMode="auto">
              <a:xfrm>
                <a:off x="2303" y="2902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45" name="Freeform 69"/>
              <p:cNvSpPr>
                <a:spLocks/>
              </p:cNvSpPr>
              <p:nvPr/>
            </p:nvSpPr>
            <p:spPr bwMode="auto">
              <a:xfrm>
                <a:off x="2447" y="2902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46" name="Line 70"/>
              <p:cNvSpPr>
                <a:spLocks noChangeShapeType="1"/>
              </p:cNvSpPr>
              <p:nvPr/>
            </p:nvSpPr>
            <p:spPr bwMode="auto">
              <a:xfrm>
                <a:off x="2495" y="2950"/>
                <a:ext cx="48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47" name="Line 71"/>
              <p:cNvSpPr>
                <a:spLocks noChangeShapeType="1"/>
              </p:cNvSpPr>
              <p:nvPr/>
            </p:nvSpPr>
            <p:spPr bwMode="auto">
              <a:xfrm>
                <a:off x="3023" y="3046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48" name="Line 72"/>
              <p:cNvSpPr>
                <a:spLocks noChangeShapeType="1"/>
              </p:cNvSpPr>
              <p:nvPr/>
            </p:nvSpPr>
            <p:spPr bwMode="auto">
              <a:xfrm>
                <a:off x="3311" y="2806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49" name="Freeform 73"/>
              <p:cNvSpPr>
                <a:spLocks/>
              </p:cNvSpPr>
              <p:nvPr/>
            </p:nvSpPr>
            <p:spPr bwMode="auto">
              <a:xfrm>
                <a:off x="3167" y="2806"/>
                <a:ext cx="144" cy="240"/>
              </a:xfrm>
              <a:custGeom>
                <a:avLst/>
                <a:gdLst/>
                <a:ahLst/>
                <a:cxnLst>
                  <a:cxn ang="0">
                    <a:pos x="0" y="240"/>
                  </a:cxn>
                  <a:cxn ang="0">
                    <a:pos x="48" y="192"/>
                  </a:cxn>
                  <a:cxn ang="0">
                    <a:pos x="48" y="144"/>
                  </a:cxn>
                  <a:cxn ang="0">
                    <a:pos x="96" y="96"/>
                  </a:cxn>
                  <a:cxn ang="0">
                    <a:pos x="96" y="48"/>
                  </a:cxn>
                  <a:cxn ang="0">
                    <a:pos x="144" y="0"/>
                  </a:cxn>
                </a:cxnLst>
                <a:rect l="0" t="0" r="r" b="b"/>
                <a:pathLst>
                  <a:path w="144" h="240">
                    <a:moveTo>
                      <a:pt x="0" y="240"/>
                    </a:moveTo>
                    <a:cubicBezTo>
                      <a:pt x="20" y="224"/>
                      <a:pt x="40" y="208"/>
                      <a:pt x="48" y="192"/>
                    </a:cubicBezTo>
                    <a:cubicBezTo>
                      <a:pt x="56" y="176"/>
                      <a:pt x="40" y="160"/>
                      <a:pt x="48" y="144"/>
                    </a:cubicBezTo>
                    <a:cubicBezTo>
                      <a:pt x="56" y="128"/>
                      <a:pt x="88" y="112"/>
                      <a:pt x="96" y="96"/>
                    </a:cubicBezTo>
                    <a:cubicBezTo>
                      <a:pt x="104" y="80"/>
                      <a:pt x="88" y="64"/>
                      <a:pt x="96" y="48"/>
                    </a:cubicBezTo>
                    <a:cubicBezTo>
                      <a:pt x="104" y="32"/>
                      <a:pt x="136" y="8"/>
                      <a:pt x="144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50" name="Line 74"/>
              <p:cNvSpPr>
                <a:spLocks noChangeShapeType="1"/>
              </p:cNvSpPr>
              <p:nvPr/>
            </p:nvSpPr>
            <p:spPr bwMode="auto">
              <a:xfrm>
                <a:off x="2975" y="2998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51" name="Line 75"/>
              <p:cNvSpPr>
                <a:spLocks noChangeShapeType="1"/>
              </p:cNvSpPr>
              <p:nvPr/>
            </p:nvSpPr>
            <p:spPr bwMode="auto">
              <a:xfrm>
                <a:off x="2111" y="2998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52" name="Freeform 76"/>
              <p:cNvSpPr>
                <a:spLocks/>
              </p:cNvSpPr>
              <p:nvPr/>
            </p:nvSpPr>
            <p:spPr bwMode="auto">
              <a:xfrm>
                <a:off x="2975" y="2998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53" name="AutoShape 77"/>
              <p:cNvSpPr>
                <a:spLocks noChangeArrowheads="1"/>
              </p:cNvSpPr>
              <p:nvPr/>
            </p:nvSpPr>
            <p:spPr bwMode="auto">
              <a:xfrm>
                <a:off x="2543" y="2854"/>
                <a:ext cx="288" cy="144"/>
              </a:xfrm>
              <a:prstGeom prst="leftRightArrow">
                <a:avLst>
                  <a:gd name="adj1" fmla="val 50000"/>
                  <a:gd name="adj2" fmla="val 4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54" name="Line 78"/>
              <p:cNvSpPr>
                <a:spLocks noChangeShapeType="1"/>
              </p:cNvSpPr>
              <p:nvPr/>
            </p:nvSpPr>
            <p:spPr bwMode="auto">
              <a:xfrm>
                <a:off x="2831" y="2950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55" name="WordArt 79"/>
              <p:cNvSpPr>
                <a:spLocks noChangeArrowheads="1" noChangeShapeType="1" noTextEdit="1"/>
              </p:cNvSpPr>
              <p:nvPr/>
            </p:nvSpPr>
            <p:spPr bwMode="auto">
              <a:xfrm rot="10800000" flipV="1">
                <a:off x="3119" y="2758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T.T</a:t>
                </a:r>
                <a:endParaRPr lang="th-TH" sz="3600" b="1" kern="10" smtClean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/>
                </a:endParaRPr>
              </a:p>
            </p:txBody>
          </p:sp>
          <p:sp>
            <p:nvSpPr>
              <p:cNvPr id="2047056" name="Oval 80"/>
              <p:cNvSpPr>
                <a:spLocks noChangeArrowheads="1"/>
              </p:cNvSpPr>
              <p:nvPr/>
            </p:nvSpPr>
            <p:spPr bwMode="auto">
              <a:xfrm>
                <a:off x="2483" y="2828"/>
                <a:ext cx="408" cy="182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57" name="WordArt 81"/>
              <p:cNvSpPr>
                <a:spLocks noChangeArrowheads="1" noChangeShapeType="1" noTextEdit="1"/>
              </p:cNvSpPr>
              <p:nvPr/>
            </p:nvSpPr>
            <p:spPr bwMode="auto">
              <a:xfrm>
                <a:off x="2575" y="2902"/>
                <a:ext cx="200" cy="45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48032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5 sec</a:t>
                </a:r>
                <a:endParaRPr lang="th-TH" sz="3600" b="1" kern="10" smtClean="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latin typeface="Times New Roman"/>
                </a:endParaRPr>
              </a:p>
            </p:txBody>
          </p:sp>
        </p:grpSp>
        <p:grpSp>
          <p:nvGrpSpPr>
            <p:cNvPr id="8" name="Group 82"/>
            <p:cNvGrpSpPr>
              <a:grpSpLocks/>
            </p:cNvGrpSpPr>
            <p:nvPr/>
          </p:nvGrpSpPr>
          <p:grpSpPr bwMode="auto">
            <a:xfrm>
              <a:off x="2022" y="1842"/>
              <a:ext cx="1407" cy="364"/>
              <a:chOff x="2022" y="1806"/>
              <a:chExt cx="1407" cy="364"/>
            </a:xfrm>
          </p:grpSpPr>
          <p:sp>
            <p:nvSpPr>
              <p:cNvPr id="2047059" name="Line 83"/>
              <p:cNvSpPr>
                <a:spLocks noChangeShapeType="1"/>
              </p:cNvSpPr>
              <p:nvPr/>
            </p:nvSpPr>
            <p:spPr bwMode="auto">
              <a:xfrm>
                <a:off x="2111" y="1902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60" name="Line 84"/>
              <p:cNvSpPr>
                <a:spLocks noChangeShapeType="1"/>
              </p:cNvSpPr>
              <p:nvPr/>
            </p:nvSpPr>
            <p:spPr bwMode="auto">
              <a:xfrm>
                <a:off x="2111" y="1950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61" name="Freeform 85"/>
              <p:cNvSpPr>
                <a:spLocks/>
              </p:cNvSpPr>
              <p:nvPr/>
            </p:nvSpPr>
            <p:spPr bwMode="auto">
              <a:xfrm>
                <a:off x="2249" y="1950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62" name="Line 86"/>
              <p:cNvSpPr>
                <a:spLocks noChangeShapeType="1"/>
              </p:cNvSpPr>
              <p:nvPr/>
            </p:nvSpPr>
            <p:spPr bwMode="auto">
              <a:xfrm>
                <a:off x="2303" y="1998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63" name="Freeform 87"/>
              <p:cNvSpPr>
                <a:spLocks/>
              </p:cNvSpPr>
              <p:nvPr/>
            </p:nvSpPr>
            <p:spPr bwMode="auto">
              <a:xfrm>
                <a:off x="2447" y="1998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64" name="Line 88"/>
              <p:cNvSpPr>
                <a:spLocks noChangeShapeType="1"/>
              </p:cNvSpPr>
              <p:nvPr/>
            </p:nvSpPr>
            <p:spPr bwMode="auto">
              <a:xfrm>
                <a:off x="2495" y="2046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65" name="Freeform 89"/>
              <p:cNvSpPr>
                <a:spLocks/>
              </p:cNvSpPr>
              <p:nvPr/>
            </p:nvSpPr>
            <p:spPr bwMode="auto">
              <a:xfrm>
                <a:off x="2639" y="2046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66" name="Line 90"/>
              <p:cNvSpPr>
                <a:spLocks noChangeShapeType="1"/>
              </p:cNvSpPr>
              <p:nvPr/>
            </p:nvSpPr>
            <p:spPr bwMode="auto">
              <a:xfrm>
                <a:off x="2687" y="2094"/>
                <a:ext cx="288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67" name="Line 91"/>
              <p:cNvSpPr>
                <a:spLocks noChangeShapeType="1"/>
              </p:cNvSpPr>
              <p:nvPr/>
            </p:nvSpPr>
            <p:spPr bwMode="auto">
              <a:xfrm>
                <a:off x="3215" y="1902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68" name="Freeform 92"/>
              <p:cNvSpPr>
                <a:spLocks/>
              </p:cNvSpPr>
              <p:nvPr/>
            </p:nvSpPr>
            <p:spPr bwMode="auto">
              <a:xfrm>
                <a:off x="3167" y="1902"/>
                <a:ext cx="144" cy="240"/>
              </a:xfrm>
              <a:custGeom>
                <a:avLst/>
                <a:gdLst/>
                <a:ahLst/>
                <a:cxnLst>
                  <a:cxn ang="0">
                    <a:pos x="0" y="240"/>
                  </a:cxn>
                  <a:cxn ang="0">
                    <a:pos x="48" y="192"/>
                  </a:cxn>
                  <a:cxn ang="0">
                    <a:pos x="48" y="144"/>
                  </a:cxn>
                  <a:cxn ang="0">
                    <a:pos x="96" y="96"/>
                  </a:cxn>
                  <a:cxn ang="0">
                    <a:pos x="96" y="48"/>
                  </a:cxn>
                  <a:cxn ang="0">
                    <a:pos x="144" y="0"/>
                  </a:cxn>
                </a:cxnLst>
                <a:rect l="0" t="0" r="r" b="b"/>
                <a:pathLst>
                  <a:path w="144" h="240">
                    <a:moveTo>
                      <a:pt x="0" y="240"/>
                    </a:moveTo>
                    <a:cubicBezTo>
                      <a:pt x="20" y="224"/>
                      <a:pt x="40" y="208"/>
                      <a:pt x="48" y="192"/>
                    </a:cubicBezTo>
                    <a:cubicBezTo>
                      <a:pt x="56" y="176"/>
                      <a:pt x="40" y="160"/>
                      <a:pt x="48" y="144"/>
                    </a:cubicBezTo>
                    <a:cubicBezTo>
                      <a:pt x="56" y="128"/>
                      <a:pt x="88" y="112"/>
                      <a:pt x="96" y="96"/>
                    </a:cubicBezTo>
                    <a:cubicBezTo>
                      <a:pt x="104" y="80"/>
                      <a:pt x="88" y="64"/>
                      <a:pt x="96" y="48"/>
                    </a:cubicBezTo>
                    <a:cubicBezTo>
                      <a:pt x="104" y="32"/>
                      <a:pt x="136" y="8"/>
                      <a:pt x="144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69" name="Line 93"/>
              <p:cNvSpPr>
                <a:spLocks noChangeShapeType="1"/>
              </p:cNvSpPr>
              <p:nvPr/>
            </p:nvSpPr>
            <p:spPr bwMode="auto">
              <a:xfrm>
                <a:off x="2975" y="2094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70" name="Line 94"/>
              <p:cNvSpPr>
                <a:spLocks noChangeShapeType="1"/>
              </p:cNvSpPr>
              <p:nvPr/>
            </p:nvSpPr>
            <p:spPr bwMode="auto">
              <a:xfrm>
                <a:off x="2111" y="2094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71" name="Line 95"/>
              <p:cNvSpPr>
                <a:spLocks noChangeShapeType="1"/>
              </p:cNvSpPr>
              <p:nvPr/>
            </p:nvSpPr>
            <p:spPr bwMode="auto">
              <a:xfrm>
                <a:off x="3311" y="1902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72" name="WordArt 96"/>
              <p:cNvSpPr>
                <a:spLocks noChangeArrowheads="1" noChangeShapeType="1" noTextEdit="1"/>
              </p:cNvSpPr>
              <p:nvPr/>
            </p:nvSpPr>
            <p:spPr bwMode="auto">
              <a:xfrm rot="10800000" flipV="1">
                <a:off x="3023" y="1806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T.T</a:t>
                </a:r>
                <a:endParaRPr lang="th-TH" sz="3600" b="1" kern="10" smtClean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/>
                </a:endParaRPr>
              </a:p>
            </p:txBody>
          </p:sp>
          <p:sp>
            <p:nvSpPr>
              <p:cNvPr id="2047073" name="WordArt 97"/>
              <p:cNvSpPr>
                <a:spLocks noChangeArrowheads="1" noChangeShapeType="1" noTextEdit="1"/>
              </p:cNvSpPr>
              <p:nvPr/>
            </p:nvSpPr>
            <p:spPr bwMode="auto">
              <a:xfrm>
                <a:off x="3263" y="1806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C.T</a:t>
                </a:r>
                <a:endParaRPr lang="th-TH" sz="3600" b="1" kern="10" smtClean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/>
                </a:endParaRPr>
              </a:p>
            </p:txBody>
          </p:sp>
          <p:sp>
            <p:nvSpPr>
              <p:cNvPr id="2047074" name="Freeform 98"/>
              <p:cNvSpPr>
                <a:spLocks/>
              </p:cNvSpPr>
              <p:nvPr/>
            </p:nvSpPr>
            <p:spPr bwMode="auto">
              <a:xfrm>
                <a:off x="2975" y="2094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75" name="Oval 99"/>
              <p:cNvSpPr>
                <a:spLocks noChangeArrowheads="1"/>
              </p:cNvSpPr>
              <p:nvPr/>
            </p:nvSpPr>
            <p:spPr bwMode="auto">
              <a:xfrm>
                <a:off x="2022" y="2027"/>
                <a:ext cx="499" cy="13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76" name="Oval 100"/>
              <p:cNvSpPr>
                <a:spLocks noChangeArrowheads="1"/>
              </p:cNvSpPr>
              <p:nvPr/>
            </p:nvSpPr>
            <p:spPr bwMode="auto">
              <a:xfrm>
                <a:off x="2930" y="2034"/>
                <a:ext cx="499" cy="13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77" name="Line 101"/>
              <p:cNvSpPr>
                <a:spLocks noChangeShapeType="1"/>
              </p:cNvSpPr>
              <p:nvPr/>
            </p:nvSpPr>
            <p:spPr bwMode="auto">
              <a:xfrm>
                <a:off x="3023" y="2160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" name="Group 102"/>
            <p:cNvGrpSpPr>
              <a:grpSpLocks/>
            </p:cNvGrpSpPr>
            <p:nvPr/>
          </p:nvGrpSpPr>
          <p:grpSpPr bwMode="auto">
            <a:xfrm>
              <a:off x="2111" y="2392"/>
              <a:ext cx="1318" cy="358"/>
              <a:chOff x="2111" y="2256"/>
              <a:chExt cx="1318" cy="358"/>
            </a:xfrm>
          </p:grpSpPr>
          <p:sp>
            <p:nvSpPr>
              <p:cNvPr id="2047079" name="Line 103"/>
              <p:cNvSpPr>
                <a:spLocks noChangeShapeType="1"/>
              </p:cNvSpPr>
              <p:nvPr/>
            </p:nvSpPr>
            <p:spPr bwMode="auto">
              <a:xfrm>
                <a:off x="2687" y="2614"/>
                <a:ext cx="288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80" name="Line 104"/>
              <p:cNvSpPr>
                <a:spLocks noChangeShapeType="1"/>
              </p:cNvSpPr>
              <p:nvPr/>
            </p:nvSpPr>
            <p:spPr bwMode="auto">
              <a:xfrm>
                <a:off x="2975" y="2614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7081" name="Line 105"/>
              <p:cNvSpPr>
                <a:spLocks noChangeShapeType="1"/>
              </p:cNvSpPr>
              <p:nvPr/>
            </p:nvSpPr>
            <p:spPr bwMode="auto">
              <a:xfrm>
                <a:off x="2111" y="2614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grpSp>
            <p:nvGrpSpPr>
              <p:cNvPr id="10" name="Group 106"/>
              <p:cNvGrpSpPr>
                <a:grpSpLocks/>
              </p:cNvGrpSpPr>
              <p:nvPr/>
            </p:nvGrpSpPr>
            <p:grpSpPr bwMode="auto">
              <a:xfrm>
                <a:off x="2111" y="2256"/>
                <a:ext cx="1318" cy="342"/>
                <a:chOff x="2111" y="2256"/>
                <a:chExt cx="1318" cy="342"/>
              </a:xfrm>
            </p:grpSpPr>
            <p:sp>
              <p:nvSpPr>
                <p:cNvPr id="2047083" name="Line 107"/>
                <p:cNvSpPr>
                  <a:spLocks noChangeShapeType="1"/>
                </p:cNvSpPr>
                <p:nvPr/>
              </p:nvSpPr>
              <p:spPr bwMode="auto">
                <a:xfrm>
                  <a:off x="2111" y="240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84" name="Line 108"/>
                <p:cNvSpPr>
                  <a:spLocks noChangeShapeType="1"/>
                </p:cNvSpPr>
                <p:nvPr/>
              </p:nvSpPr>
              <p:spPr bwMode="auto">
                <a:xfrm>
                  <a:off x="2111" y="2448"/>
                  <a:ext cx="144" cy="0"/>
                </a:xfrm>
                <a:prstGeom prst="line">
                  <a:avLst/>
                </a:prstGeom>
                <a:noFill/>
                <a:ln w="349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85" name="Freeform 109"/>
                <p:cNvSpPr>
                  <a:spLocks/>
                </p:cNvSpPr>
                <p:nvPr/>
              </p:nvSpPr>
              <p:spPr bwMode="auto">
                <a:xfrm>
                  <a:off x="2249" y="2448"/>
                  <a:ext cx="54" cy="5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8" y="48"/>
                    </a:cxn>
                    <a:cxn ang="0">
                      <a:pos x="56" y="48"/>
                    </a:cxn>
                  </a:cxnLst>
                  <a:rect l="0" t="0" r="r" b="b"/>
                  <a:pathLst>
                    <a:path w="56" h="56">
                      <a:moveTo>
                        <a:pt x="8" y="0"/>
                      </a:moveTo>
                      <a:cubicBezTo>
                        <a:pt x="4" y="20"/>
                        <a:pt x="0" y="40"/>
                        <a:pt x="8" y="48"/>
                      </a:cubicBezTo>
                      <a:cubicBezTo>
                        <a:pt x="16" y="56"/>
                        <a:pt x="48" y="48"/>
                        <a:pt x="56" y="48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86" name="Line 110"/>
                <p:cNvSpPr>
                  <a:spLocks noChangeShapeType="1"/>
                </p:cNvSpPr>
                <p:nvPr/>
              </p:nvSpPr>
              <p:spPr bwMode="auto">
                <a:xfrm>
                  <a:off x="2303" y="2496"/>
                  <a:ext cx="144" cy="0"/>
                </a:xfrm>
                <a:prstGeom prst="line">
                  <a:avLst/>
                </a:prstGeom>
                <a:noFill/>
                <a:ln w="349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87" name="Freeform 111"/>
                <p:cNvSpPr>
                  <a:spLocks/>
                </p:cNvSpPr>
                <p:nvPr/>
              </p:nvSpPr>
              <p:spPr bwMode="auto">
                <a:xfrm>
                  <a:off x="2447" y="2496"/>
                  <a:ext cx="54" cy="5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8" y="48"/>
                    </a:cxn>
                    <a:cxn ang="0">
                      <a:pos x="56" y="48"/>
                    </a:cxn>
                  </a:cxnLst>
                  <a:rect l="0" t="0" r="r" b="b"/>
                  <a:pathLst>
                    <a:path w="56" h="56">
                      <a:moveTo>
                        <a:pt x="8" y="0"/>
                      </a:moveTo>
                      <a:cubicBezTo>
                        <a:pt x="4" y="20"/>
                        <a:pt x="0" y="40"/>
                        <a:pt x="8" y="48"/>
                      </a:cubicBezTo>
                      <a:cubicBezTo>
                        <a:pt x="16" y="56"/>
                        <a:pt x="48" y="48"/>
                        <a:pt x="56" y="48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88" name="Line 112"/>
                <p:cNvSpPr>
                  <a:spLocks noChangeShapeType="1"/>
                </p:cNvSpPr>
                <p:nvPr/>
              </p:nvSpPr>
              <p:spPr bwMode="auto">
                <a:xfrm>
                  <a:off x="2495" y="2544"/>
                  <a:ext cx="144" cy="0"/>
                </a:xfrm>
                <a:prstGeom prst="line">
                  <a:avLst/>
                </a:prstGeom>
                <a:noFill/>
                <a:ln w="3492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89" name="Freeform 113"/>
                <p:cNvSpPr>
                  <a:spLocks/>
                </p:cNvSpPr>
                <p:nvPr/>
              </p:nvSpPr>
              <p:spPr bwMode="auto">
                <a:xfrm>
                  <a:off x="2639" y="2544"/>
                  <a:ext cx="54" cy="54"/>
                </a:xfrm>
                <a:custGeom>
                  <a:avLst/>
                  <a:gdLst/>
                  <a:ahLst/>
                  <a:cxnLst>
                    <a:cxn ang="0">
                      <a:pos x="8" y="0"/>
                    </a:cxn>
                    <a:cxn ang="0">
                      <a:pos x="8" y="48"/>
                    </a:cxn>
                    <a:cxn ang="0">
                      <a:pos x="56" y="48"/>
                    </a:cxn>
                  </a:cxnLst>
                  <a:rect l="0" t="0" r="r" b="b"/>
                  <a:pathLst>
                    <a:path w="56" h="56">
                      <a:moveTo>
                        <a:pt x="8" y="0"/>
                      </a:moveTo>
                      <a:cubicBezTo>
                        <a:pt x="4" y="20"/>
                        <a:pt x="0" y="40"/>
                        <a:pt x="8" y="48"/>
                      </a:cubicBezTo>
                      <a:cubicBezTo>
                        <a:pt x="16" y="56"/>
                        <a:pt x="48" y="48"/>
                        <a:pt x="56" y="48"/>
                      </a:cubicBezTo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90" name="Line 114"/>
                <p:cNvSpPr>
                  <a:spLocks noChangeShapeType="1"/>
                </p:cNvSpPr>
                <p:nvPr/>
              </p:nvSpPr>
              <p:spPr bwMode="auto">
                <a:xfrm>
                  <a:off x="3311" y="2400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91" name="WordArt 115"/>
                <p:cNvSpPr>
                  <a:spLocks noChangeArrowheads="1" noChangeShapeType="1" noTextEdit="1"/>
                </p:cNvSpPr>
                <p:nvPr/>
              </p:nvSpPr>
              <p:spPr bwMode="auto">
                <a:xfrm rot="10800000" flipV="1">
                  <a:off x="3167" y="2256"/>
                  <a:ext cx="144" cy="96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50000"/>
                    </a:avLst>
                  </a:prstTxWarp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3600" b="1" kern="10" smtClean="0">
                      <a:ln w="9525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solidFill>
                        <a:srgbClr val="000000"/>
                      </a:solidFill>
                      <a:latin typeface="Arial Black"/>
                    </a:rPr>
                    <a:t>T.T</a:t>
                  </a:r>
                  <a:endParaRPr lang="th-TH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endParaRPr>
                </a:p>
              </p:txBody>
            </p:sp>
            <p:sp>
              <p:nvSpPr>
                <p:cNvPr id="2047092" name="Freeform 116"/>
                <p:cNvSpPr>
                  <a:spLocks/>
                </p:cNvSpPr>
                <p:nvPr/>
              </p:nvSpPr>
              <p:spPr bwMode="auto">
                <a:xfrm>
                  <a:off x="2967" y="2413"/>
                  <a:ext cx="55" cy="166"/>
                </a:xfrm>
                <a:custGeom>
                  <a:avLst/>
                  <a:gdLst/>
                  <a:ahLst/>
                  <a:cxnLst>
                    <a:cxn ang="0">
                      <a:pos x="0" y="166"/>
                    </a:cxn>
                    <a:cxn ang="0">
                      <a:pos x="41" y="158"/>
                    </a:cxn>
                    <a:cxn ang="0">
                      <a:pos x="50" y="133"/>
                    </a:cxn>
                    <a:cxn ang="0">
                      <a:pos x="0" y="100"/>
                    </a:cxn>
                    <a:cxn ang="0">
                      <a:pos x="25" y="83"/>
                    </a:cxn>
                    <a:cxn ang="0">
                      <a:pos x="16" y="58"/>
                    </a:cxn>
                    <a:cxn ang="0">
                      <a:pos x="33" y="0"/>
                    </a:cxn>
                  </a:cxnLst>
                  <a:rect l="0" t="0" r="r" b="b"/>
                  <a:pathLst>
                    <a:path w="55" h="166">
                      <a:moveTo>
                        <a:pt x="0" y="166"/>
                      </a:moveTo>
                      <a:cubicBezTo>
                        <a:pt x="14" y="163"/>
                        <a:pt x="29" y="166"/>
                        <a:pt x="41" y="158"/>
                      </a:cubicBezTo>
                      <a:cubicBezTo>
                        <a:pt x="48" y="153"/>
                        <a:pt x="55" y="140"/>
                        <a:pt x="50" y="133"/>
                      </a:cubicBezTo>
                      <a:cubicBezTo>
                        <a:pt x="38" y="117"/>
                        <a:pt x="0" y="100"/>
                        <a:pt x="0" y="100"/>
                      </a:cubicBezTo>
                      <a:cubicBezTo>
                        <a:pt x="8" y="94"/>
                        <a:pt x="21" y="92"/>
                        <a:pt x="25" y="83"/>
                      </a:cubicBezTo>
                      <a:cubicBezTo>
                        <a:pt x="28" y="75"/>
                        <a:pt x="16" y="67"/>
                        <a:pt x="16" y="58"/>
                      </a:cubicBezTo>
                      <a:cubicBezTo>
                        <a:pt x="16" y="34"/>
                        <a:pt x="52" y="19"/>
                        <a:pt x="33" y="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93" name="AutoShape 117"/>
                <p:cNvSpPr>
                  <a:spLocks noChangeArrowheads="1"/>
                </p:cNvSpPr>
                <p:nvPr/>
              </p:nvSpPr>
              <p:spPr bwMode="auto">
                <a:xfrm>
                  <a:off x="3023" y="2352"/>
                  <a:ext cx="288" cy="144"/>
                </a:xfrm>
                <a:prstGeom prst="leftRightArrow">
                  <a:avLst>
                    <a:gd name="adj1" fmla="val 50000"/>
                    <a:gd name="adj2" fmla="val 40000"/>
                  </a:avLst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94" name="Oval 118"/>
                <p:cNvSpPr>
                  <a:spLocks noChangeArrowheads="1"/>
                </p:cNvSpPr>
                <p:nvPr/>
              </p:nvSpPr>
              <p:spPr bwMode="auto">
                <a:xfrm>
                  <a:off x="2930" y="2338"/>
                  <a:ext cx="499" cy="182"/>
                </a:xfrm>
                <a:prstGeom prst="ellips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th-TH" b="1" smtClean="0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2047095" name="WordArt 119"/>
                <p:cNvSpPr>
                  <a:spLocks noChangeArrowheads="1" noChangeShapeType="1" noTextEdit="1"/>
                </p:cNvSpPr>
                <p:nvPr/>
              </p:nvSpPr>
              <p:spPr bwMode="auto">
                <a:xfrm>
                  <a:off x="3068" y="2399"/>
                  <a:ext cx="200" cy="45"/>
                </a:xfrm>
                <a:prstGeom prst="rect">
                  <a:avLst/>
                </a:prstGeom>
              </p:spPr>
              <p:txBody>
                <a:bodyPr wrap="none" fromWordArt="1">
                  <a:prstTxWarp prst="textPlain">
                    <a:avLst>
                      <a:gd name="adj" fmla="val 48032"/>
                    </a:avLst>
                  </a:prstTxWarp>
                </a:bodyPr>
                <a:lstStyle/>
                <a:p>
                  <a:pPr algn="ctr" fontAlgn="base"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3600" b="1" kern="10" smtClean="0">
                      <a:ln w="9525">
                        <a:solidFill>
                          <a:srgbClr val="FF0000"/>
                        </a:solidFill>
                        <a:round/>
                        <a:headEnd/>
                        <a:tailEnd/>
                      </a:ln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5 sec</a:t>
                  </a:r>
                  <a:endParaRPr lang="th-TH" sz="3600" b="1" kern="10" smtClean="0">
                    <a:ln w="9525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solidFill>
                      <a:srgbClr val="FF0000"/>
                    </a:solidFill>
                    <a:latin typeface="Times New Roman"/>
                  </a:endParaRPr>
                </a:p>
              </p:txBody>
            </p:sp>
          </p:grpSp>
        </p:grpSp>
        <p:sp>
          <p:nvSpPr>
            <p:cNvPr id="2047096" name="Text Box 120"/>
            <p:cNvSpPr txBox="1">
              <a:spLocks noChangeArrowheads="1"/>
            </p:cNvSpPr>
            <p:nvPr/>
          </p:nvSpPr>
          <p:spPr bwMode="auto">
            <a:xfrm>
              <a:off x="380" y="1456"/>
              <a:ext cx="181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Reverse-line of M/C time in case of</a:t>
              </a: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 C.T. </a:t>
              </a:r>
              <a:r>
                <a:rPr lang="en-US" sz="1200" u="sng" smtClean="0">
                  <a:solidFill>
                    <a:srgbClr val="000000"/>
                  </a:solidFill>
                  <a:ea typeface="MS PGothic" pitchFamily="34" charset="-128"/>
                </a:rPr>
                <a:t>&lt;</a:t>
              </a: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 T.T.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7097" name="Text Box 121"/>
            <p:cNvSpPr txBox="1">
              <a:spLocks noChangeArrowheads="1"/>
            </p:cNvSpPr>
            <p:nvPr/>
          </p:nvSpPr>
          <p:spPr bwMode="auto">
            <a:xfrm>
              <a:off x="3483" y="1461"/>
              <a:ext cx="193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Draw M/C line to T.T. line</a:t>
              </a:r>
              <a:r>
                <a:rPr lang="th-TH" sz="1200" smtClean="0">
                  <a:solidFill>
                    <a:srgbClr val="000000"/>
                  </a:solidFill>
                  <a:ea typeface="MS PGothic" pitchFamily="34" charset="-128"/>
                </a:rPr>
                <a:t> </a:t>
              </a: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and back to start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at 0</a:t>
              </a:r>
              <a:r>
                <a:rPr lang="th-TH" altLang="ja-JP" sz="1200" smtClean="0">
                  <a:solidFill>
                    <a:srgbClr val="000000"/>
                  </a:solidFill>
                  <a:ea typeface="MS PGothic" pitchFamily="34" charset="-128"/>
                </a:rPr>
                <a:t> </a:t>
              </a: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until finish M/C time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7098" name="Line 122"/>
            <p:cNvSpPr>
              <a:spLocks noChangeShapeType="1"/>
            </p:cNvSpPr>
            <p:nvPr/>
          </p:nvSpPr>
          <p:spPr bwMode="auto">
            <a:xfrm>
              <a:off x="385" y="4201"/>
              <a:ext cx="5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7099" name="Text Box 123"/>
            <p:cNvSpPr txBox="1">
              <a:spLocks noChangeArrowheads="1"/>
            </p:cNvSpPr>
            <p:nvPr/>
          </p:nvSpPr>
          <p:spPr bwMode="auto">
            <a:xfrm>
              <a:off x="391" y="3928"/>
              <a:ext cx="15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Same-time operation</a:t>
              </a:r>
              <a:r>
                <a:rPr lang="th-TH" altLang="ja-JP" sz="1200" smtClean="0">
                  <a:solidFill>
                    <a:srgbClr val="000000"/>
                  </a:solidFill>
                  <a:ea typeface="MS PGothic" pitchFamily="34" charset="-128"/>
                </a:rPr>
                <a:t> </a:t>
              </a: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  (ex. 2 M/C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is operated when push switch)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7100" name="Rectangle 124"/>
            <p:cNvSpPr>
              <a:spLocks noChangeArrowheads="1"/>
            </p:cNvSpPr>
            <p:nvPr/>
          </p:nvSpPr>
          <p:spPr bwMode="auto">
            <a:xfrm>
              <a:off x="3504" y="3913"/>
              <a:ext cx="2086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Write the parallel </a:t>
              </a: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line at the process which operate in same time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7101" name="Text Box 125"/>
            <p:cNvSpPr txBox="1">
              <a:spLocks noChangeArrowheads="1"/>
            </p:cNvSpPr>
            <p:nvPr/>
          </p:nvSpPr>
          <p:spPr bwMode="auto">
            <a:xfrm>
              <a:off x="396" y="3043"/>
              <a:ext cx="1270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Waiting time in process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7102" name="Rectangle 126"/>
            <p:cNvSpPr>
              <a:spLocks noChangeArrowheads="1"/>
            </p:cNvSpPr>
            <p:nvPr/>
          </p:nvSpPr>
          <p:spPr bwMode="auto">
            <a:xfrm>
              <a:off x="3470" y="3230"/>
              <a:ext cx="2041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Put the arrow             in waiting period </a:t>
              </a: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with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waiting time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7103" name="AutoShape 127"/>
            <p:cNvSpPr>
              <a:spLocks noChangeArrowheads="1"/>
            </p:cNvSpPr>
            <p:nvPr/>
          </p:nvSpPr>
          <p:spPr bwMode="auto">
            <a:xfrm>
              <a:off x="4150" y="3281"/>
              <a:ext cx="240" cy="96"/>
            </a:xfrm>
            <a:prstGeom prst="leftRightArrow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7104" name="Rectangle 128"/>
            <p:cNvSpPr>
              <a:spLocks noChangeArrowheads="1"/>
            </p:cNvSpPr>
            <p:nvPr/>
          </p:nvSpPr>
          <p:spPr bwMode="auto">
            <a:xfrm>
              <a:off x="3475" y="2626"/>
              <a:ext cx="2132" cy="2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Put the arrow             in waiting period </a:t>
              </a: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with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waiting time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7105" name="Text Box 129"/>
            <p:cNvSpPr txBox="1">
              <a:spLocks noChangeArrowheads="1"/>
            </p:cNvSpPr>
            <p:nvPr/>
          </p:nvSpPr>
          <p:spPr bwMode="auto">
            <a:xfrm>
              <a:off x="383" y="2683"/>
              <a:ext cx="1678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Waiting time in case of</a:t>
              </a: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 C.T. &lt; T.T.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7106" name="AutoShape 130"/>
            <p:cNvSpPr>
              <a:spLocks noChangeArrowheads="1"/>
            </p:cNvSpPr>
            <p:nvPr/>
          </p:nvSpPr>
          <p:spPr bwMode="auto">
            <a:xfrm>
              <a:off x="4150" y="2659"/>
              <a:ext cx="240" cy="96"/>
            </a:xfrm>
            <a:prstGeom prst="leftRightArrow">
              <a:avLst>
                <a:gd name="adj1" fmla="val 50000"/>
                <a:gd name="adj2" fmla="val 50000"/>
              </a:avLst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7107" name="Text Box 131"/>
            <p:cNvSpPr txBox="1">
              <a:spLocks noChangeArrowheads="1"/>
            </p:cNvSpPr>
            <p:nvPr/>
          </p:nvSpPr>
          <p:spPr bwMode="auto">
            <a:xfrm>
              <a:off x="388" y="2024"/>
              <a:ext cx="163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Reverse-line of M/C time in case of</a:t>
              </a: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 C.T. &gt; T.T.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7108" name="Text Box 132"/>
            <p:cNvSpPr txBox="1">
              <a:spLocks noChangeArrowheads="1"/>
            </p:cNvSpPr>
            <p:nvPr/>
          </p:nvSpPr>
          <p:spPr bwMode="auto">
            <a:xfrm>
              <a:off x="3483" y="2024"/>
              <a:ext cx="19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Draw M/C line to C.T. line</a:t>
              </a:r>
              <a:r>
                <a:rPr lang="th-TH" sz="1200" smtClean="0">
                  <a:solidFill>
                    <a:srgbClr val="000000"/>
                  </a:solidFill>
                  <a:ea typeface="MS PGothic" pitchFamily="34" charset="-128"/>
                </a:rPr>
                <a:t> </a:t>
              </a: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and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back to start at 0</a:t>
              </a:r>
              <a:r>
                <a:rPr lang="th-TH" altLang="ja-JP" sz="1200" smtClean="0">
                  <a:solidFill>
                    <a:srgbClr val="000000"/>
                  </a:solidFill>
                  <a:ea typeface="MS PGothic" pitchFamily="34" charset="-128"/>
                </a:rPr>
                <a:t> </a:t>
              </a: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until finish M/C time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02" name="Text Box 2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48004" name="Line 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39750" y="1196975"/>
            <a:ext cx="8313738" cy="5510213"/>
            <a:chOff x="340" y="754"/>
            <a:chExt cx="5237" cy="3471"/>
          </a:xfrm>
        </p:grpSpPr>
        <p:sp>
          <p:nvSpPr>
            <p:cNvPr id="2048006" name="Line 6"/>
            <p:cNvSpPr>
              <a:spLocks noChangeShapeType="1"/>
            </p:cNvSpPr>
            <p:nvPr/>
          </p:nvSpPr>
          <p:spPr bwMode="auto">
            <a:xfrm>
              <a:off x="384" y="3589"/>
              <a:ext cx="50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8007" name="Line 7"/>
            <p:cNvSpPr>
              <a:spLocks noChangeShapeType="1"/>
            </p:cNvSpPr>
            <p:nvPr/>
          </p:nvSpPr>
          <p:spPr bwMode="auto">
            <a:xfrm>
              <a:off x="384" y="1274"/>
              <a:ext cx="50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8008" name="Line 8"/>
            <p:cNvSpPr>
              <a:spLocks noChangeShapeType="1"/>
            </p:cNvSpPr>
            <p:nvPr/>
          </p:nvSpPr>
          <p:spPr bwMode="auto">
            <a:xfrm>
              <a:off x="384" y="1882"/>
              <a:ext cx="50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8009" name="Line 9"/>
            <p:cNvSpPr>
              <a:spLocks noChangeShapeType="1"/>
            </p:cNvSpPr>
            <p:nvPr/>
          </p:nvSpPr>
          <p:spPr bwMode="auto">
            <a:xfrm>
              <a:off x="384" y="2437"/>
              <a:ext cx="50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8010" name="Line 10"/>
            <p:cNvSpPr>
              <a:spLocks noChangeShapeType="1"/>
            </p:cNvSpPr>
            <p:nvPr/>
          </p:nvSpPr>
          <p:spPr bwMode="auto">
            <a:xfrm>
              <a:off x="384" y="3021"/>
              <a:ext cx="50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8011" name="Line 11"/>
            <p:cNvSpPr>
              <a:spLocks noChangeShapeType="1"/>
            </p:cNvSpPr>
            <p:nvPr/>
          </p:nvSpPr>
          <p:spPr bwMode="auto">
            <a:xfrm>
              <a:off x="384" y="4205"/>
              <a:ext cx="508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8012" name="Line 12"/>
            <p:cNvSpPr>
              <a:spLocks noChangeShapeType="1"/>
            </p:cNvSpPr>
            <p:nvPr/>
          </p:nvSpPr>
          <p:spPr bwMode="auto">
            <a:xfrm>
              <a:off x="384" y="754"/>
              <a:ext cx="0" cy="3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8013" name="Line 13"/>
            <p:cNvSpPr>
              <a:spLocks noChangeShapeType="1"/>
            </p:cNvSpPr>
            <p:nvPr/>
          </p:nvSpPr>
          <p:spPr bwMode="auto">
            <a:xfrm>
              <a:off x="5465" y="754"/>
              <a:ext cx="0" cy="3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8014" name="Rectangle 14"/>
            <p:cNvSpPr>
              <a:spLocks noChangeArrowheads="1"/>
            </p:cNvSpPr>
            <p:nvPr/>
          </p:nvSpPr>
          <p:spPr bwMode="auto">
            <a:xfrm>
              <a:off x="340" y="1298"/>
              <a:ext cx="1587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7.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ทำงานพร้อมกับเดิน เช่น</a:t>
              </a:r>
            </a:p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   เดินและประกอบชิ้นงาน</a:t>
              </a:r>
            </a:p>
          </p:txBody>
        </p:sp>
        <p:sp>
          <p:nvSpPr>
            <p:cNvPr id="2048015" name="Rectangle 15"/>
            <p:cNvSpPr>
              <a:spLocks noChangeArrowheads="1"/>
            </p:cNvSpPr>
            <p:nvPr/>
          </p:nvSpPr>
          <p:spPr bwMode="auto">
            <a:xfrm>
              <a:off x="369" y="1883"/>
              <a:ext cx="1633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8.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ทำงานแบบวกไปวกกลับ</a:t>
              </a:r>
            </a:p>
          </p:txBody>
        </p:sp>
        <p:sp>
          <p:nvSpPr>
            <p:cNvPr id="2048016" name="Rectangle 16"/>
            <p:cNvSpPr>
              <a:spLocks noChangeArrowheads="1"/>
            </p:cNvSpPr>
            <p:nvPr/>
          </p:nvSpPr>
          <p:spPr bwMode="auto">
            <a:xfrm>
              <a:off x="364" y="2472"/>
              <a:ext cx="1580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9.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ทำงานแบบเดียวกันหลายๆครั้ง เช่น 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Nut welding 3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จุด</a:t>
              </a:r>
            </a:p>
          </p:txBody>
        </p:sp>
        <p:sp>
          <p:nvSpPr>
            <p:cNvPr id="2048017" name="Rectangle 17"/>
            <p:cNvSpPr>
              <a:spLocks noChangeArrowheads="1"/>
            </p:cNvSpPr>
            <p:nvPr/>
          </p:nvSpPr>
          <p:spPr bwMode="auto">
            <a:xfrm>
              <a:off x="340" y="3036"/>
              <a:ext cx="1633" cy="3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10.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ทำงานในระหว่างที่เครื่องจักรทำงาน เช่น นำงานเข้า 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Painting</a:t>
              </a:r>
              <a:endParaRPr lang="th-TH" sz="2000" b="1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8018" name="Rectangle 18"/>
            <p:cNvSpPr>
              <a:spLocks noChangeArrowheads="1"/>
            </p:cNvSpPr>
            <p:nvPr/>
          </p:nvSpPr>
          <p:spPr bwMode="auto">
            <a:xfrm>
              <a:off x="340" y="3551"/>
              <a:ext cx="1678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11.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คนทำงานต่อเนื่องโดยไม่หยุด</a:t>
              </a:r>
            </a:p>
          </p:txBody>
        </p:sp>
        <p:sp>
          <p:nvSpPr>
            <p:cNvPr id="2048019" name="Rectangle 19"/>
            <p:cNvSpPr>
              <a:spLocks noChangeArrowheads="1"/>
            </p:cNvSpPr>
            <p:nvPr/>
          </p:nvSpPr>
          <p:spPr bwMode="auto">
            <a:xfrm>
              <a:off x="1164" y="3565"/>
              <a:ext cx="1104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000" b="1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8020" name="Rectangle 20"/>
            <p:cNvSpPr>
              <a:spLocks noChangeArrowheads="1"/>
            </p:cNvSpPr>
            <p:nvPr/>
          </p:nvSpPr>
          <p:spPr bwMode="auto">
            <a:xfrm>
              <a:off x="3522" y="1298"/>
              <a:ext cx="195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เขียนเส้นการทำงานทับบนเส้นการเดิน โดยใช้เวลาที่วัดได้เขียนลงตามเสกลเวลาที่ใช้</a:t>
              </a:r>
            </a:p>
          </p:txBody>
        </p:sp>
        <p:sp>
          <p:nvSpPr>
            <p:cNvPr id="2048021" name="Rectangle 21"/>
            <p:cNvSpPr>
              <a:spLocks noChangeArrowheads="1"/>
            </p:cNvSpPr>
            <p:nvPr/>
          </p:nvSpPr>
          <p:spPr bwMode="auto">
            <a:xfrm>
              <a:off x="3520" y="1924"/>
              <a:ext cx="1812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เขียนเส้นการทำงาน กลับไปยังขั้นตอนการทำงานที่ย้อนกลับไปทำ</a:t>
              </a:r>
            </a:p>
          </p:txBody>
        </p:sp>
        <p:sp>
          <p:nvSpPr>
            <p:cNvPr id="2048022" name="Rectangle 22"/>
            <p:cNvSpPr>
              <a:spLocks noChangeArrowheads="1"/>
            </p:cNvSpPr>
            <p:nvPr/>
          </p:nvSpPr>
          <p:spPr bwMode="auto">
            <a:xfrm>
              <a:off x="3525" y="2403"/>
              <a:ext cx="2052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เขียนตัวเลขระบุจำนวนครั้งที่ทำซ้ำกำกับไว้</a:t>
              </a:r>
              <a:endParaRPr lang="en-US" sz="2000" b="1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8023" name="Rectangle 23"/>
            <p:cNvSpPr>
              <a:spLocks noChangeArrowheads="1"/>
            </p:cNvSpPr>
            <p:nvPr/>
          </p:nvSpPr>
          <p:spPr bwMode="auto">
            <a:xfrm>
              <a:off x="3541" y="3021"/>
              <a:ext cx="1969" cy="3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เขียนเส้นการทำงานของคน ทับกับเส้นการทำงานของเครื่องจักร</a:t>
              </a:r>
              <a:endParaRPr lang="en-US" sz="2000" b="1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8024" name="Rectangle 24"/>
            <p:cNvSpPr>
              <a:spLocks noChangeArrowheads="1"/>
            </p:cNvSpPr>
            <p:nvPr/>
          </p:nvSpPr>
          <p:spPr bwMode="auto">
            <a:xfrm>
              <a:off x="3535" y="3655"/>
              <a:ext cx="1908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เขียนเป็นขั้นตอนการทำงานที่ต่อเนื่องกันโดยขีดเส้น ให้เวลาต่อเนื่องกัน</a:t>
              </a:r>
              <a:endParaRPr lang="en-US" sz="2000" b="1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grpSp>
          <p:nvGrpSpPr>
            <p:cNvPr id="3" name="Group 25"/>
            <p:cNvGrpSpPr>
              <a:grpSpLocks/>
            </p:cNvGrpSpPr>
            <p:nvPr/>
          </p:nvGrpSpPr>
          <p:grpSpPr bwMode="auto">
            <a:xfrm>
              <a:off x="2192" y="1973"/>
              <a:ext cx="1200" cy="342"/>
              <a:chOff x="2064" y="2093"/>
              <a:chExt cx="1200" cy="342"/>
            </a:xfrm>
          </p:grpSpPr>
          <p:sp>
            <p:nvSpPr>
              <p:cNvPr id="2048026" name="Line 26"/>
              <p:cNvSpPr>
                <a:spLocks noChangeShapeType="1"/>
              </p:cNvSpPr>
              <p:nvPr/>
            </p:nvSpPr>
            <p:spPr bwMode="auto">
              <a:xfrm>
                <a:off x="2064" y="2189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27" name="Line 27"/>
              <p:cNvSpPr>
                <a:spLocks noChangeShapeType="1"/>
              </p:cNvSpPr>
              <p:nvPr/>
            </p:nvSpPr>
            <p:spPr bwMode="auto">
              <a:xfrm>
                <a:off x="2064" y="2237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28" name="Freeform 28"/>
              <p:cNvSpPr>
                <a:spLocks/>
              </p:cNvSpPr>
              <p:nvPr/>
            </p:nvSpPr>
            <p:spPr bwMode="auto">
              <a:xfrm>
                <a:off x="2202" y="2237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29" name="Line 29"/>
              <p:cNvSpPr>
                <a:spLocks noChangeShapeType="1"/>
              </p:cNvSpPr>
              <p:nvPr/>
            </p:nvSpPr>
            <p:spPr bwMode="auto">
              <a:xfrm>
                <a:off x="2256" y="2285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30" name="Freeform 30"/>
              <p:cNvSpPr>
                <a:spLocks/>
              </p:cNvSpPr>
              <p:nvPr/>
            </p:nvSpPr>
            <p:spPr bwMode="auto">
              <a:xfrm>
                <a:off x="2400" y="2285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31" name="Line 31"/>
              <p:cNvSpPr>
                <a:spLocks noChangeShapeType="1"/>
              </p:cNvSpPr>
              <p:nvPr/>
            </p:nvSpPr>
            <p:spPr bwMode="auto">
              <a:xfrm>
                <a:off x="2448" y="2333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32" name="Line 32"/>
              <p:cNvSpPr>
                <a:spLocks noChangeShapeType="1"/>
              </p:cNvSpPr>
              <p:nvPr/>
            </p:nvSpPr>
            <p:spPr bwMode="auto">
              <a:xfrm>
                <a:off x="3024" y="2429"/>
                <a:ext cx="96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33" name="Line 33"/>
              <p:cNvSpPr>
                <a:spLocks noChangeShapeType="1"/>
              </p:cNvSpPr>
              <p:nvPr/>
            </p:nvSpPr>
            <p:spPr bwMode="auto">
              <a:xfrm>
                <a:off x="3264" y="2189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34" name="Freeform 34"/>
              <p:cNvSpPr>
                <a:spLocks/>
              </p:cNvSpPr>
              <p:nvPr/>
            </p:nvSpPr>
            <p:spPr bwMode="auto">
              <a:xfrm>
                <a:off x="3120" y="2189"/>
                <a:ext cx="144" cy="240"/>
              </a:xfrm>
              <a:custGeom>
                <a:avLst/>
                <a:gdLst/>
                <a:ahLst/>
                <a:cxnLst>
                  <a:cxn ang="0">
                    <a:pos x="0" y="240"/>
                  </a:cxn>
                  <a:cxn ang="0">
                    <a:pos x="48" y="192"/>
                  </a:cxn>
                  <a:cxn ang="0">
                    <a:pos x="48" y="144"/>
                  </a:cxn>
                  <a:cxn ang="0">
                    <a:pos x="96" y="96"/>
                  </a:cxn>
                  <a:cxn ang="0">
                    <a:pos x="96" y="48"/>
                  </a:cxn>
                  <a:cxn ang="0">
                    <a:pos x="144" y="0"/>
                  </a:cxn>
                </a:cxnLst>
                <a:rect l="0" t="0" r="r" b="b"/>
                <a:pathLst>
                  <a:path w="144" h="240">
                    <a:moveTo>
                      <a:pt x="0" y="240"/>
                    </a:moveTo>
                    <a:cubicBezTo>
                      <a:pt x="20" y="224"/>
                      <a:pt x="40" y="208"/>
                      <a:pt x="48" y="192"/>
                    </a:cubicBezTo>
                    <a:cubicBezTo>
                      <a:pt x="56" y="176"/>
                      <a:pt x="40" y="160"/>
                      <a:pt x="48" y="144"/>
                    </a:cubicBezTo>
                    <a:cubicBezTo>
                      <a:pt x="56" y="128"/>
                      <a:pt x="88" y="112"/>
                      <a:pt x="96" y="96"/>
                    </a:cubicBezTo>
                    <a:cubicBezTo>
                      <a:pt x="104" y="80"/>
                      <a:pt x="88" y="64"/>
                      <a:pt x="96" y="48"/>
                    </a:cubicBezTo>
                    <a:cubicBezTo>
                      <a:pt x="104" y="32"/>
                      <a:pt x="136" y="8"/>
                      <a:pt x="144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35" name="WordArt 35"/>
              <p:cNvSpPr>
                <a:spLocks noChangeArrowheads="1" noChangeShapeType="1" noTextEdit="1"/>
              </p:cNvSpPr>
              <p:nvPr/>
            </p:nvSpPr>
            <p:spPr bwMode="auto">
              <a:xfrm rot="10800000" flipV="1">
                <a:off x="3072" y="2093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T.T</a:t>
                </a:r>
                <a:endParaRPr lang="th-TH" sz="3600" b="1" kern="10" smtClean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/>
                </a:endParaRPr>
              </a:p>
            </p:txBody>
          </p:sp>
          <p:sp>
            <p:nvSpPr>
              <p:cNvPr id="2048036" name="Line 36"/>
              <p:cNvSpPr>
                <a:spLocks noChangeShapeType="1"/>
              </p:cNvSpPr>
              <p:nvPr/>
            </p:nvSpPr>
            <p:spPr bwMode="auto">
              <a:xfrm>
                <a:off x="2688" y="2237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37" name="Line 37"/>
              <p:cNvSpPr>
                <a:spLocks noChangeShapeType="1"/>
              </p:cNvSpPr>
              <p:nvPr/>
            </p:nvSpPr>
            <p:spPr bwMode="auto">
              <a:xfrm>
                <a:off x="2832" y="2381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38" name="Freeform 38"/>
              <p:cNvSpPr>
                <a:spLocks/>
              </p:cNvSpPr>
              <p:nvPr/>
            </p:nvSpPr>
            <p:spPr bwMode="auto">
              <a:xfrm>
                <a:off x="2594" y="2247"/>
                <a:ext cx="100" cy="92"/>
              </a:xfrm>
              <a:custGeom>
                <a:avLst/>
                <a:gdLst/>
                <a:ahLst/>
                <a:cxnLst>
                  <a:cxn ang="0">
                    <a:pos x="0" y="92"/>
                  </a:cxn>
                  <a:cxn ang="0">
                    <a:pos x="50" y="76"/>
                  </a:cxn>
                  <a:cxn ang="0">
                    <a:pos x="75" y="67"/>
                  </a:cxn>
                  <a:cxn ang="0">
                    <a:pos x="84" y="25"/>
                  </a:cxn>
                  <a:cxn ang="0">
                    <a:pos x="100" y="0"/>
                  </a:cxn>
                </a:cxnLst>
                <a:rect l="0" t="0" r="r" b="b"/>
                <a:pathLst>
                  <a:path w="100" h="92">
                    <a:moveTo>
                      <a:pt x="0" y="92"/>
                    </a:moveTo>
                    <a:cubicBezTo>
                      <a:pt x="17" y="87"/>
                      <a:pt x="33" y="82"/>
                      <a:pt x="50" y="76"/>
                    </a:cubicBezTo>
                    <a:cubicBezTo>
                      <a:pt x="58" y="73"/>
                      <a:pt x="70" y="74"/>
                      <a:pt x="75" y="67"/>
                    </a:cubicBezTo>
                    <a:cubicBezTo>
                      <a:pt x="83" y="55"/>
                      <a:pt x="79" y="38"/>
                      <a:pt x="84" y="25"/>
                    </a:cubicBezTo>
                    <a:cubicBezTo>
                      <a:pt x="87" y="16"/>
                      <a:pt x="100" y="0"/>
                      <a:pt x="10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39" name="Freeform 39"/>
              <p:cNvSpPr>
                <a:spLocks/>
              </p:cNvSpPr>
              <p:nvPr/>
            </p:nvSpPr>
            <p:spPr bwMode="auto">
              <a:xfrm>
                <a:off x="2795" y="2239"/>
                <a:ext cx="41" cy="150"/>
              </a:xfrm>
              <a:custGeom>
                <a:avLst/>
                <a:gdLst/>
                <a:ahLst/>
                <a:cxnLst>
                  <a:cxn ang="0">
                    <a:pos x="33" y="0"/>
                  </a:cxn>
                  <a:cxn ang="0">
                    <a:pos x="41" y="84"/>
                  </a:cxn>
                  <a:cxn ang="0">
                    <a:pos x="16" y="92"/>
                  </a:cxn>
                  <a:cxn ang="0">
                    <a:pos x="41" y="150"/>
                  </a:cxn>
                </a:cxnLst>
                <a:rect l="0" t="0" r="r" b="b"/>
                <a:pathLst>
                  <a:path w="41" h="150">
                    <a:moveTo>
                      <a:pt x="33" y="0"/>
                    </a:moveTo>
                    <a:cubicBezTo>
                      <a:pt x="22" y="52"/>
                      <a:pt x="0" y="56"/>
                      <a:pt x="41" y="84"/>
                    </a:cubicBezTo>
                    <a:cubicBezTo>
                      <a:pt x="33" y="87"/>
                      <a:pt x="18" y="84"/>
                      <a:pt x="16" y="92"/>
                    </a:cubicBezTo>
                    <a:cubicBezTo>
                      <a:pt x="3" y="138"/>
                      <a:pt x="17" y="139"/>
                      <a:pt x="41" y="15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40" name="Freeform 40"/>
              <p:cNvSpPr>
                <a:spLocks/>
              </p:cNvSpPr>
              <p:nvPr/>
            </p:nvSpPr>
            <p:spPr bwMode="auto">
              <a:xfrm>
                <a:off x="2976" y="2381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41" name="Oval 41"/>
              <p:cNvSpPr>
                <a:spLocks noChangeArrowheads="1"/>
              </p:cNvSpPr>
              <p:nvPr/>
            </p:nvSpPr>
            <p:spPr bwMode="auto">
              <a:xfrm>
                <a:off x="2608" y="2143"/>
                <a:ext cx="273" cy="13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4" name="Group 42"/>
            <p:cNvGrpSpPr>
              <a:grpSpLocks/>
            </p:cNvGrpSpPr>
            <p:nvPr/>
          </p:nvGrpSpPr>
          <p:grpSpPr bwMode="auto">
            <a:xfrm>
              <a:off x="2192" y="1458"/>
              <a:ext cx="1200" cy="342"/>
              <a:chOff x="2064" y="1709"/>
              <a:chExt cx="1200" cy="342"/>
            </a:xfrm>
          </p:grpSpPr>
          <p:sp>
            <p:nvSpPr>
              <p:cNvPr id="2048043" name="Line 43"/>
              <p:cNvSpPr>
                <a:spLocks noChangeShapeType="1"/>
              </p:cNvSpPr>
              <p:nvPr/>
            </p:nvSpPr>
            <p:spPr bwMode="auto">
              <a:xfrm>
                <a:off x="2064" y="180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44" name="Line 44"/>
              <p:cNvSpPr>
                <a:spLocks noChangeShapeType="1"/>
              </p:cNvSpPr>
              <p:nvPr/>
            </p:nvSpPr>
            <p:spPr bwMode="auto">
              <a:xfrm>
                <a:off x="2064" y="1853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45" name="Freeform 45"/>
              <p:cNvSpPr>
                <a:spLocks/>
              </p:cNvSpPr>
              <p:nvPr/>
            </p:nvSpPr>
            <p:spPr bwMode="auto">
              <a:xfrm>
                <a:off x="2202" y="1853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46" name="Line 46"/>
              <p:cNvSpPr>
                <a:spLocks noChangeShapeType="1"/>
              </p:cNvSpPr>
              <p:nvPr/>
            </p:nvSpPr>
            <p:spPr bwMode="auto">
              <a:xfrm>
                <a:off x="2256" y="1901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47" name="Line 47"/>
              <p:cNvSpPr>
                <a:spLocks noChangeShapeType="1"/>
              </p:cNvSpPr>
              <p:nvPr/>
            </p:nvSpPr>
            <p:spPr bwMode="auto">
              <a:xfrm>
                <a:off x="2640" y="1997"/>
                <a:ext cx="288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48" name="Line 48"/>
              <p:cNvSpPr>
                <a:spLocks noChangeShapeType="1"/>
              </p:cNvSpPr>
              <p:nvPr/>
            </p:nvSpPr>
            <p:spPr bwMode="auto">
              <a:xfrm>
                <a:off x="3024" y="2045"/>
                <a:ext cx="96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49" name="Line 49"/>
              <p:cNvSpPr>
                <a:spLocks noChangeShapeType="1"/>
              </p:cNvSpPr>
              <p:nvPr/>
            </p:nvSpPr>
            <p:spPr bwMode="auto">
              <a:xfrm>
                <a:off x="3264" y="180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50" name="Freeform 50"/>
              <p:cNvSpPr>
                <a:spLocks/>
              </p:cNvSpPr>
              <p:nvPr/>
            </p:nvSpPr>
            <p:spPr bwMode="auto">
              <a:xfrm>
                <a:off x="3120" y="1805"/>
                <a:ext cx="144" cy="240"/>
              </a:xfrm>
              <a:custGeom>
                <a:avLst/>
                <a:gdLst/>
                <a:ahLst/>
                <a:cxnLst>
                  <a:cxn ang="0">
                    <a:pos x="0" y="240"/>
                  </a:cxn>
                  <a:cxn ang="0">
                    <a:pos x="48" y="192"/>
                  </a:cxn>
                  <a:cxn ang="0">
                    <a:pos x="48" y="144"/>
                  </a:cxn>
                  <a:cxn ang="0">
                    <a:pos x="96" y="96"/>
                  </a:cxn>
                  <a:cxn ang="0">
                    <a:pos x="96" y="48"/>
                  </a:cxn>
                  <a:cxn ang="0">
                    <a:pos x="144" y="0"/>
                  </a:cxn>
                </a:cxnLst>
                <a:rect l="0" t="0" r="r" b="b"/>
                <a:pathLst>
                  <a:path w="144" h="240">
                    <a:moveTo>
                      <a:pt x="0" y="240"/>
                    </a:moveTo>
                    <a:cubicBezTo>
                      <a:pt x="20" y="224"/>
                      <a:pt x="40" y="208"/>
                      <a:pt x="48" y="192"/>
                    </a:cubicBezTo>
                    <a:cubicBezTo>
                      <a:pt x="56" y="176"/>
                      <a:pt x="40" y="160"/>
                      <a:pt x="48" y="144"/>
                    </a:cubicBezTo>
                    <a:cubicBezTo>
                      <a:pt x="56" y="128"/>
                      <a:pt x="88" y="112"/>
                      <a:pt x="96" y="96"/>
                    </a:cubicBezTo>
                    <a:cubicBezTo>
                      <a:pt x="104" y="80"/>
                      <a:pt x="88" y="64"/>
                      <a:pt x="96" y="48"/>
                    </a:cubicBezTo>
                    <a:cubicBezTo>
                      <a:pt x="104" y="32"/>
                      <a:pt x="136" y="8"/>
                      <a:pt x="144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51" name="WordArt 51"/>
              <p:cNvSpPr>
                <a:spLocks noChangeArrowheads="1" noChangeShapeType="1" noTextEdit="1"/>
              </p:cNvSpPr>
              <p:nvPr/>
            </p:nvSpPr>
            <p:spPr bwMode="auto">
              <a:xfrm rot="10800000" flipV="1">
                <a:off x="3072" y="1709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T.T</a:t>
                </a:r>
                <a:endParaRPr lang="th-TH" sz="3600" b="1" kern="10" smtClean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/>
                </a:endParaRPr>
              </a:p>
            </p:txBody>
          </p:sp>
          <p:sp>
            <p:nvSpPr>
              <p:cNvPr id="2048052" name="Freeform 52"/>
              <p:cNvSpPr>
                <a:spLocks/>
              </p:cNvSpPr>
              <p:nvPr/>
            </p:nvSpPr>
            <p:spPr bwMode="auto">
              <a:xfrm>
                <a:off x="2928" y="1997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53" name="Line 53"/>
              <p:cNvSpPr>
                <a:spLocks noChangeShapeType="1"/>
              </p:cNvSpPr>
              <p:nvPr/>
            </p:nvSpPr>
            <p:spPr bwMode="auto">
              <a:xfrm>
                <a:off x="2448" y="1949"/>
                <a:ext cx="96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54" name="Freeform 54"/>
              <p:cNvSpPr>
                <a:spLocks/>
              </p:cNvSpPr>
              <p:nvPr/>
            </p:nvSpPr>
            <p:spPr bwMode="auto">
              <a:xfrm>
                <a:off x="2400" y="1901"/>
                <a:ext cx="250" cy="117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75" y="51"/>
                  </a:cxn>
                  <a:cxn ang="0">
                    <a:pos x="150" y="67"/>
                  </a:cxn>
                  <a:cxn ang="0">
                    <a:pos x="250" y="117"/>
                  </a:cxn>
                </a:cxnLst>
                <a:rect l="0" t="0" r="r" b="b"/>
                <a:pathLst>
                  <a:path w="250" h="117">
                    <a:moveTo>
                      <a:pt x="0" y="0"/>
                    </a:moveTo>
                    <a:cubicBezTo>
                      <a:pt x="31" y="11"/>
                      <a:pt x="45" y="41"/>
                      <a:pt x="75" y="51"/>
                    </a:cubicBezTo>
                    <a:cubicBezTo>
                      <a:pt x="99" y="59"/>
                      <a:pt x="126" y="59"/>
                      <a:pt x="150" y="67"/>
                    </a:cubicBezTo>
                    <a:cubicBezTo>
                      <a:pt x="179" y="109"/>
                      <a:pt x="206" y="96"/>
                      <a:pt x="250" y="117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55" name="Oval 55"/>
              <p:cNvSpPr>
                <a:spLocks noChangeArrowheads="1"/>
              </p:cNvSpPr>
              <p:nvPr/>
            </p:nvSpPr>
            <p:spPr bwMode="auto">
              <a:xfrm>
                <a:off x="2381" y="1871"/>
                <a:ext cx="273" cy="13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5" name="Group 56"/>
            <p:cNvGrpSpPr>
              <a:grpSpLocks/>
            </p:cNvGrpSpPr>
            <p:nvPr/>
          </p:nvGrpSpPr>
          <p:grpSpPr bwMode="auto">
            <a:xfrm>
              <a:off x="2200" y="2552"/>
              <a:ext cx="1200" cy="432"/>
              <a:chOff x="2064" y="2573"/>
              <a:chExt cx="1200" cy="432"/>
            </a:xfrm>
          </p:grpSpPr>
          <p:sp>
            <p:nvSpPr>
              <p:cNvPr id="2048057" name="Line 57"/>
              <p:cNvSpPr>
                <a:spLocks noChangeShapeType="1"/>
              </p:cNvSpPr>
              <p:nvPr/>
            </p:nvSpPr>
            <p:spPr bwMode="auto">
              <a:xfrm>
                <a:off x="2064" y="2669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58" name="Line 58"/>
              <p:cNvSpPr>
                <a:spLocks noChangeShapeType="1"/>
              </p:cNvSpPr>
              <p:nvPr/>
            </p:nvSpPr>
            <p:spPr bwMode="auto">
              <a:xfrm>
                <a:off x="2064" y="2717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59" name="Freeform 59"/>
              <p:cNvSpPr>
                <a:spLocks/>
              </p:cNvSpPr>
              <p:nvPr/>
            </p:nvSpPr>
            <p:spPr bwMode="auto">
              <a:xfrm>
                <a:off x="2202" y="2717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60" name="Line 60"/>
              <p:cNvSpPr>
                <a:spLocks noChangeShapeType="1"/>
              </p:cNvSpPr>
              <p:nvPr/>
            </p:nvSpPr>
            <p:spPr bwMode="auto">
              <a:xfrm>
                <a:off x="2256" y="2765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61" name="Freeform 61"/>
              <p:cNvSpPr>
                <a:spLocks/>
              </p:cNvSpPr>
              <p:nvPr/>
            </p:nvSpPr>
            <p:spPr bwMode="auto">
              <a:xfrm>
                <a:off x="2400" y="2765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62" name="Line 62"/>
              <p:cNvSpPr>
                <a:spLocks noChangeShapeType="1"/>
              </p:cNvSpPr>
              <p:nvPr/>
            </p:nvSpPr>
            <p:spPr bwMode="auto">
              <a:xfrm>
                <a:off x="2448" y="2813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63" name="Freeform 63"/>
              <p:cNvSpPr>
                <a:spLocks/>
              </p:cNvSpPr>
              <p:nvPr/>
            </p:nvSpPr>
            <p:spPr bwMode="auto">
              <a:xfrm>
                <a:off x="2592" y="2813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64" name="Line 64"/>
              <p:cNvSpPr>
                <a:spLocks noChangeShapeType="1"/>
              </p:cNvSpPr>
              <p:nvPr/>
            </p:nvSpPr>
            <p:spPr bwMode="auto">
              <a:xfrm>
                <a:off x="2640" y="2861"/>
                <a:ext cx="288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65" name="Line 65"/>
              <p:cNvSpPr>
                <a:spLocks noChangeShapeType="1"/>
              </p:cNvSpPr>
              <p:nvPr/>
            </p:nvSpPr>
            <p:spPr bwMode="auto">
              <a:xfrm>
                <a:off x="3024" y="2909"/>
                <a:ext cx="96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66" name="Line 66"/>
              <p:cNvSpPr>
                <a:spLocks noChangeShapeType="1"/>
              </p:cNvSpPr>
              <p:nvPr/>
            </p:nvSpPr>
            <p:spPr bwMode="auto">
              <a:xfrm>
                <a:off x="3264" y="2669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67" name="Freeform 67"/>
              <p:cNvSpPr>
                <a:spLocks/>
              </p:cNvSpPr>
              <p:nvPr/>
            </p:nvSpPr>
            <p:spPr bwMode="auto">
              <a:xfrm>
                <a:off x="3120" y="2669"/>
                <a:ext cx="144" cy="240"/>
              </a:xfrm>
              <a:custGeom>
                <a:avLst/>
                <a:gdLst/>
                <a:ahLst/>
                <a:cxnLst>
                  <a:cxn ang="0">
                    <a:pos x="0" y="240"/>
                  </a:cxn>
                  <a:cxn ang="0">
                    <a:pos x="48" y="192"/>
                  </a:cxn>
                  <a:cxn ang="0">
                    <a:pos x="48" y="144"/>
                  </a:cxn>
                  <a:cxn ang="0">
                    <a:pos x="96" y="96"/>
                  </a:cxn>
                  <a:cxn ang="0">
                    <a:pos x="96" y="48"/>
                  </a:cxn>
                  <a:cxn ang="0">
                    <a:pos x="144" y="0"/>
                  </a:cxn>
                </a:cxnLst>
                <a:rect l="0" t="0" r="r" b="b"/>
                <a:pathLst>
                  <a:path w="144" h="240">
                    <a:moveTo>
                      <a:pt x="0" y="240"/>
                    </a:moveTo>
                    <a:cubicBezTo>
                      <a:pt x="20" y="224"/>
                      <a:pt x="40" y="208"/>
                      <a:pt x="48" y="192"/>
                    </a:cubicBezTo>
                    <a:cubicBezTo>
                      <a:pt x="56" y="176"/>
                      <a:pt x="40" y="160"/>
                      <a:pt x="48" y="144"/>
                    </a:cubicBezTo>
                    <a:cubicBezTo>
                      <a:pt x="56" y="128"/>
                      <a:pt x="88" y="112"/>
                      <a:pt x="96" y="96"/>
                    </a:cubicBezTo>
                    <a:cubicBezTo>
                      <a:pt x="104" y="80"/>
                      <a:pt x="88" y="64"/>
                      <a:pt x="96" y="48"/>
                    </a:cubicBezTo>
                    <a:cubicBezTo>
                      <a:pt x="104" y="32"/>
                      <a:pt x="136" y="8"/>
                      <a:pt x="144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68" name="Line 68"/>
              <p:cNvSpPr>
                <a:spLocks noChangeShapeType="1"/>
              </p:cNvSpPr>
              <p:nvPr/>
            </p:nvSpPr>
            <p:spPr bwMode="auto">
              <a:xfrm>
                <a:off x="2928" y="2861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69" name="Line 69"/>
              <p:cNvSpPr>
                <a:spLocks noChangeShapeType="1"/>
              </p:cNvSpPr>
              <p:nvPr/>
            </p:nvSpPr>
            <p:spPr bwMode="auto">
              <a:xfrm>
                <a:off x="2064" y="2861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70" name="WordArt 70"/>
              <p:cNvSpPr>
                <a:spLocks noChangeArrowheads="1" noChangeShapeType="1" noTextEdit="1"/>
              </p:cNvSpPr>
              <p:nvPr/>
            </p:nvSpPr>
            <p:spPr bwMode="auto">
              <a:xfrm rot="10800000" flipV="1">
                <a:off x="3072" y="2573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T.T</a:t>
                </a:r>
                <a:endParaRPr lang="th-TH" sz="3600" b="1" kern="10" smtClean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/>
                </a:endParaRPr>
              </a:p>
            </p:txBody>
          </p:sp>
          <p:sp>
            <p:nvSpPr>
              <p:cNvPr id="2048071" name="Freeform 71"/>
              <p:cNvSpPr>
                <a:spLocks/>
              </p:cNvSpPr>
              <p:nvPr/>
            </p:nvSpPr>
            <p:spPr bwMode="auto">
              <a:xfrm>
                <a:off x="2928" y="2861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72" name="WordArt 72"/>
              <p:cNvSpPr>
                <a:spLocks noChangeArrowheads="1" noChangeShapeType="1" noTextEdit="1"/>
              </p:cNvSpPr>
              <p:nvPr/>
            </p:nvSpPr>
            <p:spPr bwMode="auto">
              <a:xfrm>
                <a:off x="2708" y="2748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h-TH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3</a:t>
                </a:r>
              </a:p>
            </p:txBody>
          </p:sp>
          <p:sp>
            <p:nvSpPr>
              <p:cNvPr id="2048073" name="Oval 73"/>
              <p:cNvSpPr>
                <a:spLocks noChangeArrowheads="1"/>
              </p:cNvSpPr>
              <p:nvPr/>
            </p:nvSpPr>
            <p:spPr bwMode="auto">
              <a:xfrm>
                <a:off x="2608" y="2617"/>
                <a:ext cx="318" cy="388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Group 74"/>
            <p:cNvGrpSpPr>
              <a:grpSpLocks/>
            </p:cNvGrpSpPr>
            <p:nvPr/>
          </p:nvGrpSpPr>
          <p:grpSpPr bwMode="auto">
            <a:xfrm>
              <a:off x="2192" y="3095"/>
              <a:ext cx="1200" cy="366"/>
              <a:chOff x="2064" y="3047"/>
              <a:chExt cx="1200" cy="366"/>
            </a:xfrm>
          </p:grpSpPr>
          <p:sp>
            <p:nvSpPr>
              <p:cNvPr id="2048075" name="Line 75"/>
              <p:cNvSpPr>
                <a:spLocks noChangeShapeType="1"/>
              </p:cNvSpPr>
              <p:nvPr/>
            </p:nvSpPr>
            <p:spPr bwMode="auto">
              <a:xfrm>
                <a:off x="2064" y="3143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76" name="Line 76"/>
              <p:cNvSpPr>
                <a:spLocks noChangeShapeType="1"/>
              </p:cNvSpPr>
              <p:nvPr/>
            </p:nvSpPr>
            <p:spPr bwMode="auto">
              <a:xfrm>
                <a:off x="2064" y="3191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77" name="Freeform 77"/>
              <p:cNvSpPr>
                <a:spLocks/>
              </p:cNvSpPr>
              <p:nvPr/>
            </p:nvSpPr>
            <p:spPr bwMode="auto">
              <a:xfrm>
                <a:off x="2202" y="3191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78" name="Line 78"/>
              <p:cNvSpPr>
                <a:spLocks noChangeShapeType="1"/>
              </p:cNvSpPr>
              <p:nvPr/>
            </p:nvSpPr>
            <p:spPr bwMode="auto">
              <a:xfrm>
                <a:off x="2256" y="3239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79" name="Freeform 79"/>
              <p:cNvSpPr>
                <a:spLocks/>
              </p:cNvSpPr>
              <p:nvPr/>
            </p:nvSpPr>
            <p:spPr bwMode="auto">
              <a:xfrm>
                <a:off x="2400" y="3239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80" name="Line 80"/>
              <p:cNvSpPr>
                <a:spLocks noChangeShapeType="1"/>
              </p:cNvSpPr>
              <p:nvPr/>
            </p:nvSpPr>
            <p:spPr bwMode="auto">
              <a:xfrm>
                <a:off x="2448" y="3287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81" name="Freeform 81"/>
              <p:cNvSpPr>
                <a:spLocks/>
              </p:cNvSpPr>
              <p:nvPr/>
            </p:nvSpPr>
            <p:spPr bwMode="auto">
              <a:xfrm>
                <a:off x="2592" y="3287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82" name="Line 82"/>
              <p:cNvSpPr>
                <a:spLocks noChangeShapeType="1"/>
              </p:cNvSpPr>
              <p:nvPr/>
            </p:nvSpPr>
            <p:spPr bwMode="auto">
              <a:xfrm>
                <a:off x="2640" y="3335"/>
                <a:ext cx="288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83" name="Line 83"/>
              <p:cNvSpPr>
                <a:spLocks noChangeShapeType="1"/>
              </p:cNvSpPr>
              <p:nvPr/>
            </p:nvSpPr>
            <p:spPr bwMode="auto">
              <a:xfrm>
                <a:off x="3024" y="3383"/>
                <a:ext cx="96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84" name="Line 84"/>
              <p:cNvSpPr>
                <a:spLocks noChangeShapeType="1"/>
              </p:cNvSpPr>
              <p:nvPr/>
            </p:nvSpPr>
            <p:spPr bwMode="auto">
              <a:xfrm>
                <a:off x="3264" y="3143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85" name="Freeform 85"/>
              <p:cNvSpPr>
                <a:spLocks/>
              </p:cNvSpPr>
              <p:nvPr/>
            </p:nvSpPr>
            <p:spPr bwMode="auto">
              <a:xfrm>
                <a:off x="3120" y="3143"/>
                <a:ext cx="144" cy="240"/>
              </a:xfrm>
              <a:custGeom>
                <a:avLst/>
                <a:gdLst/>
                <a:ahLst/>
                <a:cxnLst>
                  <a:cxn ang="0">
                    <a:pos x="0" y="240"/>
                  </a:cxn>
                  <a:cxn ang="0">
                    <a:pos x="48" y="192"/>
                  </a:cxn>
                  <a:cxn ang="0">
                    <a:pos x="48" y="144"/>
                  </a:cxn>
                  <a:cxn ang="0">
                    <a:pos x="96" y="96"/>
                  </a:cxn>
                  <a:cxn ang="0">
                    <a:pos x="96" y="48"/>
                  </a:cxn>
                  <a:cxn ang="0">
                    <a:pos x="144" y="0"/>
                  </a:cxn>
                </a:cxnLst>
                <a:rect l="0" t="0" r="r" b="b"/>
                <a:pathLst>
                  <a:path w="144" h="240">
                    <a:moveTo>
                      <a:pt x="0" y="240"/>
                    </a:moveTo>
                    <a:cubicBezTo>
                      <a:pt x="20" y="224"/>
                      <a:pt x="40" y="208"/>
                      <a:pt x="48" y="192"/>
                    </a:cubicBezTo>
                    <a:cubicBezTo>
                      <a:pt x="56" y="176"/>
                      <a:pt x="40" y="160"/>
                      <a:pt x="48" y="144"/>
                    </a:cubicBezTo>
                    <a:cubicBezTo>
                      <a:pt x="56" y="128"/>
                      <a:pt x="88" y="112"/>
                      <a:pt x="96" y="96"/>
                    </a:cubicBezTo>
                    <a:cubicBezTo>
                      <a:pt x="104" y="80"/>
                      <a:pt x="88" y="64"/>
                      <a:pt x="96" y="48"/>
                    </a:cubicBezTo>
                    <a:cubicBezTo>
                      <a:pt x="104" y="32"/>
                      <a:pt x="136" y="8"/>
                      <a:pt x="144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86" name="Line 86"/>
              <p:cNvSpPr>
                <a:spLocks noChangeShapeType="1"/>
              </p:cNvSpPr>
              <p:nvPr/>
            </p:nvSpPr>
            <p:spPr bwMode="auto">
              <a:xfrm>
                <a:off x="2064" y="3335"/>
                <a:ext cx="1200" cy="6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87" name="WordArt 87"/>
              <p:cNvSpPr>
                <a:spLocks noChangeArrowheads="1" noChangeShapeType="1" noTextEdit="1"/>
              </p:cNvSpPr>
              <p:nvPr/>
            </p:nvSpPr>
            <p:spPr bwMode="auto">
              <a:xfrm rot="10800000" flipV="1">
                <a:off x="3072" y="3047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T.T</a:t>
                </a:r>
                <a:endParaRPr lang="th-TH" sz="3600" b="1" kern="10" smtClean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/>
                </a:endParaRPr>
              </a:p>
            </p:txBody>
          </p:sp>
          <p:sp>
            <p:nvSpPr>
              <p:cNvPr id="2048088" name="Freeform 88"/>
              <p:cNvSpPr>
                <a:spLocks/>
              </p:cNvSpPr>
              <p:nvPr/>
            </p:nvSpPr>
            <p:spPr bwMode="auto">
              <a:xfrm>
                <a:off x="2928" y="3335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89" name="Oval 89"/>
              <p:cNvSpPr>
                <a:spLocks noChangeArrowheads="1"/>
              </p:cNvSpPr>
              <p:nvPr/>
            </p:nvSpPr>
            <p:spPr bwMode="auto">
              <a:xfrm>
                <a:off x="2608" y="3232"/>
                <a:ext cx="363" cy="181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" name="Group 90"/>
            <p:cNvGrpSpPr>
              <a:grpSpLocks/>
            </p:cNvGrpSpPr>
            <p:nvPr/>
          </p:nvGrpSpPr>
          <p:grpSpPr bwMode="auto">
            <a:xfrm>
              <a:off x="2162" y="3693"/>
              <a:ext cx="1252" cy="421"/>
              <a:chOff x="2018" y="3581"/>
              <a:chExt cx="1252" cy="421"/>
            </a:xfrm>
          </p:grpSpPr>
          <p:sp>
            <p:nvSpPr>
              <p:cNvPr id="2048091" name="Line 91"/>
              <p:cNvSpPr>
                <a:spLocks noChangeShapeType="1"/>
              </p:cNvSpPr>
              <p:nvPr/>
            </p:nvSpPr>
            <p:spPr bwMode="auto">
              <a:xfrm>
                <a:off x="2064" y="3677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92" name="Line 92"/>
              <p:cNvSpPr>
                <a:spLocks noChangeShapeType="1"/>
              </p:cNvSpPr>
              <p:nvPr/>
            </p:nvSpPr>
            <p:spPr bwMode="auto">
              <a:xfrm>
                <a:off x="2064" y="3725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93" name="Line 93"/>
              <p:cNvSpPr>
                <a:spLocks noChangeShapeType="1"/>
              </p:cNvSpPr>
              <p:nvPr/>
            </p:nvSpPr>
            <p:spPr bwMode="auto">
              <a:xfrm>
                <a:off x="2208" y="3773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94" name="Line 94"/>
              <p:cNvSpPr>
                <a:spLocks noChangeShapeType="1"/>
              </p:cNvSpPr>
              <p:nvPr/>
            </p:nvSpPr>
            <p:spPr bwMode="auto">
              <a:xfrm>
                <a:off x="2352" y="3821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95" name="Line 95"/>
              <p:cNvSpPr>
                <a:spLocks noChangeShapeType="1"/>
              </p:cNvSpPr>
              <p:nvPr/>
            </p:nvSpPr>
            <p:spPr bwMode="auto">
              <a:xfrm>
                <a:off x="2496" y="3869"/>
                <a:ext cx="288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96" name="Line 96"/>
              <p:cNvSpPr>
                <a:spLocks noChangeShapeType="1"/>
              </p:cNvSpPr>
              <p:nvPr/>
            </p:nvSpPr>
            <p:spPr bwMode="auto">
              <a:xfrm>
                <a:off x="2784" y="3917"/>
                <a:ext cx="96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97" name="Line 97"/>
              <p:cNvSpPr>
                <a:spLocks noChangeShapeType="1"/>
              </p:cNvSpPr>
              <p:nvPr/>
            </p:nvSpPr>
            <p:spPr bwMode="auto">
              <a:xfrm>
                <a:off x="3264" y="3677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098" name="WordArt 98"/>
              <p:cNvSpPr>
                <a:spLocks noChangeArrowheads="1" noChangeShapeType="1" noTextEdit="1"/>
              </p:cNvSpPr>
              <p:nvPr/>
            </p:nvSpPr>
            <p:spPr bwMode="auto">
              <a:xfrm rot="10800000" flipV="1">
                <a:off x="3072" y="3581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T.T</a:t>
                </a:r>
                <a:endParaRPr lang="th-TH" sz="3600" b="1" kern="10" smtClean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/>
                </a:endParaRPr>
              </a:p>
            </p:txBody>
          </p:sp>
          <p:sp>
            <p:nvSpPr>
              <p:cNvPr id="2048099" name="Line 99"/>
              <p:cNvSpPr>
                <a:spLocks noChangeShapeType="1"/>
              </p:cNvSpPr>
              <p:nvPr/>
            </p:nvSpPr>
            <p:spPr bwMode="auto">
              <a:xfrm>
                <a:off x="2208" y="3725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00" name="Line 100"/>
              <p:cNvSpPr>
                <a:spLocks noChangeShapeType="1"/>
              </p:cNvSpPr>
              <p:nvPr/>
            </p:nvSpPr>
            <p:spPr bwMode="auto">
              <a:xfrm>
                <a:off x="2352" y="3773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01" name="Line 101"/>
              <p:cNvSpPr>
                <a:spLocks noChangeShapeType="1"/>
              </p:cNvSpPr>
              <p:nvPr/>
            </p:nvSpPr>
            <p:spPr bwMode="auto">
              <a:xfrm>
                <a:off x="2496" y="3821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02" name="Line 102"/>
              <p:cNvSpPr>
                <a:spLocks noChangeShapeType="1"/>
              </p:cNvSpPr>
              <p:nvPr/>
            </p:nvSpPr>
            <p:spPr bwMode="auto">
              <a:xfrm>
                <a:off x="2784" y="3869"/>
                <a:ext cx="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03" name="Freeform 103"/>
              <p:cNvSpPr>
                <a:spLocks/>
              </p:cNvSpPr>
              <p:nvPr/>
            </p:nvSpPr>
            <p:spPr bwMode="auto">
              <a:xfrm>
                <a:off x="2870" y="3717"/>
                <a:ext cx="400" cy="233"/>
              </a:xfrm>
              <a:custGeom>
                <a:avLst/>
                <a:gdLst/>
                <a:ahLst/>
                <a:cxnLst>
                  <a:cxn ang="0">
                    <a:pos x="0" y="208"/>
                  </a:cxn>
                  <a:cxn ang="0">
                    <a:pos x="91" y="233"/>
                  </a:cxn>
                  <a:cxn ang="0">
                    <a:pos x="133" y="192"/>
                  </a:cxn>
                  <a:cxn ang="0">
                    <a:pos x="175" y="117"/>
                  </a:cxn>
                  <a:cxn ang="0">
                    <a:pos x="283" y="108"/>
                  </a:cxn>
                  <a:cxn ang="0">
                    <a:pos x="350" y="50"/>
                  </a:cxn>
                  <a:cxn ang="0">
                    <a:pos x="375" y="33"/>
                  </a:cxn>
                  <a:cxn ang="0">
                    <a:pos x="400" y="0"/>
                  </a:cxn>
                </a:cxnLst>
                <a:rect l="0" t="0" r="r" b="b"/>
                <a:pathLst>
                  <a:path w="400" h="233">
                    <a:moveTo>
                      <a:pt x="0" y="208"/>
                    </a:moveTo>
                    <a:cubicBezTo>
                      <a:pt x="30" y="216"/>
                      <a:pt x="61" y="223"/>
                      <a:pt x="91" y="233"/>
                    </a:cubicBezTo>
                    <a:cubicBezTo>
                      <a:pt x="116" y="217"/>
                      <a:pt x="119" y="220"/>
                      <a:pt x="133" y="192"/>
                    </a:cubicBezTo>
                    <a:cubicBezTo>
                      <a:pt x="144" y="170"/>
                      <a:pt x="144" y="125"/>
                      <a:pt x="175" y="117"/>
                    </a:cubicBezTo>
                    <a:cubicBezTo>
                      <a:pt x="210" y="108"/>
                      <a:pt x="247" y="111"/>
                      <a:pt x="283" y="108"/>
                    </a:cubicBezTo>
                    <a:cubicBezTo>
                      <a:pt x="311" y="66"/>
                      <a:pt x="291" y="89"/>
                      <a:pt x="350" y="50"/>
                    </a:cubicBezTo>
                    <a:cubicBezTo>
                      <a:pt x="358" y="44"/>
                      <a:pt x="375" y="33"/>
                      <a:pt x="375" y="33"/>
                    </a:cubicBezTo>
                    <a:cubicBezTo>
                      <a:pt x="386" y="2"/>
                      <a:pt x="376" y="12"/>
                      <a:pt x="400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04" name="Oval 104"/>
              <p:cNvSpPr>
                <a:spLocks noChangeArrowheads="1"/>
              </p:cNvSpPr>
              <p:nvPr/>
            </p:nvSpPr>
            <p:spPr bwMode="auto">
              <a:xfrm>
                <a:off x="2018" y="3595"/>
                <a:ext cx="998" cy="407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48105" name="Rectangle 105"/>
            <p:cNvSpPr>
              <a:spLocks noChangeArrowheads="1"/>
            </p:cNvSpPr>
            <p:nvPr/>
          </p:nvSpPr>
          <p:spPr bwMode="auto">
            <a:xfrm>
              <a:off x="383" y="772"/>
              <a:ext cx="1584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6.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เดินและทำงานแต่ไม่เกิน </a:t>
              </a:r>
              <a:r>
                <a:rPr lang="en-US" sz="2000" b="1" smtClean="0">
                  <a:solidFill>
                    <a:srgbClr val="000000"/>
                  </a:solidFill>
                  <a:latin typeface="Angsana New" pitchFamily="18" charset="-34"/>
                </a:rPr>
                <a:t>1 </a:t>
              </a: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วินาที เช่น กดสวิตซ์ระหว่างเดิน</a:t>
              </a:r>
              <a:endParaRPr lang="en-US" sz="2000" b="1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8106" name="Rectangle 106"/>
            <p:cNvSpPr>
              <a:spLocks noChangeArrowheads="1"/>
            </p:cNvSpPr>
            <p:nvPr/>
          </p:nvSpPr>
          <p:spPr bwMode="auto">
            <a:xfrm>
              <a:off x="3525" y="791"/>
              <a:ext cx="2016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th-TH" sz="2000" b="1" smtClean="0">
                  <a:solidFill>
                    <a:srgbClr val="000000"/>
                  </a:solidFill>
                  <a:latin typeface="Angsana New" pitchFamily="18" charset="-34"/>
                </a:rPr>
                <a:t>เขียนวงกลมในจุดเวลาที่มีการทำงาน ลงในเส้นการเดิน</a:t>
              </a:r>
              <a:endParaRPr lang="en-US" sz="2000" b="1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  <p:sp>
          <p:nvSpPr>
            <p:cNvPr id="2048107" name="Line 107"/>
            <p:cNvSpPr>
              <a:spLocks noChangeShapeType="1"/>
            </p:cNvSpPr>
            <p:nvPr/>
          </p:nvSpPr>
          <p:spPr bwMode="auto">
            <a:xfrm>
              <a:off x="385" y="754"/>
              <a:ext cx="50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grpSp>
          <p:nvGrpSpPr>
            <p:cNvPr id="8" name="Group 108"/>
            <p:cNvGrpSpPr>
              <a:grpSpLocks/>
            </p:cNvGrpSpPr>
            <p:nvPr/>
          </p:nvGrpSpPr>
          <p:grpSpPr bwMode="auto">
            <a:xfrm>
              <a:off x="2198" y="839"/>
              <a:ext cx="1200" cy="342"/>
              <a:chOff x="2109" y="3678"/>
              <a:chExt cx="1200" cy="342"/>
            </a:xfrm>
          </p:grpSpPr>
          <p:sp>
            <p:nvSpPr>
              <p:cNvPr id="2048109" name="Line 109"/>
              <p:cNvSpPr>
                <a:spLocks noChangeShapeType="1"/>
              </p:cNvSpPr>
              <p:nvPr/>
            </p:nvSpPr>
            <p:spPr bwMode="auto">
              <a:xfrm>
                <a:off x="2109" y="377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10" name="Line 110"/>
              <p:cNvSpPr>
                <a:spLocks noChangeShapeType="1"/>
              </p:cNvSpPr>
              <p:nvPr/>
            </p:nvSpPr>
            <p:spPr bwMode="auto">
              <a:xfrm>
                <a:off x="2109" y="3822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11" name="Line 111"/>
              <p:cNvSpPr>
                <a:spLocks noChangeShapeType="1"/>
              </p:cNvSpPr>
              <p:nvPr/>
            </p:nvSpPr>
            <p:spPr bwMode="auto">
              <a:xfrm>
                <a:off x="2493" y="3918"/>
                <a:ext cx="144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12" name="Freeform 112"/>
              <p:cNvSpPr>
                <a:spLocks/>
              </p:cNvSpPr>
              <p:nvPr/>
            </p:nvSpPr>
            <p:spPr bwMode="auto">
              <a:xfrm>
                <a:off x="2637" y="3918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13" name="Line 113"/>
              <p:cNvSpPr>
                <a:spLocks noChangeShapeType="1"/>
              </p:cNvSpPr>
              <p:nvPr/>
            </p:nvSpPr>
            <p:spPr bwMode="auto">
              <a:xfrm>
                <a:off x="2685" y="3966"/>
                <a:ext cx="288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14" name="Line 114"/>
              <p:cNvSpPr>
                <a:spLocks noChangeShapeType="1"/>
              </p:cNvSpPr>
              <p:nvPr/>
            </p:nvSpPr>
            <p:spPr bwMode="auto">
              <a:xfrm>
                <a:off x="3069" y="4014"/>
                <a:ext cx="96" cy="0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15" name="Line 115"/>
              <p:cNvSpPr>
                <a:spLocks noChangeShapeType="1"/>
              </p:cNvSpPr>
              <p:nvPr/>
            </p:nvSpPr>
            <p:spPr bwMode="auto">
              <a:xfrm>
                <a:off x="3309" y="3774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16" name="Freeform 116"/>
              <p:cNvSpPr>
                <a:spLocks/>
              </p:cNvSpPr>
              <p:nvPr/>
            </p:nvSpPr>
            <p:spPr bwMode="auto">
              <a:xfrm>
                <a:off x="3165" y="3774"/>
                <a:ext cx="144" cy="240"/>
              </a:xfrm>
              <a:custGeom>
                <a:avLst/>
                <a:gdLst/>
                <a:ahLst/>
                <a:cxnLst>
                  <a:cxn ang="0">
                    <a:pos x="0" y="240"/>
                  </a:cxn>
                  <a:cxn ang="0">
                    <a:pos x="48" y="192"/>
                  </a:cxn>
                  <a:cxn ang="0">
                    <a:pos x="48" y="144"/>
                  </a:cxn>
                  <a:cxn ang="0">
                    <a:pos x="96" y="96"/>
                  </a:cxn>
                  <a:cxn ang="0">
                    <a:pos x="96" y="48"/>
                  </a:cxn>
                  <a:cxn ang="0">
                    <a:pos x="144" y="0"/>
                  </a:cxn>
                </a:cxnLst>
                <a:rect l="0" t="0" r="r" b="b"/>
                <a:pathLst>
                  <a:path w="144" h="240">
                    <a:moveTo>
                      <a:pt x="0" y="240"/>
                    </a:moveTo>
                    <a:cubicBezTo>
                      <a:pt x="20" y="224"/>
                      <a:pt x="40" y="208"/>
                      <a:pt x="48" y="192"/>
                    </a:cubicBezTo>
                    <a:cubicBezTo>
                      <a:pt x="56" y="176"/>
                      <a:pt x="40" y="160"/>
                      <a:pt x="48" y="144"/>
                    </a:cubicBezTo>
                    <a:cubicBezTo>
                      <a:pt x="56" y="128"/>
                      <a:pt x="88" y="112"/>
                      <a:pt x="96" y="96"/>
                    </a:cubicBezTo>
                    <a:cubicBezTo>
                      <a:pt x="104" y="80"/>
                      <a:pt x="88" y="64"/>
                      <a:pt x="96" y="48"/>
                    </a:cubicBezTo>
                    <a:cubicBezTo>
                      <a:pt x="104" y="32"/>
                      <a:pt x="136" y="8"/>
                      <a:pt x="144" y="0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17" name="Line 117"/>
              <p:cNvSpPr>
                <a:spLocks noChangeShapeType="1"/>
              </p:cNvSpPr>
              <p:nvPr/>
            </p:nvSpPr>
            <p:spPr bwMode="auto">
              <a:xfrm>
                <a:off x="2973" y="3966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18" name="Line 118"/>
              <p:cNvSpPr>
                <a:spLocks noChangeShapeType="1"/>
              </p:cNvSpPr>
              <p:nvPr/>
            </p:nvSpPr>
            <p:spPr bwMode="auto">
              <a:xfrm>
                <a:off x="2109" y="3966"/>
                <a:ext cx="336" cy="0"/>
              </a:xfrm>
              <a:prstGeom prst="line">
                <a:avLst/>
              </a:prstGeom>
              <a:noFill/>
              <a:ln w="15875">
                <a:solidFill>
                  <a:srgbClr val="000000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19" name="Freeform 119"/>
              <p:cNvSpPr>
                <a:spLocks/>
              </p:cNvSpPr>
              <p:nvPr/>
            </p:nvSpPr>
            <p:spPr bwMode="auto">
              <a:xfrm>
                <a:off x="2973" y="3966"/>
                <a:ext cx="54" cy="5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8" y="48"/>
                  </a:cxn>
                  <a:cxn ang="0">
                    <a:pos x="56" y="48"/>
                  </a:cxn>
                </a:cxnLst>
                <a:rect l="0" t="0" r="r" b="b"/>
                <a:pathLst>
                  <a:path w="56" h="56">
                    <a:moveTo>
                      <a:pt x="8" y="0"/>
                    </a:moveTo>
                    <a:cubicBezTo>
                      <a:pt x="4" y="20"/>
                      <a:pt x="0" y="40"/>
                      <a:pt x="8" y="48"/>
                    </a:cubicBezTo>
                    <a:cubicBezTo>
                      <a:pt x="16" y="56"/>
                      <a:pt x="48" y="48"/>
                      <a:pt x="56" y="48"/>
                    </a:cubicBez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20" name="WordArt 120"/>
              <p:cNvSpPr>
                <a:spLocks noChangeArrowheads="1" noChangeShapeType="1" noTextEdit="1"/>
              </p:cNvSpPr>
              <p:nvPr/>
            </p:nvSpPr>
            <p:spPr bwMode="auto">
              <a:xfrm rot="10800000" flipV="1">
                <a:off x="3117" y="3678"/>
                <a:ext cx="144" cy="96"/>
              </a:xfrm>
              <a:prstGeom prst="rect">
                <a:avLst/>
              </a:prstGeom>
            </p:spPr>
            <p:txBody>
              <a:bodyPr wrap="none" fromWordArt="1">
                <a:prstTxWarp prst="textPlain">
                  <a:avLst>
                    <a:gd name="adj" fmla="val 50000"/>
                  </a:avLst>
                </a:prstTxWarp>
              </a:bodyPr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3600" b="1" kern="10" smtClean="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solidFill>
                      <a:srgbClr val="000000"/>
                    </a:solidFill>
                    <a:latin typeface="Arial Black"/>
                  </a:rPr>
                  <a:t>T.T</a:t>
                </a:r>
                <a:endParaRPr lang="th-TH" sz="3600" b="1" kern="10" smtClean="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Arial Black"/>
                </a:endParaRPr>
              </a:p>
            </p:txBody>
          </p:sp>
          <p:sp>
            <p:nvSpPr>
              <p:cNvPr id="2048121" name="Freeform 121"/>
              <p:cNvSpPr>
                <a:spLocks/>
              </p:cNvSpPr>
              <p:nvPr/>
            </p:nvSpPr>
            <p:spPr bwMode="auto">
              <a:xfrm>
                <a:off x="2240" y="3814"/>
                <a:ext cx="251" cy="111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6" y="16"/>
                  </a:cxn>
                  <a:cxn ang="0">
                    <a:pos x="59" y="66"/>
                  </a:cxn>
                  <a:cxn ang="0">
                    <a:pos x="134" y="58"/>
                  </a:cxn>
                  <a:cxn ang="0">
                    <a:pos x="209" y="91"/>
                  </a:cxn>
                  <a:cxn ang="0">
                    <a:pos x="251" y="108"/>
                  </a:cxn>
                </a:cxnLst>
                <a:rect l="0" t="0" r="r" b="b"/>
                <a:pathLst>
                  <a:path w="251" h="111">
                    <a:moveTo>
                      <a:pt x="0" y="0"/>
                    </a:moveTo>
                    <a:cubicBezTo>
                      <a:pt x="9" y="5"/>
                      <a:pt x="19" y="8"/>
                      <a:pt x="26" y="16"/>
                    </a:cubicBezTo>
                    <a:cubicBezTo>
                      <a:pt x="39" y="31"/>
                      <a:pt x="59" y="66"/>
                      <a:pt x="59" y="66"/>
                    </a:cubicBezTo>
                    <a:cubicBezTo>
                      <a:pt x="117" y="47"/>
                      <a:pt x="92" y="45"/>
                      <a:pt x="134" y="58"/>
                    </a:cubicBezTo>
                    <a:cubicBezTo>
                      <a:pt x="149" y="104"/>
                      <a:pt x="164" y="101"/>
                      <a:pt x="209" y="91"/>
                    </a:cubicBezTo>
                    <a:cubicBezTo>
                      <a:pt x="239" y="111"/>
                      <a:pt x="224" y="108"/>
                      <a:pt x="251" y="108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22" name="Oval 122"/>
              <p:cNvSpPr>
                <a:spLocks noChangeArrowheads="1"/>
              </p:cNvSpPr>
              <p:nvPr/>
            </p:nvSpPr>
            <p:spPr bwMode="auto">
              <a:xfrm>
                <a:off x="2301" y="3822"/>
                <a:ext cx="96" cy="9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48123" name="Oval 123"/>
              <p:cNvSpPr>
                <a:spLocks noChangeArrowheads="1"/>
              </p:cNvSpPr>
              <p:nvPr/>
            </p:nvSpPr>
            <p:spPr bwMode="auto">
              <a:xfrm>
                <a:off x="2199" y="3803"/>
                <a:ext cx="318" cy="136"/>
              </a:xfrm>
              <a:prstGeom prst="ellips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48124" name="Line 124"/>
            <p:cNvSpPr>
              <a:spLocks noChangeShapeType="1"/>
            </p:cNvSpPr>
            <p:nvPr/>
          </p:nvSpPr>
          <p:spPr bwMode="auto">
            <a:xfrm>
              <a:off x="2103" y="754"/>
              <a:ext cx="0" cy="3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8125" name="Line 125"/>
            <p:cNvSpPr>
              <a:spLocks noChangeShapeType="1"/>
            </p:cNvSpPr>
            <p:nvPr/>
          </p:nvSpPr>
          <p:spPr bwMode="auto">
            <a:xfrm>
              <a:off x="3487" y="754"/>
              <a:ext cx="0" cy="344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48126" name="Rectangle 126"/>
            <p:cNvSpPr>
              <a:spLocks noChangeArrowheads="1"/>
            </p:cNvSpPr>
            <p:nvPr/>
          </p:nvSpPr>
          <p:spPr bwMode="auto">
            <a:xfrm>
              <a:off x="383" y="3761"/>
              <a:ext cx="1499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Human continually working 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(without stopping)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8127" name="Rectangle 127"/>
            <p:cNvSpPr>
              <a:spLocks noChangeArrowheads="1"/>
            </p:cNvSpPr>
            <p:nvPr/>
          </p:nvSpPr>
          <p:spPr bwMode="auto">
            <a:xfrm>
              <a:off x="3544" y="3921"/>
              <a:ext cx="1908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Write down the continuous working step with continuous time line</a:t>
              </a:r>
            </a:p>
          </p:txBody>
        </p:sp>
        <p:sp>
          <p:nvSpPr>
            <p:cNvPr id="2048128" name="Rectangle 128"/>
            <p:cNvSpPr>
              <a:spLocks noChangeArrowheads="1"/>
            </p:cNvSpPr>
            <p:nvPr/>
          </p:nvSpPr>
          <p:spPr bwMode="auto">
            <a:xfrm>
              <a:off x="353" y="3286"/>
              <a:ext cx="2268" cy="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Human works while machine is Processing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(ex. Setting work into painting booth)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8129" name="Rectangle 129"/>
            <p:cNvSpPr>
              <a:spLocks noChangeArrowheads="1"/>
            </p:cNvSpPr>
            <p:nvPr/>
          </p:nvSpPr>
          <p:spPr bwMode="auto">
            <a:xfrm>
              <a:off x="3539" y="3355"/>
              <a:ext cx="1969" cy="2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Write down the human working line over machine working line</a:t>
              </a:r>
            </a:p>
          </p:txBody>
        </p:sp>
        <p:sp>
          <p:nvSpPr>
            <p:cNvPr id="2048130" name="Rectangle 130"/>
            <p:cNvSpPr>
              <a:spLocks noChangeArrowheads="1"/>
            </p:cNvSpPr>
            <p:nvPr/>
          </p:nvSpPr>
          <p:spPr bwMode="auto">
            <a:xfrm>
              <a:off x="356" y="2742"/>
              <a:ext cx="1860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Working with the same process many times (ex. 3 times Nut welding )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8131" name="Rectangle 131"/>
            <p:cNvSpPr>
              <a:spLocks noChangeArrowheads="1"/>
            </p:cNvSpPr>
            <p:nvPr/>
          </p:nvSpPr>
          <p:spPr bwMode="auto">
            <a:xfrm>
              <a:off x="3528" y="2614"/>
              <a:ext cx="1807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Write down number to know how many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times they do the job</a:t>
              </a:r>
            </a:p>
          </p:txBody>
        </p:sp>
        <p:sp>
          <p:nvSpPr>
            <p:cNvPr id="2048132" name="Rectangle 132"/>
            <p:cNvSpPr>
              <a:spLocks noChangeArrowheads="1"/>
            </p:cNvSpPr>
            <p:nvPr/>
          </p:nvSpPr>
          <p:spPr bwMode="auto">
            <a:xfrm>
              <a:off x="364" y="2056"/>
              <a:ext cx="1271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Forward and back working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8133" name="Rectangle 133"/>
            <p:cNvSpPr>
              <a:spLocks noChangeArrowheads="1"/>
            </p:cNvSpPr>
            <p:nvPr/>
          </p:nvSpPr>
          <p:spPr bwMode="auto">
            <a:xfrm>
              <a:off x="3533" y="2163"/>
              <a:ext cx="1812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Draw working line back to the process that operator go back to do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8134" name="Rectangle 134"/>
            <p:cNvSpPr>
              <a:spLocks noChangeArrowheads="1"/>
            </p:cNvSpPr>
            <p:nvPr/>
          </p:nvSpPr>
          <p:spPr bwMode="auto">
            <a:xfrm>
              <a:off x="364" y="1578"/>
              <a:ext cx="1587" cy="3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Work while walking (ex. Assembly while walking)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8135" name="Rectangle 135"/>
            <p:cNvSpPr>
              <a:spLocks noChangeArrowheads="1"/>
            </p:cNvSpPr>
            <p:nvPr/>
          </p:nvSpPr>
          <p:spPr bwMode="auto">
            <a:xfrm>
              <a:off x="3534" y="1572"/>
              <a:ext cx="2043" cy="3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Write working line over walking line by</a:t>
              </a:r>
            </a:p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Using time you have measured compare</a:t>
              </a:r>
            </a:p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with the time scale.   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8136" name="Text Box 136"/>
            <p:cNvSpPr txBox="1">
              <a:spLocks noChangeArrowheads="1"/>
            </p:cNvSpPr>
            <p:nvPr/>
          </p:nvSpPr>
          <p:spPr bwMode="auto">
            <a:xfrm>
              <a:off x="369" y="1013"/>
              <a:ext cx="199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Work while walking (working time is not</a:t>
              </a:r>
            </a:p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over 1 sec)</a:t>
              </a:r>
              <a:r>
                <a:rPr lang="th-TH" altLang="ja-JP" sz="1200" smtClean="0">
                  <a:solidFill>
                    <a:srgbClr val="000000"/>
                  </a:solidFill>
                  <a:ea typeface="MS PGothic" pitchFamily="34" charset="-128"/>
                </a:rPr>
                <a:t> </a:t>
              </a: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(ex.</a:t>
              </a:r>
              <a:r>
                <a:rPr lang="th-TH" altLang="ja-JP" sz="1200" smtClean="0">
                  <a:solidFill>
                    <a:srgbClr val="000000"/>
                  </a:solidFill>
                  <a:ea typeface="MS PGothic" pitchFamily="34" charset="-128"/>
                </a:rPr>
                <a:t> </a:t>
              </a:r>
              <a:r>
                <a:rPr lang="en-US" altLang="ja-JP" sz="1200" smtClean="0">
                  <a:solidFill>
                    <a:srgbClr val="000000"/>
                  </a:solidFill>
                  <a:ea typeface="MS PGothic" pitchFamily="34" charset="-128"/>
                </a:rPr>
                <a:t>Push switch while walking)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  <p:sp>
          <p:nvSpPr>
            <p:cNvPr id="2048137" name="Rectangle 137"/>
            <p:cNvSpPr>
              <a:spLocks noChangeArrowheads="1"/>
            </p:cNvSpPr>
            <p:nvPr/>
          </p:nvSpPr>
          <p:spPr bwMode="auto">
            <a:xfrm>
              <a:off x="3534" y="1026"/>
              <a:ext cx="1995" cy="2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  <a:ea typeface="MS PGothic" pitchFamily="34" charset="-128"/>
                </a:rPr>
                <a:t>Write the circle at the point of operation over walking line</a:t>
              </a:r>
              <a:endParaRPr lang="th-TH" sz="1200" smtClean="0">
                <a:solidFill>
                  <a:srgbClr val="000000"/>
                </a:solidFill>
                <a:ea typeface="MS PGothic" pitchFamily="34" charset="-128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 bwMode="auto">
          <a:xfrm>
            <a:off x="1574500" y="5045570"/>
            <a:ext cx="3711880" cy="598008"/>
          </a:xfrm>
          <a:prstGeom prst="rect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ngsana New" pitchFamily="18" charset="-34"/>
            </a:endParaRPr>
          </a:p>
        </p:txBody>
      </p:sp>
      <p:sp>
        <p:nvSpPr>
          <p:cNvPr id="2017282" name="Rectangle 2"/>
          <p:cNvSpPr>
            <a:spLocks noChangeArrowheads="1"/>
          </p:cNvSpPr>
          <p:nvPr/>
        </p:nvSpPr>
        <p:spPr bwMode="auto">
          <a:xfrm>
            <a:off x="0" y="152400"/>
            <a:ext cx="6858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5400" b="1">
              <a:solidFill>
                <a:srgbClr val="000000"/>
              </a:solidFill>
              <a:latin typeface="Times New Roman" pitchFamily="18" charset="0"/>
              <a:cs typeface="DilleniaUPC" pitchFamily="18" charset="-34"/>
            </a:endParaRPr>
          </a:p>
        </p:txBody>
      </p:sp>
      <p:sp>
        <p:nvSpPr>
          <p:cNvPr id="2017283" name="Line 3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17284" name="Text Box 4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17286" name="Text Box 6"/>
          <p:cNvSpPr txBox="1">
            <a:spLocks noChangeArrowheads="1"/>
          </p:cNvSpPr>
          <p:nvPr/>
        </p:nvSpPr>
        <p:spPr bwMode="auto">
          <a:xfrm>
            <a:off x="179388" y="1268413"/>
            <a:ext cx="4608512" cy="57943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ngsana New" pitchFamily="18" charset="-34"/>
              </a:rPr>
              <a:t>งานมาตรฐาน</a:t>
            </a:r>
            <a:endParaRPr lang="en-US" sz="32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ngsana New" pitchFamily="18" charset="-34"/>
            </a:endParaRPr>
          </a:p>
        </p:txBody>
      </p:sp>
      <p:sp>
        <p:nvSpPr>
          <p:cNvPr id="2017287" name="Text Box 7"/>
          <p:cNvSpPr txBox="1">
            <a:spLocks noChangeArrowheads="1"/>
          </p:cNvSpPr>
          <p:nvPr/>
        </p:nvSpPr>
        <p:spPr bwMode="auto">
          <a:xfrm>
            <a:off x="1835150" y="1484313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Standardized Work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17288" name="Text Box 8"/>
          <p:cNvSpPr txBox="1">
            <a:spLocks noChangeArrowheads="1"/>
          </p:cNvSpPr>
          <p:nvPr/>
        </p:nvSpPr>
        <p:spPr bwMode="auto">
          <a:xfrm>
            <a:off x="1095375" y="2271713"/>
            <a:ext cx="20177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1)</a:t>
            </a: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ตารางจับเวลา</a:t>
            </a:r>
          </a:p>
        </p:txBody>
      </p:sp>
      <p:sp>
        <p:nvSpPr>
          <p:cNvPr id="2017289" name="Text Box 9"/>
          <p:cNvSpPr txBox="1">
            <a:spLocks noChangeArrowheads="1"/>
          </p:cNvSpPr>
          <p:nvPr/>
        </p:nvSpPr>
        <p:spPr bwMode="auto">
          <a:xfrm>
            <a:off x="1095375" y="3027363"/>
            <a:ext cx="40116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2)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เอกสารงานมาตรฐาน 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รายการ</a:t>
            </a:r>
          </a:p>
        </p:txBody>
      </p:sp>
      <p:sp>
        <p:nvSpPr>
          <p:cNvPr id="2017290" name="Text Box 10"/>
          <p:cNvSpPr txBox="1">
            <a:spLocks noChangeArrowheads="1"/>
          </p:cNvSpPr>
          <p:nvPr/>
        </p:nvSpPr>
        <p:spPr bwMode="auto">
          <a:xfrm>
            <a:off x="1095375" y="5762625"/>
            <a:ext cx="25241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แผนภาพภาระงาน</a:t>
            </a:r>
          </a:p>
        </p:txBody>
      </p:sp>
      <p:sp>
        <p:nvSpPr>
          <p:cNvPr id="2017291" name="Text Box 11"/>
          <p:cNvSpPr txBox="1">
            <a:spLocks noChangeArrowheads="1"/>
          </p:cNvSpPr>
          <p:nvPr/>
        </p:nvSpPr>
        <p:spPr bwMode="auto">
          <a:xfrm>
            <a:off x="1763713" y="3687763"/>
            <a:ext cx="60944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2.1)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ใบแสดงความสามารถในการทำงานของเครื่องจักร</a:t>
            </a:r>
          </a:p>
        </p:txBody>
      </p:sp>
      <p:sp>
        <p:nvSpPr>
          <p:cNvPr id="2017292" name="Text Box 12"/>
          <p:cNvSpPr txBox="1">
            <a:spLocks noChangeArrowheads="1"/>
          </p:cNvSpPr>
          <p:nvPr/>
        </p:nvSpPr>
        <p:spPr bwMode="auto">
          <a:xfrm>
            <a:off x="1763713" y="4314825"/>
            <a:ext cx="33289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2.2)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ตารางงานมาตรฐานผสม</a:t>
            </a:r>
          </a:p>
        </p:txBody>
      </p:sp>
      <p:sp>
        <p:nvSpPr>
          <p:cNvPr id="2017293" name="Text Box 13"/>
          <p:cNvSpPr txBox="1">
            <a:spLocks noChangeArrowheads="1"/>
          </p:cNvSpPr>
          <p:nvPr/>
        </p:nvSpPr>
        <p:spPr bwMode="auto">
          <a:xfrm>
            <a:off x="1763713" y="4949825"/>
            <a:ext cx="31289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2.3)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แผนภาพงานมาตรฐาน</a:t>
            </a:r>
          </a:p>
        </p:txBody>
      </p:sp>
      <p:sp>
        <p:nvSpPr>
          <p:cNvPr id="2017294" name="Text Box 14"/>
          <p:cNvSpPr txBox="1">
            <a:spLocks noChangeArrowheads="1"/>
          </p:cNvSpPr>
          <p:nvPr/>
        </p:nvSpPr>
        <p:spPr bwMode="auto">
          <a:xfrm>
            <a:off x="3081338" y="2471738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</a:rPr>
              <a:t>Time Measurement Sheet</a:t>
            </a:r>
            <a:endParaRPr lang="th-TH" sz="1200" b="1" dirty="0">
              <a:solidFill>
                <a:srgbClr val="000000"/>
              </a:solidFill>
            </a:endParaRPr>
          </a:p>
        </p:txBody>
      </p:sp>
      <p:sp>
        <p:nvSpPr>
          <p:cNvPr id="2017295" name="Text Box 15"/>
          <p:cNvSpPr txBox="1">
            <a:spLocks noChangeArrowheads="1"/>
          </p:cNvSpPr>
          <p:nvPr/>
        </p:nvSpPr>
        <p:spPr bwMode="auto">
          <a:xfrm>
            <a:off x="5076825" y="321310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3 Ten Set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17296" name="Text Box 16"/>
          <p:cNvSpPr txBox="1">
            <a:spLocks noChangeArrowheads="1"/>
          </p:cNvSpPr>
          <p:nvPr/>
        </p:nvSpPr>
        <p:spPr bwMode="auto">
          <a:xfrm>
            <a:off x="2266950" y="412750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Machine Capacity Sheet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7" name="Text Box 17"/>
          <p:cNvSpPr txBox="1">
            <a:spLocks noChangeArrowheads="1"/>
          </p:cNvSpPr>
          <p:nvPr/>
        </p:nvSpPr>
        <p:spPr bwMode="auto">
          <a:xfrm>
            <a:off x="2266950" y="4772025"/>
            <a:ext cx="29098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Combination Table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8" name="Text Box 18"/>
          <p:cNvSpPr txBox="1">
            <a:spLocks noChangeArrowheads="1"/>
          </p:cNvSpPr>
          <p:nvPr/>
        </p:nvSpPr>
        <p:spPr bwMode="auto">
          <a:xfrm>
            <a:off x="2266950" y="5411788"/>
            <a:ext cx="29098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Chart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9" name="Text Box 19"/>
          <p:cNvSpPr txBox="1">
            <a:spLocks noChangeArrowheads="1"/>
          </p:cNvSpPr>
          <p:nvPr/>
        </p:nvSpPr>
        <p:spPr bwMode="auto">
          <a:xfrm>
            <a:off x="3597275" y="593725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Yamazumi Chart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000100" y="2214554"/>
            <a:ext cx="4071966" cy="8572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1" i="0" u="none" strike="noStrike" cap="none" normalizeH="0" baseline="0" dirty="0" smtClean="0">
              <a:ln>
                <a:noFill/>
              </a:ln>
              <a:noFill/>
              <a:effectLst/>
              <a:latin typeface="Arial" pitchFamily="34" charset="0"/>
              <a:cs typeface="Angsana New" pitchFamily="18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026" name="Text Box 2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49028" name="Line 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49029" name="Text Box 5"/>
          <p:cNvSpPr txBox="1">
            <a:spLocks noChangeArrowheads="1"/>
          </p:cNvSpPr>
          <p:nvPr/>
        </p:nvSpPr>
        <p:spPr bwMode="auto">
          <a:xfrm>
            <a:off x="127000" y="1065213"/>
            <a:ext cx="312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smtClean="0">
                <a:solidFill>
                  <a:srgbClr val="000000"/>
                </a:solidFill>
                <a:latin typeface="Angsana New" pitchFamily="18" charset="-34"/>
              </a:rPr>
              <a:t>2.3) </a:t>
            </a:r>
            <a:r>
              <a:rPr lang="th-TH" sz="3200" smtClean="0">
                <a:solidFill>
                  <a:srgbClr val="000000"/>
                </a:solidFill>
                <a:latin typeface="Angsana New" pitchFamily="18" charset="-34"/>
              </a:rPr>
              <a:t>แผนภาพงานมาตรฐาน</a:t>
            </a:r>
          </a:p>
        </p:txBody>
      </p:sp>
      <p:sp>
        <p:nvSpPr>
          <p:cNvPr id="2049030" name="Text Box 6"/>
          <p:cNvSpPr txBox="1">
            <a:spLocks noChangeArrowheads="1"/>
          </p:cNvSpPr>
          <p:nvPr/>
        </p:nvSpPr>
        <p:spPr bwMode="auto">
          <a:xfrm>
            <a:off x="630238" y="1527175"/>
            <a:ext cx="29098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Standardized Work Chart</a:t>
            </a:r>
            <a:endParaRPr lang="th-TH" sz="1200" smtClean="0">
              <a:solidFill>
                <a:srgbClr val="000000"/>
              </a:solidFill>
            </a:endParaRPr>
          </a:p>
        </p:txBody>
      </p:sp>
      <p:pic>
        <p:nvPicPr>
          <p:cNvPr id="2049031" name="Picture 4"/>
          <p:cNvPicPr>
            <a:picLocks noChangeAspect="1" noChangeArrowheads="1"/>
          </p:cNvPicPr>
          <p:nvPr/>
        </p:nvPicPr>
        <p:blipFill>
          <a:blip r:embed="rId2" cstate="print">
            <a:lum bright="6000" contrast="36000"/>
          </a:blip>
          <a:srcRect l="2422" t="13965" r="18985" b="10742"/>
          <a:stretch>
            <a:fillRect/>
          </a:stretch>
        </p:blipFill>
        <p:spPr bwMode="auto">
          <a:xfrm>
            <a:off x="247650" y="1989138"/>
            <a:ext cx="5403850" cy="431323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sp>
        <p:nvSpPr>
          <p:cNvPr id="2049032" name="Text Box 8"/>
          <p:cNvSpPr txBox="1">
            <a:spLocks noChangeArrowheads="1"/>
          </p:cNvSpPr>
          <p:nvPr/>
        </p:nvSpPr>
        <p:spPr bwMode="auto">
          <a:xfrm>
            <a:off x="5724525" y="1912938"/>
            <a:ext cx="2968625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1.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วันที่บันทึก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2.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ชื่อไลน์ผลิต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3.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หมายเลขชิ้นงาน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4.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ชื่อชิ้นงาน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5.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ชื่อผู้บันทึก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6.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บันทึกก่อน</a:t>
            </a: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หลังปรับปรุง</a:t>
            </a:r>
            <a:endParaRPr lang="en-US" sz="2200" smtClean="0">
              <a:solidFill>
                <a:srgbClr val="000000"/>
              </a:solidFill>
              <a:latin typeface="Angsana New" pitchFamily="18" charset="-34"/>
            </a:endParaRP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7.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ขั้นตอนที่ทำการบันทึก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8.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ภาพแสดงการทำงานมาตรฐาน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9.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เครื่องหมายตรวจสอบคุณภาพ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10.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เครื่องหมายความปลอดภัย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11.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มาตรฐานงานค้างไลน์</a:t>
            </a:r>
          </a:p>
          <a:p>
            <a:pPr marL="533400" indent="-533400"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2200" smtClean="0">
                <a:solidFill>
                  <a:srgbClr val="000000"/>
                </a:solidFill>
                <a:latin typeface="Angsana New" pitchFamily="18" charset="-34"/>
              </a:rPr>
              <a:t>12.</a:t>
            </a:r>
            <a:r>
              <a:rPr lang="th-TH" sz="2200" smtClean="0">
                <a:solidFill>
                  <a:srgbClr val="000000"/>
                </a:solidFill>
                <a:latin typeface="Angsana New" pitchFamily="18" charset="-34"/>
              </a:rPr>
              <a:t>จำนวนงานที่ค้างไลน์</a:t>
            </a:r>
          </a:p>
        </p:txBody>
      </p:sp>
      <p:sp>
        <p:nvSpPr>
          <p:cNvPr id="2049033" name="Text Box 9"/>
          <p:cNvSpPr txBox="1">
            <a:spLocks noChangeArrowheads="1"/>
          </p:cNvSpPr>
          <p:nvPr/>
        </p:nvSpPr>
        <p:spPr bwMode="auto">
          <a:xfrm>
            <a:off x="6948488" y="1920875"/>
            <a:ext cx="1368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Recorded Date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34" name="Text Box 10"/>
          <p:cNvSpPr txBox="1">
            <a:spLocks noChangeArrowheads="1"/>
          </p:cNvSpPr>
          <p:nvPr/>
        </p:nvSpPr>
        <p:spPr bwMode="auto">
          <a:xfrm>
            <a:off x="6948488" y="2286000"/>
            <a:ext cx="1368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Line Name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35" name="Text Box 11"/>
          <p:cNvSpPr txBox="1">
            <a:spLocks noChangeArrowheads="1"/>
          </p:cNvSpPr>
          <p:nvPr/>
        </p:nvSpPr>
        <p:spPr bwMode="auto">
          <a:xfrm>
            <a:off x="7235825" y="2641600"/>
            <a:ext cx="1368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Part No.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36" name="Text Box 12"/>
          <p:cNvSpPr txBox="1">
            <a:spLocks noChangeArrowheads="1"/>
          </p:cNvSpPr>
          <p:nvPr/>
        </p:nvSpPr>
        <p:spPr bwMode="auto">
          <a:xfrm>
            <a:off x="6765925" y="3027363"/>
            <a:ext cx="1368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Part Name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37" name="Text Box 13"/>
          <p:cNvSpPr txBox="1">
            <a:spLocks noChangeArrowheads="1"/>
          </p:cNvSpPr>
          <p:nvPr/>
        </p:nvSpPr>
        <p:spPr bwMode="auto">
          <a:xfrm>
            <a:off x="6750050" y="3386138"/>
            <a:ext cx="13684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Recorder Name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38" name="Text Box 14"/>
          <p:cNvSpPr txBox="1">
            <a:spLocks noChangeArrowheads="1"/>
          </p:cNvSpPr>
          <p:nvPr/>
        </p:nvSpPr>
        <p:spPr bwMode="auto">
          <a:xfrm>
            <a:off x="7826375" y="3730625"/>
            <a:ext cx="1117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Before/After Kaizen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39" name="Text Box 15"/>
          <p:cNvSpPr txBox="1">
            <a:spLocks noChangeArrowheads="1"/>
          </p:cNvSpPr>
          <p:nvPr/>
        </p:nvSpPr>
        <p:spPr bwMode="auto">
          <a:xfrm>
            <a:off x="7667625" y="4140200"/>
            <a:ext cx="1152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Work Element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40" name="Text Box 16"/>
          <p:cNvSpPr txBox="1">
            <a:spLocks noChangeArrowheads="1"/>
          </p:cNvSpPr>
          <p:nvPr/>
        </p:nvSpPr>
        <p:spPr bwMode="auto">
          <a:xfrm>
            <a:off x="8116888" y="4424363"/>
            <a:ext cx="11525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Standardized Work Picture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41" name="Text Box 17"/>
          <p:cNvSpPr txBox="1">
            <a:spLocks noChangeArrowheads="1"/>
          </p:cNvSpPr>
          <p:nvPr/>
        </p:nvSpPr>
        <p:spPr bwMode="auto">
          <a:xfrm>
            <a:off x="8116888" y="4784725"/>
            <a:ext cx="8286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Quality Symbol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42" name="Text Box 18"/>
          <p:cNvSpPr txBox="1">
            <a:spLocks noChangeArrowheads="1"/>
          </p:cNvSpPr>
          <p:nvPr/>
        </p:nvSpPr>
        <p:spPr bwMode="auto">
          <a:xfrm>
            <a:off x="7956550" y="5305425"/>
            <a:ext cx="118745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Safety Symbol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43" name="Text Box 19"/>
          <p:cNvSpPr txBox="1">
            <a:spLocks noChangeArrowheads="1"/>
          </p:cNvSpPr>
          <p:nvPr/>
        </p:nvSpPr>
        <p:spPr bwMode="auto">
          <a:xfrm>
            <a:off x="7667625" y="5594350"/>
            <a:ext cx="1873250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Standard Work in</a:t>
            </a:r>
          </a:p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 Process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49044" name="Text Box 20"/>
          <p:cNvSpPr txBox="1">
            <a:spLocks noChangeArrowheads="1"/>
          </p:cNvSpPr>
          <p:nvPr/>
        </p:nvSpPr>
        <p:spPr bwMode="auto">
          <a:xfrm>
            <a:off x="5940425" y="6216650"/>
            <a:ext cx="2809875" cy="338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lnSpc>
                <a:spcPct val="60000"/>
              </a:lnSpc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Quantity of  Work in Process</a:t>
            </a:r>
            <a:endParaRPr lang="th-TH" sz="120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050" name="Picture 4"/>
          <p:cNvPicPr>
            <a:picLocks noChangeAspect="1" noChangeArrowheads="1"/>
          </p:cNvPicPr>
          <p:nvPr/>
        </p:nvPicPr>
        <p:blipFill>
          <a:blip r:embed="rId2" cstate="print">
            <a:lum bright="6000" contrast="36000"/>
          </a:blip>
          <a:srcRect l="2422" t="13965" r="18985" b="10742"/>
          <a:stretch>
            <a:fillRect/>
          </a:stretch>
        </p:blipFill>
        <p:spPr bwMode="auto">
          <a:xfrm>
            <a:off x="247650" y="1989138"/>
            <a:ext cx="5403850" cy="4313237"/>
          </a:xfrm>
          <a:prstGeom prst="rect">
            <a:avLst/>
          </a:prstGeom>
          <a:noFill/>
          <a:ln w="9525">
            <a:solidFill>
              <a:schemeClr val="folHlink"/>
            </a:solidFill>
            <a:miter lim="800000"/>
            <a:headEnd/>
            <a:tailEnd/>
          </a:ln>
          <a:effectLst/>
        </p:spPr>
      </p:pic>
      <p:sp>
        <p:nvSpPr>
          <p:cNvPr id="2050051" name="Text Box 3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0053" name="Line 5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endParaRPr lang="th-TH"/>
          </a:p>
        </p:txBody>
      </p:sp>
      <p:sp>
        <p:nvSpPr>
          <p:cNvPr id="2050054" name="Text Box 6"/>
          <p:cNvSpPr txBox="1">
            <a:spLocks noChangeArrowheads="1"/>
          </p:cNvSpPr>
          <p:nvPr/>
        </p:nvSpPr>
        <p:spPr bwMode="auto">
          <a:xfrm>
            <a:off x="127000" y="1065213"/>
            <a:ext cx="312896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3200" b="0">
                <a:latin typeface="Angsana New" pitchFamily="18" charset="-34"/>
              </a:rPr>
              <a:t>2.3) </a:t>
            </a:r>
            <a:r>
              <a:rPr lang="th-TH" sz="3200" b="0">
                <a:latin typeface="Angsana New" pitchFamily="18" charset="-34"/>
              </a:rPr>
              <a:t>แผนภาพงานมาตรฐาน</a:t>
            </a:r>
          </a:p>
        </p:txBody>
      </p:sp>
      <p:sp>
        <p:nvSpPr>
          <p:cNvPr id="2050055" name="Text Box 7"/>
          <p:cNvSpPr txBox="1">
            <a:spLocks noChangeArrowheads="1"/>
          </p:cNvSpPr>
          <p:nvPr/>
        </p:nvSpPr>
        <p:spPr bwMode="auto">
          <a:xfrm>
            <a:off x="630238" y="1527175"/>
            <a:ext cx="29098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0"/>
              <a:t>Standardized Work Chart</a:t>
            </a:r>
            <a:endParaRPr lang="th-TH" sz="1200" b="0"/>
          </a:p>
        </p:txBody>
      </p:sp>
      <p:sp>
        <p:nvSpPr>
          <p:cNvPr id="2050056" name="Text Box 8"/>
          <p:cNvSpPr txBox="1">
            <a:spLocks noChangeArrowheads="1"/>
          </p:cNvSpPr>
          <p:nvPr/>
        </p:nvSpPr>
        <p:spPr bwMode="auto">
          <a:xfrm>
            <a:off x="5711825" y="2014538"/>
            <a:ext cx="2968625" cy="399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13.</a:t>
            </a:r>
            <a:r>
              <a:rPr lang="th-TH" sz="2200" b="0">
                <a:latin typeface="Angsana New" pitchFamily="18" charset="-34"/>
              </a:rPr>
              <a:t>เวลาที่ลูกค้าต่องการชิ้นงาน</a:t>
            </a:r>
            <a:r>
              <a:rPr lang="en-US" sz="2200" b="0">
                <a:latin typeface="Angsana New" pitchFamily="18" charset="-34"/>
              </a:rPr>
              <a:t>/</a:t>
            </a:r>
            <a:r>
              <a:rPr lang="th-TH" sz="2200" b="0">
                <a:latin typeface="Angsana New" pitchFamily="18" charset="-34"/>
              </a:rPr>
              <a:t>ชิ้น</a:t>
            </a:r>
          </a:p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14.</a:t>
            </a:r>
            <a:r>
              <a:rPr lang="th-TH" sz="2200" b="0">
                <a:latin typeface="Angsana New" pitchFamily="18" charset="-34"/>
              </a:rPr>
              <a:t>เวลาที่ใช้ผลิตชิ้นงาน</a:t>
            </a:r>
            <a:r>
              <a:rPr lang="en-US" sz="2200" b="0">
                <a:latin typeface="Angsana New" pitchFamily="18" charset="-34"/>
              </a:rPr>
              <a:t>/</a:t>
            </a:r>
            <a:r>
              <a:rPr lang="th-TH" sz="2200" b="0">
                <a:latin typeface="Angsana New" pitchFamily="18" charset="-34"/>
              </a:rPr>
              <a:t>ชิ้น</a:t>
            </a:r>
          </a:p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15.</a:t>
            </a:r>
            <a:r>
              <a:rPr lang="th-TH" sz="2200" b="0">
                <a:latin typeface="Angsana New" pitchFamily="18" charset="-34"/>
              </a:rPr>
              <a:t>ลำดับที่ของพนักงาน</a:t>
            </a:r>
          </a:p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16.</a:t>
            </a:r>
            <a:r>
              <a:rPr lang="th-TH" sz="2200" b="0">
                <a:latin typeface="Angsana New" pitchFamily="18" charset="-34"/>
              </a:rPr>
              <a:t>ชื่อแผนกที่จัดทำเอกสาร</a:t>
            </a:r>
          </a:p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17.</a:t>
            </a:r>
            <a:r>
              <a:rPr lang="th-TH" sz="2200" b="0">
                <a:latin typeface="Angsana New" pitchFamily="18" charset="-34"/>
              </a:rPr>
              <a:t>ชื่อสาขาบริษัท</a:t>
            </a:r>
          </a:p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18.</a:t>
            </a:r>
            <a:r>
              <a:rPr lang="th-TH" sz="2200" b="0">
                <a:latin typeface="Angsana New" pitchFamily="18" charset="-34"/>
              </a:rPr>
              <a:t>ชื่อบริษัท</a:t>
            </a:r>
            <a:endParaRPr lang="en-US" sz="2200" b="0">
              <a:latin typeface="Angsana New" pitchFamily="18" charset="-34"/>
            </a:endParaRPr>
          </a:p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19.</a:t>
            </a:r>
            <a:r>
              <a:rPr lang="th-TH" sz="2200" b="0">
                <a:latin typeface="Angsana New" pitchFamily="18" charset="-34"/>
              </a:rPr>
              <a:t>แก้ไขครั้งที่</a:t>
            </a:r>
          </a:p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20.</a:t>
            </a:r>
            <a:r>
              <a:rPr lang="th-TH" sz="2200" b="0">
                <a:latin typeface="Angsana New" pitchFamily="18" charset="-34"/>
              </a:rPr>
              <a:t>หมายเลขเอกสาร</a:t>
            </a:r>
          </a:p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21.</a:t>
            </a:r>
            <a:r>
              <a:rPr lang="th-TH" sz="2200" b="0">
                <a:latin typeface="Angsana New" pitchFamily="18" charset="-34"/>
              </a:rPr>
              <a:t>ผู้บันทึก</a:t>
            </a:r>
          </a:p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22.</a:t>
            </a:r>
            <a:r>
              <a:rPr lang="th-TH" sz="2200" b="0">
                <a:latin typeface="Angsana New" pitchFamily="18" charset="-34"/>
              </a:rPr>
              <a:t>ผู้ตรวจสอบ</a:t>
            </a:r>
          </a:p>
          <a:p>
            <a:pPr marL="533400" indent="-533400">
              <a:lnSpc>
                <a:spcPct val="60000"/>
              </a:lnSpc>
              <a:spcBef>
                <a:spcPct val="50000"/>
              </a:spcBef>
            </a:pPr>
            <a:r>
              <a:rPr lang="en-US" sz="2200" b="0">
                <a:latin typeface="Angsana New" pitchFamily="18" charset="-34"/>
              </a:rPr>
              <a:t>23.</a:t>
            </a:r>
            <a:r>
              <a:rPr lang="th-TH" sz="2200" b="0">
                <a:latin typeface="Angsana New" pitchFamily="18" charset="-34"/>
              </a:rPr>
              <a:t>ผู้อนุมัติ</a:t>
            </a:r>
          </a:p>
        </p:txBody>
      </p:sp>
      <p:sp>
        <p:nvSpPr>
          <p:cNvPr id="2050057" name="Text Box 9"/>
          <p:cNvSpPr txBox="1">
            <a:spLocks noChangeArrowheads="1"/>
          </p:cNvSpPr>
          <p:nvPr/>
        </p:nvSpPr>
        <p:spPr bwMode="auto">
          <a:xfrm>
            <a:off x="8258175" y="2039938"/>
            <a:ext cx="936625" cy="2206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Take Time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0058" name="Text Box 10"/>
          <p:cNvSpPr txBox="1">
            <a:spLocks noChangeArrowheads="1"/>
          </p:cNvSpPr>
          <p:nvPr/>
        </p:nvSpPr>
        <p:spPr bwMode="auto">
          <a:xfrm>
            <a:off x="7834313" y="2400300"/>
            <a:ext cx="1258887" cy="2206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Cycle Time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0059" name="Text Box 11"/>
          <p:cNvSpPr txBox="1">
            <a:spLocks noChangeArrowheads="1"/>
          </p:cNvSpPr>
          <p:nvPr/>
        </p:nvSpPr>
        <p:spPr bwMode="auto">
          <a:xfrm>
            <a:off x="7616825" y="2768600"/>
            <a:ext cx="1258888" cy="2206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Operator No.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0060" name="Text Box 12"/>
          <p:cNvSpPr txBox="1">
            <a:spLocks noChangeArrowheads="1"/>
          </p:cNvSpPr>
          <p:nvPr/>
        </p:nvSpPr>
        <p:spPr bwMode="auto">
          <a:xfrm>
            <a:off x="7824788" y="3149600"/>
            <a:ext cx="1258887" cy="2206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Section Name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0061" name="Text Box 13"/>
          <p:cNvSpPr txBox="1">
            <a:spLocks noChangeArrowheads="1"/>
          </p:cNvSpPr>
          <p:nvPr/>
        </p:nvSpPr>
        <p:spPr bwMode="auto">
          <a:xfrm>
            <a:off x="7146925" y="3525838"/>
            <a:ext cx="1258888" cy="2206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Branch Name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0062" name="Text Box 14"/>
          <p:cNvSpPr txBox="1">
            <a:spLocks noChangeArrowheads="1"/>
          </p:cNvSpPr>
          <p:nvPr/>
        </p:nvSpPr>
        <p:spPr bwMode="auto">
          <a:xfrm>
            <a:off x="6765925" y="3895725"/>
            <a:ext cx="1727200" cy="2206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Company Name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0063" name="Text Box 15"/>
          <p:cNvSpPr txBox="1">
            <a:spLocks noChangeArrowheads="1"/>
          </p:cNvSpPr>
          <p:nvPr/>
        </p:nvSpPr>
        <p:spPr bwMode="auto">
          <a:xfrm>
            <a:off x="6943725" y="4259263"/>
            <a:ext cx="1152525" cy="2206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Revision No.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0064" name="Text Box 16"/>
          <p:cNvSpPr txBox="1">
            <a:spLocks noChangeArrowheads="1"/>
          </p:cNvSpPr>
          <p:nvPr/>
        </p:nvSpPr>
        <p:spPr bwMode="auto">
          <a:xfrm>
            <a:off x="7299325" y="4640263"/>
            <a:ext cx="1692275" cy="2206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Document No.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0065" name="Text Box 17"/>
          <p:cNvSpPr txBox="1">
            <a:spLocks noChangeArrowheads="1"/>
          </p:cNvSpPr>
          <p:nvPr/>
        </p:nvSpPr>
        <p:spPr bwMode="auto">
          <a:xfrm>
            <a:off x="6677025" y="4987925"/>
            <a:ext cx="1692275" cy="2206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Recorder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0066" name="Text Box 18"/>
          <p:cNvSpPr txBox="1">
            <a:spLocks noChangeArrowheads="1"/>
          </p:cNvSpPr>
          <p:nvPr/>
        </p:nvSpPr>
        <p:spPr bwMode="auto">
          <a:xfrm>
            <a:off x="6935788" y="5373688"/>
            <a:ext cx="1692275" cy="2206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Checker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0067" name="Text Box 19"/>
          <p:cNvSpPr txBox="1">
            <a:spLocks noChangeArrowheads="1"/>
          </p:cNvSpPr>
          <p:nvPr/>
        </p:nvSpPr>
        <p:spPr bwMode="auto">
          <a:xfrm>
            <a:off x="6630988" y="5734050"/>
            <a:ext cx="1692275" cy="220663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762000">
              <a:lnSpc>
                <a:spcPct val="70000"/>
              </a:lnSpc>
              <a:spcBef>
                <a:spcPct val="50000"/>
              </a:spcBef>
            </a:pPr>
            <a:r>
              <a:rPr kumimoji="1" lang="en-US" sz="1200" b="0">
                <a:ea typeface="MS PGothic" pitchFamily="34" charset="-128"/>
                <a:sym typeface="Wingdings" pitchFamily="2" charset="2"/>
              </a:rPr>
              <a:t>Approver</a:t>
            </a:r>
            <a:endParaRPr kumimoji="1" lang="th-TH" sz="1200" b="0">
              <a:ea typeface="MS PGothic" pitchFamily="34" charset="-128"/>
              <a:sym typeface="Wingding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074" name="Text Box 2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1076" name="Line 4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23850" y="1052513"/>
            <a:ext cx="8591550" cy="5614987"/>
            <a:chOff x="204" y="754"/>
            <a:chExt cx="5412" cy="3446"/>
          </a:xfrm>
        </p:grpSpPr>
        <p:sp>
          <p:nvSpPr>
            <p:cNvPr id="2051078" name="Rectangle 9"/>
            <p:cNvSpPr>
              <a:spLocks noChangeArrowheads="1"/>
            </p:cNvSpPr>
            <p:nvPr/>
          </p:nvSpPr>
          <p:spPr bwMode="auto">
            <a:xfrm>
              <a:off x="204" y="754"/>
              <a:ext cx="1538" cy="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th-TH" sz="3200" b="1" u="sng" smtClean="0">
                  <a:solidFill>
                    <a:srgbClr val="000000"/>
                  </a:solidFill>
                  <a:latin typeface="Times New Roman" pitchFamily="18" charset="0"/>
                </a:rPr>
                <a:t>ตัวอย่างการบันทึก</a:t>
              </a:r>
            </a:p>
          </p:txBody>
        </p:sp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240" y="890"/>
              <a:ext cx="5376" cy="3310"/>
              <a:chOff x="240" y="890"/>
              <a:chExt cx="5376" cy="3310"/>
            </a:xfrm>
          </p:grpSpPr>
          <p:sp>
            <p:nvSpPr>
              <p:cNvPr id="2051080" name="Rectangle 8"/>
              <p:cNvSpPr>
                <a:spLocks noChangeArrowheads="1"/>
              </p:cNvSpPr>
              <p:nvPr/>
            </p:nvSpPr>
            <p:spPr bwMode="auto">
              <a:xfrm>
                <a:off x="720" y="1124"/>
                <a:ext cx="768" cy="1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243 R/C</a:t>
                </a:r>
              </a:p>
            </p:txBody>
          </p:sp>
          <p:sp>
            <p:nvSpPr>
              <p:cNvPr id="2051081" name="Rectangle 9"/>
              <p:cNvSpPr>
                <a:spLocks noChangeArrowheads="1"/>
              </p:cNvSpPr>
              <p:nvPr/>
            </p:nvSpPr>
            <p:spPr bwMode="auto">
              <a:xfrm>
                <a:off x="720" y="1284"/>
                <a:ext cx="768" cy="1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13800-1600</a:t>
                </a:r>
              </a:p>
            </p:txBody>
          </p:sp>
          <p:sp>
            <p:nvSpPr>
              <p:cNvPr id="2051082" name="AutoShape 10"/>
              <p:cNvSpPr>
                <a:spLocks/>
              </p:cNvSpPr>
              <p:nvPr/>
            </p:nvSpPr>
            <p:spPr bwMode="auto">
              <a:xfrm>
                <a:off x="1392" y="1124"/>
                <a:ext cx="144" cy="479"/>
              </a:xfrm>
              <a:prstGeom prst="rightBrace">
                <a:avLst>
                  <a:gd name="adj1" fmla="val 27720"/>
                  <a:gd name="adj2" fmla="val 50000"/>
                </a:avLst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83" name="Rectangle 11"/>
              <p:cNvSpPr>
                <a:spLocks noChangeArrowheads="1"/>
              </p:cNvSpPr>
              <p:nvPr/>
            </p:nvSpPr>
            <p:spPr bwMode="auto">
              <a:xfrm>
                <a:off x="1488" y="1723"/>
                <a:ext cx="1008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84" name="Rectangle 12"/>
              <p:cNvSpPr>
                <a:spLocks noChangeArrowheads="1"/>
              </p:cNvSpPr>
              <p:nvPr/>
            </p:nvSpPr>
            <p:spPr bwMode="auto">
              <a:xfrm>
                <a:off x="2496" y="1723"/>
                <a:ext cx="1728" cy="1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85" name="Rectangle 13"/>
              <p:cNvSpPr>
                <a:spLocks noChangeArrowheads="1"/>
              </p:cNvSpPr>
              <p:nvPr/>
            </p:nvSpPr>
            <p:spPr bwMode="auto">
              <a:xfrm>
                <a:off x="2496" y="1883"/>
                <a:ext cx="1728" cy="16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86" name="Rectangle 14"/>
              <p:cNvSpPr>
                <a:spLocks noChangeArrowheads="1"/>
              </p:cNvSpPr>
              <p:nvPr/>
            </p:nvSpPr>
            <p:spPr bwMode="auto">
              <a:xfrm>
                <a:off x="1824" y="3681"/>
                <a:ext cx="528" cy="1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87" name="Rectangle 15"/>
              <p:cNvSpPr>
                <a:spLocks noChangeArrowheads="1"/>
              </p:cNvSpPr>
              <p:nvPr/>
            </p:nvSpPr>
            <p:spPr bwMode="auto">
              <a:xfrm>
                <a:off x="1824" y="3880"/>
                <a:ext cx="528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88" name="Rectangle 16"/>
              <p:cNvSpPr>
                <a:spLocks noChangeArrowheads="1"/>
              </p:cNvSpPr>
              <p:nvPr/>
            </p:nvSpPr>
            <p:spPr bwMode="auto">
              <a:xfrm>
                <a:off x="2352" y="3681"/>
                <a:ext cx="528" cy="1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89" name="Rectangle 17"/>
              <p:cNvSpPr>
                <a:spLocks noChangeArrowheads="1"/>
              </p:cNvSpPr>
              <p:nvPr/>
            </p:nvSpPr>
            <p:spPr bwMode="auto">
              <a:xfrm>
                <a:off x="2352" y="3880"/>
                <a:ext cx="528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90" name="Rectangle 18"/>
              <p:cNvSpPr>
                <a:spLocks noChangeArrowheads="1"/>
              </p:cNvSpPr>
              <p:nvPr/>
            </p:nvSpPr>
            <p:spPr bwMode="auto">
              <a:xfrm>
                <a:off x="2880" y="3681"/>
                <a:ext cx="528" cy="1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91" name="Rectangle 19"/>
              <p:cNvSpPr>
                <a:spLocks noChangeArrowheads="1"/>
              </p:cNvSpPr>
              <p:nvPr/>
            </p:nvSpPr>
            <p:spPr bwMode="auto">
              <a:xfrm>
                <a:off x="2880" y="3880"/>
                <a:ext cx="528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92" name="Rectangle 20"/>
              <p:cNvSpPr>
                <a:spLocks noChangeArrowheads="1"/>
              </p:cNvSpPr>
              <p:nvPr/>
            </p:nvSpPr>
            <p:spPr bwMode="auto">
              <a:xfrm>
                <a:off x="3408" y="3681"/>
                <a:ext cx="528" cy="1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93" name="Rectangle 21"/>
              <p:cNvSpPr>
                <a:spLocks noChangeArrowheads="1"/>
              </p:cNvSpPr>
              <p:nvPr/>
            </p:nvSpPr>
            <p:spPr bwMode="auto">
              <a:xfrm>
                <a:off x="3408" y="3880"/>
                <a:ext cx="528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94" name="Rectangle 22"/>
              <p:cNvSpPr>
                <a:spLocks noChangeArrowheads="1"/>
              </p:cNvSpPr>
              <p:nvPr/>
            </p:nvSpPr>
            <p:spPr bwMode="auto">
              <a:xfrm>
                <a:off x="3936" y="3681"/>
                <a:ext cx="528" cy="1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95" name="Rectangle 23"/>
              <p:cNvSpPr>
                <a:spLocks noChangeArrowheads="1"/>
              </p:cNvSpPr>
              <p:nvPr/>
            </p:nvSpPr>
            <p:spPr bwMode="auto">
              <a:xfrm>
                <a:off x="3936" y="3880"/>
                <a:ext cx="528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96" name="Rectangle 24"/>
              <p:cNvSpPr>
                <a:spLocks noChangeArrowheads="1"/>
              </p:cNvSpPr>
              <p:nvPr/>
            </p:nvSpPr>
            <p:spPr bwMode="auto">
              <a:xfrm>
                <a:off x="4464" y="3681"/>
                <a:ext cx="528" cy="1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97" name="Rectangle 25"/>
              <p:cNvSpPr>
                <a:spLocks noChangeArrowheads="1"/>
              </p:cNvSpPr>
              <p:nvPr/>
            </p:nvSpPr>
            <p:spPr bwMode="auto">
              <a:xfrm>
                <a:off x="4464" y="3880"/>
                <a:ext cx="528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98" name="Rectangle 26"/>
              <p:cNvSpPr>
                <a:spLocks noChangeArrowheads="1"/>
              </p:cNvSpPr>
              <p:nvPr/>
            </p:nvSpPr>
            <p:spPr bwMode="auto">
              <a:xfrm>
                <a:off x="4992" y="3681"/>
                <a:ext cx="528" cy="19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099" name="Rectangle 27"/>
              <p:cNvSpPr>
                <a:spLocks noChangeArrowheads="1"/>
              </p:cNvSpPr>
              <p:nvPr/>
            </p:nvSpPr>
            <p:spPr bwMode="auto">
              <a:xfrm>
                <a:off x="4992" y="3880"/>
                <a:ext cx="528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00" name="Rectangle 28"/>
              <p:cNvSpPr>
                <a:spLocks noChangeArrowheads="1"/>
              </p:cNvSpPr>
              <p:nvPr/>
            </p:nvSpPr>
            <p:spPr bwMode="auto">
              <a:xfrm>
                <a:off x="1728" y="3681"/>
                <a:ext cx="720" cy="1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h-TH" sz="1600" smtClean="0">
                    <a:solidFill>
                      <a:srgbClr val="000000"/>
                    </a:solidFill>
                    <a:latin typeface="Angsana New" pitchFamily="18" charset="-34"/>
                  </a:rPr>
                  <a:t>เช็คคุณภาพ</a:t>
                </a:r>
              </a:p>
            </p:txBody>
          </p:sp>
          <p:sp>
            <p:nvSpPr>
              <p:cNvPr id="2051101" name="Rectangle 29"/>
              <p:cNvSpPr>
                <a:spLocks noChangeArrowheads="1"/>
              </p:cNvSpPr>
              <p:nvPr/>
            </p:nvSpPr>
            <p:spPr bwMode="auto">
              <a:xfrm>
                <a:off x="2256" y="3681"/>
                <a:ext cx="720" cy="1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h-TH" sz="1600" smtClean="0">
                    <a:solidFill>
                      <a:srgbClr val="000000"/>
                    </a:solidFill>
                    <a:latin typeface="Angsana New" pitchFamily="18" charset="-34"/>
                  </a:rPr>
                  <a:t>ความปลอดภัย</a:t>
                </a:r>
              </a:p>
            </p:txBody>
          </p:sp>
          <p:sp>
            <p:nvSpPr>
              <p:cNvPr id="2051102" name="Rectangle 30"/>
              <p:cNvSpPr>
                <a:spLocks noChangeArrowheads="1"/>
              </p:cNvSpPr>
              <p:nvPr/>
            </p:nvSpPr>
            <p:spPr bwMode="auto">
              <a:xfrm>
                <a:off x="2784" y="3721"/>
                <a:ext cx="720" cy="1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Angsana New" pitchFamily="18" charset="-34"/>
                  </a:rPr>
                  <a:t>มาตรฐานที่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Angsana New" pitchFamily="18" charset="-34"/>
                  </a:rPr>
                  <a:t>ค้าง LINE</a:t>
                </a:r>
              </a:p>
            </p:txBody>
          </p:sp>
          <p:sp>
            <p:nvSpPr>
              <p:cNvPr id="2051103" name="Rectangle 31"/>
              <p:cNvSpPr>
                <a:spLocks noChangeArrowheads="1"/>
              </p:cNvSpPr>
              <p:nvPr/>
            </p:nvSpPr>
            <p:spPr bwMode="auto">
              <a:xfrm>
                <a:off x="3840" y="3681"/>
                <a:ext cx="720" cy="1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smtClean="0">
                    <a:solidFill>
                      <a:srgbClr val="000000"/>
                    </a:solidFill>
                    <a:latin typeface="Angsana New" pitchFamily="18" charset="-34"/>
                  </a:rPr>
                  <a:t>TAKT TIME</a:t>
                </a:r>
              </a:p>
            </p:txBody>
          </p:sp>
          <p:sp>
            <p:nvSpPr>
              <p:cNvPr id="2051104" name="Rectangle 32"/>
              <p:cNvSpPr>
                <a:spLocks noChangeArrowheads="1"/>
              </p:cNvSpPr>
              <p:nvPr/>
            </p:nvSpPr>
            <p:spPr bwMode="auto">
              <a:xfrm>
                <a:off x="4368" y="3681"/>
                <a:ext cx="720" cy="1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smtClean="0">
                    <a:solidFill>
                      <a:srgbClr val="000000"/>
                    </a:solidFill>
                    <a:latin typeface="Angsana New" pitchFamily="18" charset="-34"/>
                  </a:rPr>
                  <a:t>CYCLE TIME</a:t>
                </a:r>
              </a:p>
            </p:txBody>
          </p:sp>
          <p:sp>
            <p:nvSpPr>
              <p:cNvPr id="2051105" name="Rectangle 33"/>
              <p:cNvSpPr>
                <a:spLocks noChangeArrowheads="1"/>
              </p:cNvSpPr>
              <p:nvPr/>
            </p:nvSpPr>
            <p:spPr bwMode="auto">
              <a:xfrm>
                <a:off x="3312" y="3721"/>
                <a:ext cx="720" cy="1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Angsana New" pitchFamily="18" charset="-34"/>
                  </a:rPr>
                  <a:t>มำนวนงาน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Angsana New" pitchFamily="18" charset="-34"/>
                  </a:rPr>
                  <a:t>ที่ค้าง LINE</a:t>
                </a:r>
              </a:p>
            </p:txBody>
          </p:sp>
          <p:sp>
            <p:nvSpPr>
              <p:cNvPr id="2051106" name="Rectangle 34"/>
              <p:cNvSpPr>
                <a:spLocks noChangeArrowheads="1"/>
              </p:cNvSpPr>
              <p:nvPr/>
            </p:nvSpPr>
            <p:spPr bwMode="auto">
              <a:xfrm>
                <a:off x="4896" y="3721"/>
                <a:ext cx="720" cy="1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h-TH" sz="1200" smtClean="0">
                    <a:solidFill>
                      <a:srgbClr val="000000"/>
                    </a:solidFill>
                    <a:latin typeface="Angsana New" pitchFamily="18" charset="-34"/>
                  </a:rPr>
                  <a:t>ลำดับของคน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h-TH" sz="1200" smtClean="0">
                    <a:solidFill>
                      <a:srgbClr val="000000"/>
                    </a:solidFill>
                    <a:latin typeface="Angsana New" pitchFamily="18" charset="-34"/>
                  </a:rPr>
                  <a:t>ทำงาน</a:t>
                </a:r>
              </a:p>
            </p:txBody>
          </p:sp>
          <p:sp>
            <p:nvSpPr>
              <p:cNvPr id="2051107" name="Rectangle 35"/>
              <p:cNvSpPr>
                <a:spLocks noChangeArrowheads="1"/>
              </p:cNvSpPr>
              <p:nvPr/>
            </p:nvSpPr>
            <p:spPr bwMode="auto">
              <a:xfrm>
                <a:off x="1632" y="1763"/>
                <a:ext cx="720" cy="1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h-TH" sz="2400" b="1" i="1" smtClean="0">
                    <a:solidFill>
                      <a:srgbClr val="000000"/>
                    </a:solidFill>
                    <a:latin typeface="Angsana New" pitchFamily="18" charset="-34"/>
                  </a:rPr>
                  <a:t>ลักษณะงาน</a:t>
                </a:r>
              </a:p>
            </p:txBody>
          </p:sp>
          <p:sp>
            <p:nvSpPr>
              <p:cNvPr id="2051108" name="Rectangle 36"/>
              <p:cNvSpPr>
                <a:spLocks noChangeArrowheads="1"/>
              </p:cNvSpPr>
              <p:nvPr/>
            </p:nvSpPr>
            <p:spPr bwMode="auto">
              <a:xfrm>
                <a:off x="2304" y="1723"/>
                <a:ext cx="720" cy="1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h-TH" sz="2000" b="1" smtClean="0">
                    <a:solidFill>
                      <a:srgbClr val="000000"/>
                    </a:solidFill>
                    <a:latin typeface="Angsana New" pitchFamily="18" charset="-34"/>
                  </a:rPr>
                  <a:t>จาก</a:t>
                </a:r>
              </a:p>
            </p:txBody>
          </p:sp>
          <p:sp>
            <p:nvSpPr>
              <p:cNvPr id="2051109" name="Rectangle 37"/>
              <p:cNvSpPr>
                <a:spLocks noChangeArrowheads="1"/>
              </p:cNvSpPr>
              <p:nvPr/>
            </p:nvSpPr>
            <p:spPr bwMode="auto">
              <a:xfrm>
                <a:off x="2304" y="1883"/>
                <a:ext cx="720" cy="1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h-TH" sz="2000" b="1" smtClean="0">
                    <a:solidFill>
                      <a:srgbClr val="000000"/>
                    </a:solidFill>
                    <a:latin typeface="Angsana New" pitchFamily="18" charset="-34"/>
                  </a:rPr>
                  <a:t>ถึง</a:t>
                </a:r>
              </a:p>
            </p:txBody>
          </p:sp>
          <p:sp>
            <p:nvSpPr>
              <p:cNvPr id="2051110" name="Line 38"/>
              <p:cNvSpPr>
                <a:spLocks noChangeShapeType="1"/>
              </p:cNvSpPr>
              <p:nvPr/>
            </p:nvSpPr>
            <p:spPr bwMode="auto">
              <a:xfrm>
                <a:off x="240" y="1643"/>
                <a:ext cx="52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11" name="Line 39"/>
              <p:cNvSpPr>
                <a:spLocks noChangeShapeType="1"/>
              </p:cNvSpPr>
              <p:nvPr/>
            </p:nvSpPr>
            <p:spPr bwMode="auto">
              <a:xfrm>
                <a:off x="240" y="4200"/>
                <a:ext cx="528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12" name="Line 40"/>
              <p:cNvSpPr>
                <a:spLocks noChangeShapeType="1"/>
              </p:cNvSpPr>
              <p:nvPr/>
            </p:nvSpPr>
            <p:spPr bwMode="auto">
              <a:xfrm flipV="1">
                <a:off x="5520" y="1643"/>
                <a:ext cx="0" cy="255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13" name="Line 41"/>
              <p:cNvSpPr>
                <a:spLocks noChangeShapeType="1"/>
              </p:cNvSpPr>
              <p:nvPr/>
            </p:nvSpPr>
            <p:spPr bwMode="auto">
              <a:xfrm flipH="1" flipV="1">
                <a:off x="240" y="1643"/>
                <a:ext cx="0" cy="255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14" name="Rectangle 42"/>
              <p:cNvSpPr>
                <a:spLocks noChangeArrowheads="1"/>
              </p:cNvSpPr>
              <p:nvPr/>
            </p:nvSpPr>
            <p:spPr bwMode="auto">
              <a:xfrm>
                <a:off x="1776" y="1004"/>
                <a:ext cx="2208" cy="5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i="1" smtClean="0">
                    <a:solidFill>
                      <a:srgbClr val="000000"/>
                    </a:solidFill>
                    <a:latin typeface="Angsana New" pitchFamily="18" charset="-34"/>
                  </a:rPr>
                  <a:t>HYOJUN SAGYO HYO</a:t>
                </a:r>
              </a:p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smtClean="0">
                    <a:solidFill>
                      <a:srgbClr val="000000"/>
                    </a:solidFill>
                    <a:latin typeface="Angsana New" pitchFamily="18" charset="-34"/>
                  </a:rPr>
                  <a:t>ใบแสดงการทำงานมาตรฐาน</a:t>
                </a:r>
              </a:p>
            </p:txBody>
          </p:sp>
          <p:sp>
            <p:nvSpPr>
              <p:cNvPr id="2051115" name="Rectangle 43"/>
              <p:cNvSpPr>
                <a:spLocks noChangeArrowheads="1"/>
              </p:cNvSpPr>
              <p:nvPr/>
            </p:nvSpPr>
            <p:spPr bwMode="auto">
              <a:xfrm>
                <a:off x="288" y="1124"/>
                <a:ext cx="912" cy="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smtClean="0">
                    <a:solidFill>
                      <a:srgbClr val="000000"/>
                    </a:solidFill>
                    <a:latin typeface="Angsana New" pitchFamily="18" charset="-34"/>
                  </a:rPr>
                  <a:t>LINE </a:t>
                </a:r>
                <a:r>
                  <a:rPr lang="en-US" sz="1800" smtClean="0">
                    <a:solidFill>
                      <a:srgbClr val="000000"/>
                    </a:solidFill>
                    <a:latin typeface="Times New Roman"/>
                  </a:rPr>
                  <a:t>……………</a:t>
                </a:r>
                <a:endParaRPr lang="en-US" sz="1800" smtClean="0">
                  <a:solidFill>
                    <a:srgbClr val="00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051116" name="Rectangle 44"/>
              <p:cNvSpPr>
                <a:spLocks noChangeArrowheads="1"/>
              </p:cNvSpPr>
              <p:nvPr/>
            </p:nvSpPr>
            <p:spPr bwMode="auto">
              <a:xfrm>
                <a:off x="384" y="1284"/>
                <a:ext cx="912" cy="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smtClean="0">
                    <a:solidFill>
                      <a:srgbClr val="000000"/>
                    </a:solidFill>
                    <a:latin typeface="Angsana New" pitchFamily="18" charset="-34"/>
                  </a:rPr>
                  <a:t>PART No. </a:t>
                </a:r>
                <a:r>
                  <a:rPr lang="en-US" sz="1800" smtClean="0">
                    <a:solidFill>
                      <a:srgbClr val="000000"/>
                    </a:solidFill>
                    <a:latin typeface="Times New Roman"/>
                  </a:rPr>
                  <a:t>……………</a:t>
                </a:r>
                <a:endParaRPr lang="en-US" sz="1800" smtClean="0">
                  <a:solidFill>
                    <a:srgbClr val="00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051117" name="Rectangle 45"/>
              <p:cNvSpPr>
                <a:spLocks noChangeArrowheads="1"/>
              </p:cNvSpPr>
              <p:nvPr/>
            </p:nvSpPr>
            <p:spPr bwMode="auto">
              <a:xfrm>
                <a:off x="240" y="1444"/>
                <a:ext cx="1200" cy="1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smtClean="0">
                    <a:solidFill>
                      <a:srgbClr val="000000"/>
                    </a:solidFill>
                    <a:latin typeface="Angsana New" pitchFamily="18" charset="-34"/>
                  </a:rPr>
                  <a:t>PART NAME </a:t>
                </a:r>
                <a:r>
                  <a:rPr lang="en-US" sz="1800" smtClean="0">
                    <a:solidFill>
                      <a:srgbClr val="000000"/>
                    </a:solidFill>
                    <a:latin typeface="Times New Roman"/>
                  </a:rPr>
                  <a:t>…………</a:t>
                </a:r>
                <a:endParaRPr lang="en-US" sz="1800" smtClean="0">
                  <a:solidFill>
                    <a:srgbClr val="00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051118" name="Rectangle 46"/>
              <p:cNvSpPr>
                <a:spLocks noChangeArrowheads="1"/>
              </p:cNvSpPr>
              <p:nvPr/>
            </p:nvSpPr>
            <p:spPr bwMode="auto">
              <a:xfrm>
                <a:off x="4944" y="1470"/>
                <a:ext cx="576" cy="1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endParaRPr lang="en-US" sz="10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19" name="Rectangle 47"/>
              <p:cNvSpPr>
                <a:spLocks noChangeArrowheads="1"/>
              </p:cNvSpPr>
              <p:nvPr/>
            </p:nvSpPr>
            <p:spPr bwMode="auto">
              <a:xfrm>
                <a:off x="4368" y="1470"/>
                <a:ext cx="576" cy="1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endParaRPr lang="en-US" sz="10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20" name="Rectangle 48"/>
              <p:cNvSpPr>
                <a:spLocks noChangeArrowheads="1"/>
              </p:cNvSpPr>
              <p:nvPr/>
            </p:nvSpPr>
            <p:spPr bwMode="auto">
              <a:xfrm>
                <a:off x="3792" y="1470"/>
                <a:ext cx="576" cy="1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endParaRPr lang="en-US" sz="1000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21" name="Rectangle 49"/>
              <p:cNvSpPr>
                <a:spLocks noChangeArrowheads="1"/>
              </p:cNvSpPr>
              <p:nvPr/>
            </p:nvSpPr>
            <p:spPr bwMode="auto">
              <a:xfrm>
                <a:off x="4944" y="1337"/>
                <a:ext cx="576" cy="1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sz="1000" smtClean="0">
                    <a:solidFill>
                      <a:srgbClr val="000000"/>
                    </a:solidFill>
                  </a:rPr>
                  <a:t>REPORTED</a:t>
                </a:r>
              </a:p>
            </p:txBody>
          </p:sp>
          <p:sp>
            <p:nvSpPr>
              <p:cNvPr id="2051122" name="Rectangle 50"/>
              <p:cNvSpPr>
                <a:spLocks noChangeArrowheads="1"/>
              </p:cNvSpPr>
              <p:nvPr/>
            </p:nvSpPr>
            <p:spPr bwMode="auto">
              <a:xfrm>
                <a:off x="4368" y="1337"/>
                <a:ext cx="576" cy="1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sz="1000" smtClean="0">
                    <a:solidFill>
                      <a:srgbClr val="000000"/>
                    </a:solidFill>
                  </a:rPr>
                  <a:t>CHECKED</a:t>
                </a:r>
              </a:p>
            </p:txBody>
          </p:sp>
          <p:sp>
            <p:nvSpPr>
              <p:cNvPr id="2051123" name="Rectangle 51"/>
              <p:cNvSpPr>
                <a:spLocks noChangeArrowheads="1"/>
              </p:cNvSpPr>
              <p:nvPr/>
            </p:nvSpPr>
            <p:spPr bwMode="auto">
              <a:xfrm>
                <a:off x="3792" y="1337"/>
                <a:ext cx="576" cy="1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pPr algn="ctr" fontAlgn="base">
                  <a:spcBef>
                    <a:spcPct val="20000"/>
                  </a:spcBef>
                  <a:spcAft>
                    <a:spcPct val="0"/>
                  </a:spcAft>
                </a:pPr>
                <a:r>
                  <a:rPr lang="en-US" sz="1000" smtClean="0">
                    <a:solidFill>
                      <a:srgbClr val="000000"/>
                    </a:solidFill>
                  </a:rPr>
                  <a:t>APPROVED</a:t>
                </a:r>
              </a:p>
            </p:txBody>
          </p:sp>
          <p:sp>
            <p:nvSpPr>
              <p:cNvPr id="2051124" name="Line 52"/>
              <p:cNvSpPr>
                <a:spLocks noChangeShapeType="1"/>
              </p:cNvSpPr>
              <p:nvPr/>
            </p:nvSpPr>
            <p:spPr bwMode="auto">
              <a:xfrm>
                <a:off x="3792" y="1337"/>
                <a:ext cx="172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25" name="Line 53"/>
              <p:cNvSpPr>
                <a:spLocks noChangeShapeType="1"/>
              </p:cNvSpPr>
              <p:nvPr/>
            </p:nvSpPr>
            <p:spPr bwMode="auto">
              <a:xfrm>
                <a:off x="3792" y="1470"/>
                <a:ext cx="172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26" name="Line 54"/>
              <p:cNvSpPr>
                <a:spLocks noChangeShapeType="1"/>
              </p:cNvSpPr>
              <p:nvPr/>
            </p:nvSpPr>
            <p:spPr bwMode="auto">
              <a:xfrm>
                <a:off x="3792" y="1603"/>
                <a:ext cx="1728" cy="0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27" name="Line 55"/>
              <p:cNvSpPr>
                <a:spLocks noChangeShapeType="1"/>
              </p:cNvSpPr>
              <p:nvPr/>
            </p:nvSpPr>
            <p:spPr bwMode="auto">
              <a:xfrm>
                <a:off x="3792" y="1337"/>
                <a:ext cx="0" cy="26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28" name="Line 56"/>
              <p:cNvSpPr>
                <a:spLocks noChangeShapeType="1"/>
              </p:cNvSpPr>
              <p:nvPr/>
            </p:nvSpPr>
            <p:spPr bwMode="auto">
              <a:xfrm>
                <a:off x="4368" y="1337"/>
                <a:ext cx="0" cy="26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29" name="Line 57"/>
              <p:cNvSpPr>
                <a:spLocks noChangeShapeType="1"/>
              </p:cNvSpPr>
              <p:nvPr/>
            </p:nvSpPr>
            <p:spPr bwMode="auto">
              <a:xfrm>
                <a:off x="4944" y="1337"/>
                <a:ext cx="0" cy="26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30" name="Line 58"/>
              <p:cNvSpPr>
                <a:spLocks noChangeShapeType="1"/>
              </p:cNvSpPr>
              <p:nvPr/>
            </p:nvSpPr>
            <p:spPr bwMode="auto">
              <a:xfrm>
                <a:off x="5520" y="1337"/>
                <a:ext cx="0" cy="266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31" name="Rectangle 59"/>
              <p:cNvSpPr>
                <a:spLocks noChangeArrowheads="1"/>
              </p:cNvSpPr>
              <p:nvPr/>
            </p:nvSpPr>
            <p:spPr bwMode="auto">
              <a:xfrm>
                <a:off x="4416" y="1164"/>
                <a:ext cx="432" cy="1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th-TH" sz="1800" smtClean="0">
                    <a:solidFill>
                      <a:srgbClr val="000000"/>
                    </a:solidFill>
                    <a:latin typeface="Angsana New" pitchFamily="18" charset="-34"/>
                  </a:rPr>
                  <a:t>วันที่บันทึก</a:t>
                </a:r>
                <a:endParaRPr lang="en-US" sz="1800" smtClean="0">
                  <a:solidFill>
                    <a:srgbClr val="00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051132" name="Rectangle 60"/>
              <p:cNvSpPr>
                <a:spLocks noChangeArrowheads="1"/>
              </p:cNvSpPr>
              <p:nvPr/>
            </p:nvSpPr>
            <p:spPr bwMode="auto">
              <a:xfrm>
                <a:off x="1392" y="3121"/>
                <a:ext cx="480" cy="28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i="1" smtClean="0">
                    <a:solidFill>
                      <a:srgbClr val="000000"/>
                    </a:solidFill>
                    <a:latin typeface="Angsana New" pitchFamily="18" charset="-34"/>
                  </a:rPr>
                  <a:t>F/G</a:t>
                </a:r>
              </a:p>
            </p:txBody>
          </p:sp>
          <p:sp>
            <p:nvSpPr>
              <p:cNvPr id="2051133" name="Rectangle 61"/>
              <p:cNvSpPr>
                <a:spLocks noChangeArrowheads="1"/>
              </p:cNvSpPr>
              <p:nvPr/>
            </p:nvSpPr>
            <p:spPr bwMode="auto">
              <a:xfrm>
                <a:off x="1440" y="2203"/>
                <a:ext cx="480" cy="23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600" b="1" i="1" smtClean="0">
                    <a:solidFill>
                      <a:srgbClr val="000000"/>
                    </a:solidFill>
                    <a:latin typeface="Times New Roman" pitchFamily="18" charset="0"/>
                  </a:rPr>
                  <a:t>MAT’L</a:t>
                </a:r>
              </a:p>
            </p:txBody>
          </p:sp>
          <p:sp>
            <p:nvSpPr>
              <p:cNvPr id="2051134" name="Oval 62"/>
              <p:cNvSpPr>
                <a:spLocks noChangeArrowheads="1"/>
              </p:cNvSpPr>
              <p:nvPr/>
            </p:nvSpPr>
            <p:spPr bwMode="auto">
              <a:xfrm>
                <a:off x="3600" y="2684"/>
                <a:ext cx="240" cy="2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mtClean="0">
                    <a:solidFill>
                      <a:srgbClr val="FFFF00"/>
                    </a:solidFill>
                    <a:latin typeface="Angsana New" pitchFamily="18" charset="-34"/>
                  </a:rPr>
                  <a:t>4</a:t>
                </a:r>
              </a:p>
            </p:txBody>
          </p:sp>
          <p:sp>
            <p:nvSpPr>
              <p:cNvPr id="2051135" name="Oval 63"/>
              <p:cNvSpPr>
                <a:spLocks noChangeArrowheads="1"/>
              </p:cNvSpPr>
              <p:nvPr/>
            </p:nvSpPr>
            <p:spPr bwMode="auto">
              <a:xfrm>
                <a:off x="3216" y="2485"/>
                <a:ext cx="240" cy="199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mtClean="0">
                    <a:solidFill>
                      <a:srgbClr val="FFFF00"/>
                    </a:solidFill>
                    <a:latin typeface="Angsana New" pitchFamily="18" charset="-34"/>
                  </a:rPr>
                  <a:t>3</a:t>
                </a:r>
              </a:p>
            </p:txBody>
          </p:sp>
          <p:sp>
            <p:nvSpPr>
              <p:cNvPr id="2051136" name="Oval 64"/>
              <p:cNvSpPr>
                <a:spLocks noChangeArrowheads="1"/>
              </p:cNvSpPr>
              <p:nvPr/>
            </p:nvSpPr>
            <p:spPr bwMode="auto">
              <a:xfrm>
                <a:off x="2304" y="2485"/>
                <a:ext cx="240" cy="199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mtClean="0">
                    <a:solidFill>
                      <a:srgbClr val="FFFF00"/>
                    </a:solidFill>
                    <a:latin typeface="Angsana New" pitchFamily="18" charset="-34"/>
                  </a:rPr>
                  <a:t>2</a:t>
                </a:r>
              </a:p>
            </p:txBody>
          </p:sp>
          <p:sp>
            <p:nvSpPr>
              <p:cNvPr id="2051137" name="Oval 65"/>
              <p:cNvSpPr>
                <a:spLocks noChangeArrowheads="1"/>
              </p:cNvSpPr>
              <p:nvPr/>
            </p:nvSpPr>
            <p:spPr bwMode="auto">
              <a:xfrm>
                <a:off x="1536" y="2884"/>
                <a:ext cx="240" cy="2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mtClean="0">
                    <a:solidFill>
                      <a:srgbClr val="FFFF00"/>
                    </a:solidFill>
                    <a:latin typeface="Angsana New" pitchFamily="18" charset="-34"/>
                  </a:rPr>
                  <a:t>7</a:t>
                </a:r>
              </a:p>
            </p:txBody>
          </p:sp>
          <p:sp>
            <p:nvSpPr>
              <p:cNvPr id="2051138" name="Oval 66"/>
              <p:cNvSpPr>
                <a:spLocks noChangeArrowheads="1"/>
              </p:cNvSpPr>
              <p:nvPr/>
            </p:nvSpPr>
            <p:spPr bwMode="auto">
              <a:xfrm>
                <a:off x="1536" y="2485"/>
                <a:ext cx="240" cy="199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mtClean="0">
                    <a:solidFill>
                      <a:srgbClr val="FFFF00"/>
                    </a:solidFill>
                    <a:latin typeface="Angsana New" pitchFamily="18" charset="-34"/>
                  </a:rPr>
                  <a:t>1</a:t>
                </a:r>
              </a:p>
            </p:txBody>
          </p:sp>
          <p:sp>
            <p:nvSpPr>
              <p:cNvPr id="2051139" name="Oval 67"/>
              <p:cNvSpPr>
                <a:spLocks noChangeArrowheads="1"/>
              </p:cNvSpPr>
              <p:nvPr/>
            </p:nvSpPr>
            <p:spPr bwMode="auto">
              <a:xfrm>
                <a:off x="3216" y="2884"/>
                <a:ext cx="240" cy="2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mtClean="0">
                    <a:solidFill>
                      <a:srgbClr val="FFFF00"/>
                    </a:solidFill>
                    <a:latin typeface="Angsana New" pitchFamily="18" charset="-34"/>
                  </a:rPr>
                  <a:t>5</a:t>
                </a:r>
              </a:p>
            </p:txBody>
          </p:sp>
          <p:sp>
            <p:nvSpPr>
              <p:cNvPr id="2051140" name="Oval 68"/>
              <p:cNvSpPr>
                <a:spLocks noChangeArrowheads="1"/>
              </p:cNvSpPr>
              <p:nvPr/>
            </p:nvSpPr>
            <p:spPr bwMode="auto">
              <a:xfrm>
                <a:off x="2304" y="2884"/>
                <a:ext cx="240" cy="200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mtClean="0">
                    <a:solidFill>
                      <a:srgbClr val="FFFF00"/>
                    </a:solidFill>
                    <a:latin typeface="Angsana New" pitchFamily="18" charset="-34"/>
                  </a:rPr>
                  <a:t>6</a:t>
                </a:r>
              </a:p>
            </p:txBody>
          </p:sp>
          <p:sp>
            <p:nvSpPr>
              <p:cNvPr id="2051141" name="Line 69"/>
              <p:cNvSpPr>
                <a:spLocks noChangeShapeType="1"/>
              </p:cNvSpPr>
              <p:nvPr/>
            </p:nvSpPr>
            <p:spPr bwMode="auto">
              <a:xfrm flipV="1">
                <a:off x="1632" y="2684"/>
                <a:ext cx="0" cy="20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42" name="Line 70"/>
              <p:cNvSpPr>
                <a:spLocks noChangeShapeType="1"/>
              </p:cNvSpPr>
              <p:nvPr/>
            </p:nvSpPr>
            <p:spPr bwMode="auto">
              <a:xfrm flipH="1" flipV="1">
                <a:off x="2544" y="2562"/>
                <a:ext cx="720" cy="3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43" name="Line 71"/>
              <p:cNvSpPr>
                <a:spLocks noChangeShapeType="1"/>
              </p:cNvSpPr>
              <p:nvPr/>
            </p:nvSpPr>
            <p:spPr bwMode="auto">
              <a:xfrm flipH="1" flipV="1">
                <a:off x="1776" y="2562"/>
                <a:ext cx="528" cy="3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44" name="Line 72"/>
              <p:cNvSpPr>
                <a:spLocks noChangeShapeType="1"/>
              </p:cNvSpPr>
              <p:nvPr/>
            </p:nvSpPr>
            <p:spPr bwMode="auto">
              <a:xfrm flipH="1">
                <a:off x="3456" y="2842"/>
                <a:ext cx="192" cy="16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45" name="Line 73"/>
              <p:cNvSpPr>
                <a:spLocks noChangeShapeType="1"/>
              </p:cNvSpPr>
              <p:nvPr/>
            </p:nvSpPr>
            <p:spPr bwMode="auto">
              <a:xfrm>
                <a:off x="3456" y="2602"/>
                <a:ext cx="192" cy="12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46" name="Line 74"/>
              <p:cNvSpPr>
                <a:spLocks noChangeShapeType="1"/>
              </p:cNvSpPr>
              <p:nvPr/>
            </p:nvSpPr>
            <p:spPr bwMode="auto">
              <a:xfrm flipH="1" flipV="1">
                <a:off x="1776" y="3002"/>
                <a:ext cx="528" cy="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47" name="Line 75"/>
              <p:cNvSpPr>
                <a:spLocks noChangeShapeType="1"/>
              </p:cNvSpPr>
              <p:nvPr/>
            </p:nvSpPr>
            <p:spPr bwMode="auto">
              <a:xfrm flipH="1" flipV="1">
                <a:off x="2544" y="3002"/>
                <a:ext cx="720" cy="2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48" name="AutoShape 76"/>
              <p:cNvSpPr>
                <a:spLocks noChangeArrowheads="1"/>
              </p:cNvSpPr>
              <p:nvPr/>
            </p:nvSpPr>
            <p:spPr bwMode="auto">
              <a:xfrm>
                <a:off x="1920" y="3920"/>
                <a:ext cx="336" cy="200"/>
              </a:xfrm>
              <a:prstGeom prst="diamond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49" name="AutoShape 77"/>
              <p:cNvSpPr>
                <a:spLocks noChangeArrowheads="1"/>
              </p:cNvSpPr>
              <p:nvPr/>
            </p:nvSpPr>
            <p:spPr bwMode="auto">
              <a:xfrm>
                <a:off x="2496" y="3920"/>
                <a:ext cx="288" cy="200"/>
              </a:xfrm>
              <a:prstGeom prst="plus">
                <a:avLst>
                  <a:gd name="adj" fmla="val 25000"/>
                </a:avLst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50" name="Rectangle 78"/>
              <p:cNvSpPr>
                <a:spLocks noChangeArrowheads="1"/>
              </p:cNvSpPr>
              <p:nvPr/>
            </p:nvSpPr>
            <p:spPr bwMode="auto">
              <a:xfrm>
                <a:off x="3456" y="3920"/>
                <a:ext cx="384" cy="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i="1" smtClean="0">
                    <a:solidFill>
                      <a:srgbClr val="000000"/>
                    </a:solidFill>
                    <a:latin typeface="Angsana New" pitchFamily="18" charset="-34"/>
                  </a:rPr>
                  <a:t>5</a:t>
                </a:r>
              </a:p>
            </p:txBody>
          </p:sp>
          <p:sp>
            <p:nvSpPr>
              <p:cNvPr id="2051151" name="Rectangle 79"/>
              <p:cNvSpPr>
                <a:spLocks noChangeArrowheads="1"/>
              </p:cNvSpPr>
              <p:nvPr/>
            </p:nvSpPr>
            <p:spPr bwMode="auto">
              <a:xfrm>
                <a:off x="4032" y="3920"/>
                <a:ext cx="384" cy="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i="1" smtClean="0">
                    <a:solidFill>
                      <a:srgbClr val="000000"/>
                    </a:solidFill>
                    <a:latin typeface="Angsana New" pitchFamily="18" charset="-34"/>
                  </a:rPr>
                  <a:t>31</a:t>
                </a:r>
              </a:p>
            </p:txBody>
          </p:sp>
          <p:sp>
            <p:nvSpPr>
              <p:cNvPr id="2051152" name="Rectangle 80"/>
              <p:cNvSpPr>
                <a:spLocks noChangeArrowheads="1"/>
              </p:cNvSpPr>
              <p:nvPr/>
            </p:nvSpPr>
            <p:spPr bwMode="auto">
              <a:xfrm>
                <a:off x="4560" y="3920"/>
                <a:ext cx="384" cy="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i="1" smtClean="0">
                    <a:solidFill>
                      <a:srgbClr val="000000"/>
                    </a:solidFill>
                    <a:latin typeface="Angsana New" pitchFamily="18" charset="-34"/>
                  </a:rPr>
                  <a:t>29</a:t>
                </a:r>
              </a:p>
            </p:txBody>
          </p:sp>
          <p:sp>
            <p:nvSpPr>
              <p:cNvPr id="2051153" name="Rectangle 81"/>
              <p:cNvSpPr>
                <a:spLocks noChangeArrowheads="1"/>
              </p:cNvSpPr>
              <p:nvPr/>
            </p:nvSpPr>
            <p:spPr bwMode="auto">
              <a:xfrm>
                <a:off x="2832" y="1723"/>
                <a:ext cx="1008" cy="1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b="1" smtClean="0">
                    <a:solidFill>
                      <a:srgbClr val="000000"/>
                    </a:solidFill>
                    <a:latin typeface="Angsana New" pitchFamily="18" charset="-34"/>
                  </a:rPr>
                  <a:t>หยิบ  MAT</a:t>
                </a:r>
                <a:r>
                  <a:rPr lang="en-US" sz="2000" b="1" smtClean="0">
                    <a:solidFill>
                      <a:srgbClr val="000000"/>
                    </a:solidFill>
                    <a:latin typeface="Times New Roman"/>
                  </a:rPr>
                  <a:t>’</a:t>
                </a:r>
                <a:r>
                  <a:rPr lang="en-US" sz="2000" b="1" smtClean="0">
                    <a:solidFill>
                      <a:srgbClr val="000000"/>
                    </a:solidFill>
                    <a:latin typeface="Angsana New" pitchFamily="18" charset="-34"/>
                  </a:rPr>
                  <a:t>L  </a:t>
                </a:r>
              </a:p>
            </p:txBody>
          </p:sp>
          <p:sp>
            <p:nvSpPr>
              <p:cNvPr id="2051154" name="Oval 82"/>
              <p:cNvSpPr>
                <a:spLocks noChangeArrowheads="1"/>
              </p:cNvSpPr>
              <p:nvPr/>
            </p:nvSpPr>
            <p:spPr bwMode="auto">
              <a:xfrm>
                <a:off x="3840" y="1763"/>
                <a:ext cx="144" cy="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1" smtClean="0">
                    <a:solidFill>
                      <a:srgbClr val="000000"/>
                    </a:solidFill>
                    <a:latin typeface="Angsana New" pitchFamily="18" charset="-34"/>
                  </a:rPr>
                  <a:t>1</a:t>
                </a:r>
              </a:p>
            </p:txBody>
          </p:sp>
          <p:sp>
            <p:nvSpPr>
              <p:cNvPr id="2051155" name="Rectangle 83"/>
              <p:cNvSpPr>
                <a:spLocks noChangeArrowheads="1"/>
              </p:cNvSpPr>
              <p:nvPr/>
            </p:nvSpPr>
            <p:spPr bwMode="auto">
              <a:xfrm>
                <a:off x="2784" y="1883"/>
                <a:ext cx="1008" cy="1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000" b="1" smtClean="0">
                    <a:solidFill>
                      <a:srgbClr val="000000"/>
                    </a:solidFill>
                    <a:latin typeface="Angsana New" pitchFamily="18" charset="-34"/>
                  </a:rPr>
                  <a:t>วาง F/G บน Pallet</a:t>
                </a:r>
              </a:p>
            </p:txBody>
          </p:sp>
          <p:sp>
            <p:nvSpPr>
              <p:cNvPr id="2051156" name="Oval 84"/>
              <p:cNvSpPr>
                <a:spLocks noChangeArrowheads="1"/>
              </p:cNvSpPr>
              <p:nvPr/>
            </p:nvSpPr>
            <p:spPr bwMode="auto">
              <a:xfrm>
                <a:off x="3792" y="1923"/>
                <a:ext cx="144" cy="12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b="1" i="1" smtClean="0">
                    <a:solidFill>
                      <a:srgbClr val="000000"/>
                    </a:solidFill>
                    <a:latin typeface="Angsana New" pitchFamily="18" charset="-34"/>
                  </a:rPr>
                  <a:t>7</a:t>
                </a:r>
              </a:p>
            </p:txBody>
          </p:sp>
          <p:sp>
            <p:nvSpPr>
              <p:cNvPr id="2051157" name="Rectangle 85"/>
              <p:cNvSpPr>
                <a:spLocks noChangeArrowheads="1"/>
              </p:cNvSpPr>
              <p:nvPr/>
            </p:nvSpPr>
            <p:spPr bwMode="auto">
              <a:xfrm>
                <a:off x="5088" y="3920"/>
                <a:ext cx="384" cy="24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i="1" smtClean="0">
                    <a:solidFill>
                      <a:srgbClr val="000000"/>
                    </a:solidFill>
                    <a:latin typeface="Angsana New" pitchFamily="18" charset="-34"/>
                  </a:rPr>
                  <a:t>1/1</a:t>
                </a:r>
              </a:p>
            </p:txBody>
          </p:sp>
          <p:sp>
            <p:nvSpPr>
              <p:cNvPr id="2051158" name="Rectangle 86" descr="ลายเส้นบางทแยงมุมลง"/>
              <p:cNvSpPr>
                <a:spLocks noChangeArrowheads="1"/>
              </p:cNvSpPr>
              <p:nvPr/>
            </p:nvSpPr>
            <p:spPr bwMode="auto">
              <a:xfrm>
                <a:off x="2112" y="3121"/>
                <a:ext cx="672" cy="320"/>
              </a:xfrm>
              <a:prstGeom prst="rect">
                <a:avLst/>
              </a:prstGeom>
              <a:pattFill prst="ltDnDiag">
                <a:fgClr>
                  <a:srgbClr val="FF0000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59" name="Rectangle 87"/>
              <p:cNvSpPr>
                <a:spLocks noChangeArrowheads="1"/>
              </p:cNvSpPr>
              <p:nvPr/>
            </p:nvSpPr>
            <p:spPr bwMode="auto">
              <a:xfrm>
                <a:off x="2112" y="3241"/>
                <a:ext cx="720" cy="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i="1" smtClean="0">
                    <a:solidFill>
                      <a:srgbClr val="FF0000"/>
                    </a:solidFill>
                    <a:latin typeface="Angsana New" pitchFamily="18" charset="-34"/>
                  </a:rPr>
                  <a:t>AC-101</a:t>
                </a:r>
              </a:p>
            </p:txBody>
          </p:sp>
          <p:sp>
            <p:nvSpPr>
              <p:cNvPr id="2051160" name="AutoShape 88"/>
              <p:cNvSpPr>
                <a:spLocks noChangeArrowheads="1"/>
              </p:cNvSpPr>
              <p:nvPr/>
            </p:nvSpPr>
            <p:spPr bwMode="auto">
              <a:xfrm>
                <a:off x="2112" y="3161"/>
                <a:ext cx="240" cy="119"/>
              </a:xfrm>
              <a:prstGeom prst="diamond">
                <a:avLst/>
              </a:prstGeom>
              <a:solidFill>
                <a:srgbClr val="FFFF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1600" b="1" smtClean="0">
                  <a:solidFill>
                    <a:srgbClr val="000000"/>
                  </a:solidFill>
                  <a:latin typeface="Angsana New" pitchFamily="18" charset="-34"/>
                </a:endParaRPr>
              </a:p>
            </p:txBody>
          </p:sp>
          <p:sp>
            <p:nvSpPr>
              <p:cNvPr id="2051161" name="AutoShape 89"/>
              <p:cNvSpPr>
                <a:spLocks noChangeArrowheads="1"/>
              </p:cNvSpPr>
              <p:nvPr/>
            </p:nvSpPr>
            <p:spPr bwMode="auto">
              <a:xfrm>
                <a:off x="2400" y="3161"/>
                <a:ext cx="144" cy="119"/>
              </a:xfrm>
              <a:prstGeom prst="plus">
                <a:avLst>
                  <a:gd name="adj" fmla="val 25000"/>
                </a:avLst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62" name="Rectangle 90"/>
              <p:cNvSpPr>
                <a:spLocks noChangeArrowheads="1"/>
              </p:cNvSpPr>
              <p:nvPr/>
            </p:nvSpPr>
            <p:spPr bwMode="auto">
              <a:xfrm>
                <a:off x="4944" y="1164"/>
                <a:ext cx="576" cy="16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800" smtClean="0">
                    <a:solidFill>
                      <a:srgbClr val="000000"/>
                    </a:solidFill>
                    <a:latin typeface="Angsana New" pitchFamily="18" charset="-34"/>
                  </a:rPr>
                  <a:t>25 /04 / 2004</a:t>
                </a:r>
              </a:p>
            </p:txBody>
          </p:sp>
          <p:sp>
            <p:nvSpPr>
              <p:cNvPr id="2051163" name="Rectangle 91"/>
              <p:cNvSpPr>
                <a:spLocks noChangeArrowheads="1"/>
              </p:cNvSpPr>
              <p:nvPr/>
            </p:nvSpPr>
            <p:spPr bwMode="auto">
              <a:xfrm>
                <a:off x="4656" y="3801"/>
                <a:ext cx="192" cy="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Angsana New" pitchFamily="18" charset="-34"/>
                  </a:rPr>
                  <a:t>SEC.</a:t>
                </a:r>
              </a:p>
            </p:txBody>
          </p:sp>
          <p:sp>
            <p:nvSpPr>
              <p:cNvPr id="2051164" name="Rectangle 92"/>
              <p:cNvSpPr>
                <a:spLocks noChangeArrowheads="1"/>
              </p:cNvSpPr>
              <p:nvPr/>
            </p:nvSpPr>
            <p:spPr bwMode="auto">
              <a:xfrm>
                <a:off x="4128" y="3801"/>
                <a:ext cx="192" cy="7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Angsana New" pitchFamily="18" charset="-34"/>
                  </a:rPr>
                  <a:t>SEC.</a:t>
                </a:r>
              </a:p>
            </p:txBody>
          </p:sp>
          <p:sp>
            <p:nvSpPr>
              <p:cNvPr id="2051165" name="Rectangle 93"/>
              <p:cNvSpPr>
                <a:spLocks noChangeArrowheads="1"/>
              </p:cNvSpPr>
              <p:nvPr/>
            </p:nvSpPr>
            <p:spPr bwMode="auto">
              <a:xfrm>
                <a:off x="3024" y="3121"/>
                <a:ext cx="672" cy="32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66" name="Rectangle 94"/>
              <p:cNvSpPr>
                <a:spLocks noChangeArrowheads="1"/>
              </p:cNvSpPr>
              <p:nvPr/>
            </p:nvSpPr>
            <p:spPr bwMode="auto">
              <a:xfrm>
                <a:off x="3024" y="3241"/>
                <a:ext cx="720" cy="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i="1" smtClean="0">
                    <a:solidFill>
                      <a:srgbClr val="FF0000"/>
                    </a:solidFill>
                    <a:latin typeface="Angsana New" pitchFamily="18" charset="-34"/>
                  </a:rPr>
                  <a:t>SP-101</a:t>
                </a:r>
              </a:p>
            </p:txBody>
          </p:sp>
          <p:sp>
            <p:nvSpPr>
              <p:cNvPr id="2051167" name="AutoShape 95"/>
              <p:cNvSpPr>
                <a:spLocks noChangeArrowheads="1"/>
              </p:cNvSpPr>
              <p:nvPr/>
            </p:nvSpPr>
            <p:spPr bwMode="auto">
              <a:xfrm>
                <a:off x="3408" y="3161"/>
                <a:ext cx="144" cy="119"/>
              </a:xfrm>
              <a:prstGeom prst="plus">
                <a:avLst>
                  <a:gd name="adj" fmla="val 25000"/>
                </a:avLst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68" name="Rectangle 96"/>
              <p:cNvSpPr>
                <a:spLocks noChangeArrowheads="1"/>
              </p:cNvSpPr>
              <p:nvPr/>
            </p:nvSpPr>
            <p:spPr bwMode="auto">
              <a:xfrm>
                <a:off x="3024" y="2123"/>
                <a:ext cx="672" cy="31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69" name="Rectangle 97"/>
              <p:cNvSpPr>
                <a:spLocks noChangeArrowheads="1"/>
              </p:cNvSpPr>
              <p:nvPr/>
            </p:nvSpPr>
            <p:spPr bwMode="auto">
              <a:xfrm>
                <a:off x="3024" y="2123"/>
                <a:ext cx="672" cy="1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i="1" smtClean="0">
                    <a:solidFill>
                      <a:srgbClr val="FF0000"/>
                    </a:solidFill>
                    <a:latin typeface="Angsana New" pitchFamily="18" charset="-34"/>
                  </a:rPr>
                  <a:t>B-102</a:t>
                </a:r>
              </a:p>
            </p:txBody>
          </p:sp>
          <p:sp>
            <p:nvSpPr>
              <p:cNvPr id="2051170" name="AutoShape 98"/>
              <p:cNvSpPr>
                <a:spLocks noChangeArrowheads="1"/>
              </p:cNvSpPr>
              <p:nvPr/>
            </p:nvSpPr>
            <p:spPr bwMode="auto">
              <a:xfrm>
                <a:off x="3216" y="2282"/>
                <a:ext cx="144" cy="120"/>
              </a:xfrm>
              <a:prstGeom prst="plus">
                <a:avLst>
                  <a:gd name="adj" fmla="val 25000"/>
                </a:avLst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71" name="Rectangle 99"/>
              <p:cNvSpPr>
                <a:spLocks noChangeArrowheads="1"/>
              </p:cNvSpPr>
              <p:nvPr/>
            </p:nvSpPr>
            <p:spPr bwMode="auto">
              <a:xfrm>
                <a:off x="2112" y="2123"/>
                <a:ext cx="672" cy="319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72" name="Rectangle 100"/>
              <p:cNvSpPr>
                <a:spLocks noChangeArrowheads="1"/>
              </p:cNvSpPr>
              <p:nvPr/>
            </p:nvSpPr>
            <p:spPr bwMode="auto">
              <a:xfrm>
                <a:off x="2064" y="2083"/>
                <a:ext cx="672" cy="1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i="1" smtClean="0">
                    <a:solidFill>
                      <a:srgbClr val="FF0000"/>
                    </a:solidFill>
                    <a:latin typeface="Angsana New" pitchFamily="18" charset="-34"/>
                  </a:rPr>
                  <a:t>B-101</a:t>
                </a:r>
              </a:p>
            </p:txBody>
          </p:sp>
          <p:sp>
            <p:nvSpPr>
              <p:cNvPr id="2051173" name="AutoShape 101"/>
              <p:cNvSpPr>
                <a:spLocks noChangeArrowheads="1"/>
              </p:cNvSpPr>
              <p:nvPr/>
            </p:nvSpPr>
            <p:spPr bwMode="auto">
              <a:xfrm>
                <a:off x="2304" y="2282"/>
                <a:ext cx="144" cy="120"/>
              </a:xfrm>
              <a:prstGeom prst="plus">
                <a:avLst>
                  <a:gd name="adj" fmla="val 25000"/>
                </a:avLst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74" name="Oval 102" descr="ลายเส้นหนาทแยงมุมขึ้น"/>
              <p:cNvSpPr>
                <a:spLocks noChangeArrowheads="1"/>
              </p:cNvSpPr>
              <p:nvPr/>
            </p:nvSpPr>
            <p:spPr bwMode="auto">
              <a:xfrm>
                <a:off x="2496" y="2282"/>
                <a:ext cx="144" cy="120"/>
              </a:xfrm>
              <a:prstGeom prst="ellipse">
                <a:avLst/>
              </a:prstGeom>
              <a:pattFill prst="dkUpDiag">
                <a:fgClr>
                  <a:srgbClr val="99FF33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75" name="Rectangle 103"/>
              <p:cNvSpPr>
                <a:spLocks noChangeArrowheads="1"/>
              </p:cNvSpPr>
              <p:nvPr/>
            </p:nvSpPr>
            <p:spPr bwMode="auto">
              <a:xfrm rot="-5400000">
                <a:off x="3844" y="2565"/>
                <a:ext cx="519" cy="433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76" name="AutoShape 104"/>
              <p:cNvSpPr>
                <a:spLocks noChangeArrowheads="1"/>
              </p:cNvSpPr>
              <p:nvPr/>
            </p:nvSpPr>
            <p:spPr bwMode="auto">
              <a:xfrm rot="-5400000">
                <a:off x="3946" y="2830"/>
                <a:ext cx="120" cy="144"/>
              </a:xfrm>
              <a:prstGeom prst="plus">
                <a:avLst>
                  <a:gd name="adj" fmla="val 25000"/>
                </a:avLst>
              </a:prstGeom>
              <a:solidFill>
                <a:srgbClr val="00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77" name="Rectangle 105"/>
              <p:cNvSpPr>
                <a:spLocks noChangeArrowheads="1"/>
              </p:cNvSpPr>
              <p:nvPr/>
            </p:nvSpPr>
            <p:spPr bwMode="auto">
              <a:xfrm>
                <a:off x="3744" y="2522"/>
                <a:ext cx="720" cy="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2400" b="1" i="1" smtClean="0">
                    <a:solidFill>
                      <a:srgbClr val="FF0000"/>
                    </a:solidFill>
                    <a:latin typeface="Angsana New" pitchFamily="18" charset="-34"/>
                  </a:rPr>
                  <a:t>P-101</a:t>
                </a:r>
              </a:p>
            </p:txBody>
          </p:sp>
          <p:sp>
            <p:nvSpPr>
              <p:cNvPr id="2051178" name="Oval 106" descr="ลายเส้นหนาทแยงมุมขึ้น"/>
              <p:cNvSpPr>
                <a:spLocks noChangeArrowheads="1"/>
              </p:cNvSpPr>
              <p:nvPr/>
            </p:nvSpPr>
            <p:spPr bwMode="auto">
              <a:xfrm>
                <a:off x="3408" y="2282"/>
                <a:ext cx="144" cy="120"/>
              </a:xfrm>
              <a:prstGeom prst="ellipse">
                <a:avLst/>
              </a:prstGeom>
              <a:pattFill prst="dkUpDiag">
                <a:fgClr>
                  <a:srgbClr val="99FF33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79" name="Oval 107" descr="ลายเส้นหนาทแยงมุมขึ้น"/>
              <p:cNvSpPr>
                <a:spLocks noChangeArrowheads="1"/>
              </p:cNvSpPr>
              <p:nvPr/>
            </p:nvSpPr>
            <p:spPr bwMode="auto">
              <a:xfrm>
                <a:off x="2592" y="3161"/>
                <a:ext cx="144" cy="121"/>
              </a:xfrm>
              <a:prstGeom prst="ellipse">
                <a:avLst/>
              </a:prstGeom>
              <a:pattFill prst="dkUpDiag">
                <a:fgClr>
                  <a:srgbClr val="99FF33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80" name="Oval 108" descr="ลายเส้นหนาทแยงมุมขึ้น"/>
              <p:cNvSpPr>
                <a:spLocks noChangeArrowheads="1"/>
              </p:cNvSpPr>
              <p:nvPr/>
            </p:nvSpPr>
            <p:spPr bwMode="auto">
              <a:xfrm>
                <a:off x="3168" y="3161"/>
                <a:ext cx="144" cy="121"/>
              </a:xfrm>
              <a:prstGeom prst="ellipse">
                <a:avLst/>
              </a:prstGeom>
              <a:pattFill prst="dkUpDiag">
                <a:fgClr>
                  <a:srgbClr val="99FF33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81" name="Oval 109" descr="ลายเส้นหนาทแยงมุมขึ้น"/>
              <p:cNvSpPr>
                <a:spLocks noChangeArrowheads="1"/>
              </p:cNvSpPr>
              <p:nvPr/>
            </p:nvSpPr>
            <p:spPr bwMode="auto">
              <a:xfrm>
                <a:off x="3936" y="2682"/>
                <a:ext cx="144" cy="121"/>
              </a:xfrm>
              <a:prstGeom prst="ellipse">
                <a:avLst/>
              </a:prstGeom>
              <a:pattFill prst="dkUpDiag">
                <a:fgClr>
                  <a:srgbClr val="99FF33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82" name="Oval 110" descr="ลายเส้นหนาทแยงมุมขึ้น"/>
              <p:cNvSpPr>
                <a:spLocks noChangeArrowheads="1"/>
              </p:cNvSpPr>
              <p:nvPr/>
            </p:nvSpPr>
            <p:spPr bwMode="auto">
              <a:xfrm>
                <a:off x="3024" y="3920"/>
                <a:ext cx="240" cy="200"/>
              </a:xfrm>
              <a:prstGeom prst="ellipse">
                <a:avLst/>
              </a:prstGeom>
              <a:pattFill prst="dkUpDiag">
                <a:fgClr>
                  <a:srgbClr val="99FF33"/>
                </a:fgClr>
                <a:bgClr>
                  <a:srgbClr val="FFFFFF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83" name="Oval 111"/>
              <p:cNvSpPr>
                <a:spLocks noChangeArrowheads="1"/>
              </p:cNvSpPr>
              <p:nvPr/>
            </p:nvSpPr>
            <p:spPr bwMode="auto">
              <a:xfrm>
                <a:off x="4464" y="2003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1</a:t>
                </a:r>
              </a:p>
            </p:txBody>
          </p:sp>
          <p:sp>
            <p:nvSpPr>
              <p:cNvPr id="2051184" name="Oval 112"/>
              <p:cNvSpPr>
                <a:spLocks noChangeArrowheads="1"/>
              </p:cNvSpPr>
              <p:nvPr/>
            </p:nvSpPr>
            <p:spPr bwMode="auto">
              <a:xfrm>
                <a:off x="3888" y="3081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3</a:t>
                </a:r>
              </a:p>
            </p:txBody>
          </p:sp>
          <p:sp>
            <p:nvSpPr>
              <p:cNvPr id="2051185" name="Oval 113"/>
              <p:cNvSpPr>
                <a:spLocks noChangeArrowheads="1"/>
              </p:cNvSpPr>
              <p:nvPr/>
            </p:nvSpPr>
            <p:spPr bwMode="auto">
              <a:xfrm>
                <a:off x="3792" y="3281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6</a:t>
                </a:r>
              </a:p>
            </p:txBody>
          </p:sp>
          <p:sp>
            <p:nvSpPr>
              <p:cNvPr id="2051186" name="Oval 114"/>
              <p:cNvSpPr>
                <a:spLocks noChangeArrowheads="1"/>
              </p:cNvSpPr>
              <p:nvPr/>
            </p:nvSpPr>
            <p:spPr bwMode="auto">
              <a:xfrm>
                <a:off x="3840" y="2243"/>
                <a:ext cx="480" cy="119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2</a:t>
                </a:r>
              </a:p>
            </p:txBody>
          </p:sp>
          <p:sp>
            <p:nvSpPr>
              <p:cNvPr id="2051187" name="Line 115"/>
              <p:cNvSpPr>
                <a:spLocks noChangeShapeType="1"/>
              </p:cNvSpPr>
              <p:nvPr/>
            </p:nvSpPr>
            <p:spPr bwMode="auto">
              <a:xfrm flipH="1" flipV="1">
                <a:off x="3552" y="3241"/>
                <a:ext cx="24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88" name="Oval 116"/>
              <p:cNvSpPr>
                <a:spLocks noChangeArrowheads="1"/>
              </p:cNvSpPr>
              <p:nvPr/>
            </p:nvSpPr>
            <p:spPr bwMode="auto">
              <a:xfrm>
                <a:off x="2544" y="3481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4</a:t>
                </a:r>
              </a:p>
            </p:txBody>
          </p:sp>
          <p:sp>
            <p:nvSpPr>
              <p:cNvPr id="2051189" name="Oval 117"/>
              <p:cNvSpPr>
                <a:spLocks noChangeArrowheads="1"/>
              </p:cNvSpPr>
              <p:nvPr/>
            </p:nvSpPr>
            <p:spPr bwMode="auto">
              <a:xfrm>
                <a:off x="1440" y="3481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5</a:t>
                </a:r>
              </a:p>
            </p:txBody>
          </p:sp>
          <p:sp>
            <p:nvSpPr>
              <p:cNvPr id="2051190" name="Oval 118"/>
              <p:cNvSpPr>
                <a:spLocks noChangeArrowheads="1"/>
              </p:cNvSpPr>
              <p:nvPr/>
            </p:nvSpPr>
            <p:spPr bwMode="auto">
              <a:xfrm>
                <a:off x="3984" y="3481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7</a:t>
                </a:r>
              </a:p>
            </p:txBody>
          </p:sp>
          <p:sp>
            <p:nvSpPr>
              <p:cNvPr id="2051191" name="Oval 119"/>
              <p:cNvSpPr>
                <a:spLocks noChangeArrowheads="1"/>
              </p:cNvSpPr>
              <p:nvPr/>
            </p:nvSpPr>
            <p:spPr bwMode="auto">
              <a:xfrm>
                <a:off x="1536" y="1324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10</a:t>
                </a:r>
              </a:p>
            </p:txBody>
          </p:sp>
          <p:sp>
            <p:nvSpPr>
              <p:cNvPr id="2051192" name="Oval 120"/>
              <p:cNvSpPr>
                <a:spLocks noChangeArrowheads="1"/>
              </p:cNvSpPr>
              <p:nvPr/>
            </p:nvSpPr>
            <p:spPr bwMode="auto">
              <a:xfrm>
                <a:off x="4944" y="964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11</a:t>
                </a:r>
              </a:p>
            </p:txBody>
          </p:sp>
          <p:sp>
            <p:nvSpPr>
              <p:cNvPr id="2051193" name="Oval 121"/>
              <p:cNvSpPr>
                <a:spLocks noChangeArrowheads="1"/>
              </p:cNvSpPr>
              <p:nvPr/>
            </p:nvSpPr>
            <p:spPr bwMode="auto">
              <a:xfrm>
                <a:off x="4512" y="3481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8</a:t>
                </a:r>
              </a:p>
            </p:txBody>
          </p:sp>
          <p:sp>
            <p:nvSpPr>
              <p:cNvPr id="2051194" name="Oval 122"/>
              <p:cNvSpPr>
                <a:spLocks noChangeArrowheads="1"/>
              </p:cNvSpPr>
              <p:nvPr/>
            </p:nvSpPr>
            <p:spPr bwMode="auto">
              <a:xfrm>
                <a:off x="5040" y="3481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9</a:t>
                </a:r>
              </a:p>
            </p:txBody>
          </p:sp>
          <p:sp>
            <p:nvSpPr>
              <p:cNvPr id="2051195" name="Line 123"/>
              <p:cNvSpPr>
                <a:spLocks noChangeShapeType="1"/>
              </p:cNvSpPr>
              <p:nvPr/>
            </p:nvSpPr>
            <p:spPr bwMode="auto">
              <a:xfrm flipV="1">
                <a:off x="1824" y="3241"/>
                <a:ext cx="384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96" name="Line 124"/>
              <p:cNvSpPr>
                <a:spLocks noChangeShapeType="1"/>
              </p:cNvSpPr>
              <p:nvPr/>
            </p:nvSpPr>
            <p:spPr bwMode="auto">
              <a:xfrm flipH="1" flipV="1">
                <a:off x="2688" y="3281"/>
                <a:ext cx="48" cy="2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97" name="Line 125"/>
              <p:cNvSpPr>
                <a:spLocks noChangeShapeType="1"/>
              </p:cNvSpPr>
              <p:nvPr/>
            </p:nvSpPr>
            <p:spPr bwMode="auto">
              <a:xfrm>
                <a:off x="4224" y="3601"/>
                <a:ext cx="0" cy="1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98" name="Line 126"/>
              <p:cNvSpPr>
                <a:spLocks noChangeShapeType="1"/>
              </p:cNvSpPr>
              <p:nvPr/>
            </p:nvSpPr>
            <p:spPr bwMode="auto">
              <a:xfrm>
                <a:off x="4752" y="3601"/>
                <a:ext cx="0" cy="1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199" name="Line 127"/>
              <p:cNvSpPr>
                <a:spLocks noChangeShapeType="1"/>
              </p:cNvSpPr>
              <p:nvPr/>
            </p:nvSpPr>
            <p:spPr bwMode="auto">
              <a:xfrm>
                <a:off x="5280" y="3601"/>
                <a:ext cx="0" cy="1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200" name="Line 128"/>
              <p:cNvSpPr>
                <a:spLocks noChangeShapeType="1"/>
              </p:cNvSpPr>
              <p:nvPr/>
            </p:nvSpPr>
            <p:spPr bwMode="auto">
              <a:xfrm>
                <a:off x="5184" y="1084"/>
                <a:ext cx="0" cy="1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201" name="Line 129"/>
              <p:cNvSpPr>
                <a:spLocks noChangeShapeType="1"/>
              </p:cNvSpPr>
              <p:nvPr/>
            </p:nvSpPr>
            <p:spPr bwMode="auto">
              <a:xfrm flipH="1">
                <a:off x="3696" y="2322"/>
                <a:ext cx="144" cy="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202" name="Line 130"/>
              <p:cNvSpPr>
                <a:spLocks noChangeShapeType="1"/>
              </p:cNvSpPr>
              <p:nvPr/>
            </p:nvSpPr>
            <p:spPr bwMode="auto">
              <a:xfrm flipH="1" flipV="1">
                <a:off x="4224" y="1963"/>
                <a:ext cx="24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203" name="Line 131"/>
              <p:cNvSpPr>
                <a:spLocks noChangeShapeType="1"/>
              </p:cNvSpPr>
              <p:nvPr/>
            </p:nvSpPr>
            <p:spPr bwMode="auto">
              <a:xfrm flipH="1" flipV="1">
                <a:off x="3552" y="2922"/>
                <a:ext cx="336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204" name="Oval 132"/>
              <p:cNvSpPr>
                <a:spLocks noChangeArrowheads="1"/>
              </p:cNvSpPr>
              <p:nvPr/>
            </p:nvSpPr>
            <p:spPr bwMode="auto">
              <a:xfrm>
                <a:off x="1968" y="3481"/>
                <a:ext cx="480" cy="12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smtClean="0">
                    <a:solidFill>
                      <a:srgbClr val="000000"/>
                    </a:solidFill>
                    <a:latin typeface="Times New Roman" pitchFamily="18" charset="0"/>
                  </a:rPr>
                  <a:t>Step 12</a:t>
                </a:r>
              </a:p>
            </p:txBody>
          </p:sp>
          <p:sp>
            <p:nvSpPr>
              <p:cNvPr id="2051205" name="Line 133"/>
              <p:cNvSpPr>
                <a:spLocks noChangeShapeType="1"/>
              </p:cNvSpPr>
              <p:nvPr/>
            </p:nvSpPr>
            <p:spPr bwMode="auto">
              <a:xfrm flipV="1">
                <a:off x="2160" y="3321"/>
                <a:ext cx="48" cy="1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th-TH" b="1" smtClean="0">
                  <a:solidFill>
                    <a:srgbClr val="000000"/>
                  </a:solidFill>
                </a:endParaRPr>
              </a:p>
            </p:txBody>
          </p:sp>
          <p:sp>
            <p:nvSpPr>
              <p:cNvPr id="2051206" name="Text Box 134"/>
              <p:cNvSpPr txBox="1">
                <a:spLocks noChangeArrowheads="1"/>
              </p:cNvSpPr>
              <p:nvPr/>
            </p:nvSpPr>
            <p:spPr bwMode="auto">
              <a:xfrm>
                <a:off x="1557" y="890"/>
                <a:ext cx="590" cy="16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</a:pPr>
                <a:r>
                  <a:rPr lang="en-US" sz="1200" b="1" smtClean="0">
                    <a:solidFill>
                      <a:srgbClr val="000000"/>
                    </a:solidFill>
                  </a:rPr>
                  <a:t>Example</a:t>
                </a:r>
                <a:endParaRPr lang="th-TH" sz="1200" b="1" smtClean="0">
                  <a:solidFill>
                    <a:srgbClr val="000000"/>
                  </a:solidFill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098" name="Rectangle 2"/>
          <p:cNvSpPr>
            <a:spLocks noChangeArrowheads="1"/>
          </p:cNvSpPr>
          <p:nvPr/>
        </p:nvSpPr>
        <p:spPr bwMode="auto">
          <a:xfrm>
            <a:off x="465138" y="4365625"/>
            <a:ext cx="8532812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3 :</a:t>
            </a: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ลากเส้นเชื่อมต่อการทำงาน โดยดูจากทิศทางการเดินของสภาพหน้างานจริง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</a:p>
        </p:txBody>
      </p:sp>
      <p:sp>
        <p:nvSpPr>
          <p:cNvPr id="2052099" name="Rectangle 3"/>
          <p:cNvSpPr>
            <a:spLocks noChangeArrowheads="1"/>
          </p:cNvSpPr>
          <p:nvPr/>
        </p:nvSpPr>
        <p:spPr bwMode="auto">
          <a:xfrm>
            <a:off x="468313" y="5308600"/>
            <a:ext cx="6192837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4 :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 ใส่สัญลักษณ์ จำนวนงานค้างไลน์มาตรฐานโดย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2100" name="Oval 4" descr="ลายเส้นบางทแยงมุมขึ้น"/>
          <p:cNvSpPr>
            <a:spLocks noChangeArrowheads="1"/>
          </p:cNvSpPr>
          <p:nvPr/>
        </p:nvSpPr>
        <p:spPr bwMode="auto">
          <a:xfrm>
            <a:off x="2767013" y="6124575"/>
            <a:ext cx="360362" cy="304800"/>
          </a:xfrm>
          <a:prstGeom prst="ellipse">
            <a:avLst/>
          </a:prstGeom>
          <a:pattFill prst="ltUpDiag">
            <a:fgClr>
              <a:schemeClr val="tx1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2101" name="Rectangle 5"/>
          <p:cNvSpPr>
            <a:spLocks noChangeArrowheads="1"/>
          </p:cNvSpPr>
          <p:nvPr/>
        </p:nvSpPr>
        <p:spPr bwMode="auto">
          <a:xfrm>
            <a:off x="1331913" y="6018213"/>
            <a:ext cx="6992937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ใช้สัญลักษณ์        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  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ถ้ามี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มากว่า</a:t>
            </a:r>
            <a:r>
              <a:rPr lang="en-US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1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ชิ้นให้ใส่จำนวนระบุ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เช่น </a:t>
            </a:r>
            <a:r>
              <a:rPr lang="en-US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5</a:t>
            </a:r>
            <a:r>
              <a:rPr lang="th-TH" altLang="th-TH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ชิ้น</a:t>
            </a:r>
            <a:r>
              <a:rPr lang="en-US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 =&gt;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2102" name="Text Box 6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2104" name="Line 8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2105" name="Rectangle 9"/>
          <p:cNvSpPr>
            <a:spLocks noChangeArrowheads="1"/>
          </p:cNvSpPr>
          <p:nvPr/>
        </p:nvSpPr>
        <p:spPr bwMode="auto">
          <a:xfrm>
            <a:off x="179388" y="1166813"/>
            <a:ext cx="1374775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 smtClean="0">
                <a:solidFill>
                  <a:srgbClr val="333399"/>
                </a:solidFill>
                <a:latin typeface="Angsana New" pitchFamily="18" charset="-34"/>
              </a:rPr>
              <a:t> </a:t>
            </a:r>
            <a:r>
              <a:rPr lang="th-TH" sz="3200" b="1" u="sng" smtClean="0">
                <a:solidFill>
                  <a:srgbClr val="333399"/>
                </a:solidFill>
                <a:latin typeface="Angsana New" pitchFamily="18" charset="-34"/>
              </a:rPr>
              <a:t>วิธีจัดทำ</a:t>
            </a:r>
          </a:p>
        </p:txBody>
      </p:sp>
      <p:sp>
        <p:nvSpPr>
          <p:cNvPr id="2052106" name="Rectangle 2"/>
          <p:cNvSpPr>
            <a:spLocks noChangeArrowheads="1"/>
          </p:cNvSpPr>
          <p:nvPr/>
        </p:nvSpPr>
        <p:spPr bwMode="auto">
          <a:xfrm>
            <a:off x="1339850" y="1179513"/>
            <a:ext cx="4240213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1200" b="1" smtClean="0">
                <a:solidFill>
                  <a:srgbClr val="333399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333399"/>
                </a:solidFill>
                <a:ea typeface="MS PGothic" pitchFamily="34" charset="-128"/>
                <a:sym typeface="Wingdings" pitchFamily="2" charset="2"/>
              </a:rPr>
              <a:t>How to make standardized work chart?</a:t>
            </a:r>
            <a:endParaRPr lang="th-TH" sz="1200" b="1" smtClean="0">
              <a:solidFill>
                <a:srgbClr val="333399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2107" name="Text Box 11"/>
          <p:cNvSpPr txBox="1">
            <a:spLocks noChangeArrowheads="1"/>
          </p:cNvSpPr>
          <p:nvPr/>
        </p:nvSpPr>
        <p:spPr bwMode="auto">
          <a:xfrm>
            <a:off x="468313" y="1773238"/>
            <a:ext cx="77787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1</a:t>
            </a: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: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 บันทึกจุดเริ่มต้นของการทำงาน และจุดสิ้นสุดของทำงาน ใน 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1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รอบ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                      ของการทำงาน</a:t>
            </a:r>
            <a:endParaRPr lang="th-TH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2108" name="Text Box 12"/>
          <p:cNvSpPr txBox="1">
            <a:spLocks noChangeArrowheads="1"/>
          </p:cNvSpPr>
          <p:nvPr/>
        </p:nvSpPr>
        <p:spPr bwMode="auto">
          <a:xfrm>
            <a:off x="468313" y="3057525"/>
            <a:ext cx="792480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2 :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 เขียนแผนผัง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การทำงานตามสภาพที่แท้จริง ลงหมายเลขลำดับขั้นตอน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                      การทำงานให้ตรงตามแผนผัง</a:t>
            </a:r>
            <a:endParaRPr lang="th-TH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2109" name="Oval 13" descr="ลายเส้นบางทแยงมุมขึ้น"/>
          <p:cNvSpPr>
            <a:spLocks noChangeArrowheads="1"/>
          </p:cNvSpPr>
          <p:nvPr/>
        </p:nvSpPr>
        <p:spPr bwMode="auto">
          <a:xfrm>
            <a:off x="7740650" y="6116638"/>
            <a:ext cx="360363" cy="304800"/>
          </a:xfrm>
          <a:prstGeom prst="ellipse">
            <a:avLst/>
          </a:prstGeom>
          <a:pattFill prst="ltUpDiag">
            <a:fgClr>
              <a:schemeClr val="tx1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2110" name="Text Box 14"/>
          <p:cNvSpPr txBox="1">
            <a:spLocks noChangeArrowheads="1"/>
          </p:cNvSpPr>
          <p:nvPr/>
        </p:nvSpPr>
        <p:spPr bwMode="auto">
          <a:xfrm>
            <a:off x="7769225" y="6002338"/>
            <a:ext cx="307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5</a:t>
            </a:r>
            <a:endParaRPr lang="th-TH" b="1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2111" name="Rectangle 3"/>
          <p:cNvSpPr>
            <a:spLocks noChangeArrowheads="1"/>
          </p:cNvSpPr>
          <p:nvPr/>
        </p:nvSpPr>
        <p:spPr bwMode="auto">
          <a:xfrm>
            <a:off x="1789113" y="2628900"/>
            <a:ext cx="4537075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1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Record start and finished working point of 1cycle</a:t>
            </a:r>
            <a:endParaRPr lang="th-TH" altLang="ja-JP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2112" name="Rectangle 7"/>
          <p:cNvSpPr>
            <a:spLocks noChangeArrowheads="1"/>
          </p:cNvSpPr>
          <p:nvPr/>
        </p:nvSpPr>
        <p:spPr bwMode="auto">
          <a:xfrm>
            <a:off x="1768475" y="3921125"/>
            <a:ext cx="5832475" cy="35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2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Draw l</a:t>
            </a:r>
            <a:r>
              <a:rPr lang="ja-JP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ayout</a:t>
            </a:r>
            <a:r>
              <a:rPr lang="ja-JP" alt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of actual work site and specified number of work sequence </a:t>
            </a:r>
            <a:endParaRPr lang="th-TH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2113" name="Rectangle 8"/>
          <p:cNvSpPr>
            <a:spLocks noChangeArrowheads="1"/>
          </p:cNvSpPr>
          <p:nvPr/>
        </p:nvSpPr>
        <p:spPr bwMode="auto">
          <a:xfrm>
            <a:off x="1743075" y="4784725"/>
            <a:ext cx="6429375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3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Draw working connection line by looking from walking direction in actual work site</a:t>
            </a:r>
          </a:p>
        </p:txBody>
      </p:sp>
      <p:sp>
        <p:nvSpPr>
          <p:cNvPr id="2052114" name="Rectangle 10"/>
          <p:cNvSpPr>
            <a:spLocks noChangeArrowheads="1"/>
          </p:cNvSpPr>
          <p:nvPr/>
        </p:nvSpPr>
        <p:spPr bwMode="auto">
          <a:xfrm>
            <a:off x="1784350" y="5597525"/>
            <a:ext cx="4565650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4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Fill a standardized work in process symbol by</a:t>
            </a:r>
          </a:p>
        </p:txBody>
      </p:sp>
      <p:sp>
        <p:nvSpPr>
          <p:cNvPr id="2052115" name="Rectangle 24"/>
          <p:cNvSpPr>
            <a:spLocks noChangeArrowheads="1"/>
          </p:cNvSpPr>
          <p:nvPr/>
        </p:nvSpPr>
        <p:spPr bwMode="auto">
          <a:xfrm>
            <a:off x="2373313" y="6489700"/>
            <a:ext cx="6119812" cy="29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Fill          </a:t>
            </a:r>
            <a:r>
              <a:rPr lang="th-TH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If have more than 1 pcs. Please specified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number such as 5 pcs. =&gt;</a:t>
            </a:r>
            <a:endParaRPr lang="en-US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2116" name="Oval 20" descr="ลายเส้นบางทแยงมุมขึ้น"/>
          <p:cNvSpPr>
            <a:spLocks noChangeArrowheads="1"/>
          </p:cNvSpPr>
          <p:nvPr/>
        </p:nvSpPr>
        <p:spPr bwMode="auto">
          <a:xfrm>
            <a:off x="2779713" y="6507163"/>
            <a:ext cx="292100" cy="247650"/>
          </a:xfrm>
          <a:prstGeom prst="ellipse">
            <a:avLst/>
          </a:prstGeom>
          <a:pattFill prst="ltUpDiag">
            <a:fgClr>
              <a:schemeClr val="tx1"/>
            </a:fgClr>
            <a:bgClr>
              <a:srgbClr val="FFFFFF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grpSp>
        <p:nvGrpSpPr>
          <p:cNvPr id="2" name="Group 21"/>
          <p:cNvGrpSpPr>
            <a:grpSpLocks/>
          </p:cNvGrpSpPr>
          <p:nvPr/>
        </p:nvGrpSpPr>
        <p:grpSpPr bwMode="auto">
          <a:xfrm>
            <a:off x="7740650" y="6507163"/>
            <a:ext cx="307975" cy="247650"/>
            <a:chOff x="4876" y="4099"/>
            <a:chExt cx="194" cy="156"/>
          </a:xfrm>
        </p:grpSpPr>
        <p:sp>
          <p:nvSpPr>
            <p:cNvPr id="2052118" name="Oval 22" descr="ลายเส้นบางทแยงมุมขึ้น"/>
            <p:cNvSpPr>
              <a:spLocks noChangeArrowheads="1"/>
            </p:cNvSpPr>
            <p:nvPr/>
          </p:nvSpPr>
          <p:spPr bwMode="auto">
            <a:xfrm>
              <a:off x="4876" y="4099"/>
              <a:ext cx="184" cy="156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52119" name="Text Box 23"/>
            <p:cNvSpPr txBox="1">
              <a:spLocks noChangeArrowheads="1"/>
            </p:cNvSpPr>
            <p:nvPr/>
          </p:nvSpPr>
          <p:spPr bwMode="auto">
            <a:xfrm>
              <a:off x="4876" y="4104"/>
              <a:ext cx="194" cy="1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b="1" smtClean="0">
                  <a:solidFill>
                    <a:srgbClr val="000000"/>
                  </a:solidFill>
                  <a:latin typeface="Angsana New" pitchFamily="18" charset="-34"/>
                </a:rPr>
                <a:t>5</a:t>
              </a:r>
              <a:endParaRPr lang="th-TH" b="1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122" name="Rectangle 2"/>
          <p:cNvSpPr>
            <a:spLocks noChangeArrowheads="1"/>
          </p:cNvSpPr>
          <p:nvPr/>
        </p:nvSpPr>
        <p:spPr bwMode="auto">
          <a:xfrm>
            <a:off x="468313" y="2870200"/>
            <a:ext cx="7743825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6 :</a:t>
            </a: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ใส่เครื่องหมาย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        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ในบริเวณที่เน้นเรื่องความปลอดภัย</a:t>
            </a:r>
          </a:p>
        </p:txBody>
      </p:sp>
      <p:sp>
        <p:nvSpPr>
          <p:cNvPr id="2053123" name="AutoShape 3"/>
          <p:cNvSpPr>
            <a:spLocks noChangeArrowheads="1"/>
          </p:cNvSpPr>
          <p:nvPr/>
        </p:nvSpPr>
        <p:spPr bwMode="auto">
          <a:xfrm>
            <a:off x="3360738" y="2963863"/>
            <a:ext cx="288925" cy="288925"/>
          </a:xfrm>
          <a:prstGeom prst="plus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3124" name="Rectangle 4"/>
          <p:cNvSpPr>
            <a:spLocks noChangeArrowheads="1"/>
          </p:cNvSpPr>
          <p:nvPr/>
        </p:nvSpPr>
        <p:spPr bwMode="auto">
          <a:xfrm>
            <a:off x="468313" y="3738563"/>
            <a:ext cx="6049962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7 :</a:t>
            </a: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ใส่ค่าเวลาที่ลูกค้าต้องการชิ้นงาน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ชิ้น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3125" name="Rectangle 5"/>
          <p:cNvSpPr>
            <a:spLocks noChangeArrowheads="1"/>
          </p:cNvSpPr>
          <p:nvPr/>
        </p:nvSpPr>
        <p:spPr bwMode="auto">
          <a:xfrm>
            <a:off x="468313" y="4598988"/>
            <a:ext cx="5688012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8 :</a:t>
            </a: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ใส่ค่าเวลาที่ใช้ผลิตชิ้นงาน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/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ชิ้น</a:t>
            </a: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3126" name="Rectangle 6"/>
          <p:cNvSpPr>
            <a:spLocks noChangeArrowheads="1"/>
          </p:cNvSpPr>
          <p:nvPr/>
        </p:nvSpPr>
        <p:spPr bwMode="auto">
          <a:xfrm>
            <a:off x="465138" y="5440363"/>
            <a:ext cx="8499475" cy="93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smtClean="0">
                <a:solidFill>
                  <a:srgbClr val="000000"/>
                </a:solidFill>
                <a:latin typeface="Angsana New" pitchFamily="18" charset="-34"/>
              </a:rPr>
              <a:t>9 :</a:t>
            </a:r>
            <a:r>
              <a:rPr lang="th-TH" b="1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ลำดับของคนทำงานโดยมีรูปแบบการเขียนคือ  ลำดับคนที่/จากจำนวนคน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                      ทั้งหมด เช่น 2/6 หมายความว่า พนักงานคนที่ 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2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 จากพนักงานทั้งหมด</a:t>
            </a:r>
            <a:r>
              <a:rPr lang="en-US" smtClean="0">
                <a:solidFill>
                  <a:srgbClr val="000000"/>
                </a:solidFill>
                <a:latin typeface="Angsana New" pitchFamily="18" charset="-34"/>
              </a:rPr>
              <a:t> 6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 คน</a:t>
            </a:r>
          </a:p>
        </p:txBody>
      </p:sp>
      <p:sp>
        <p:nvSpPr>
          <p:cNvPr id="2053127" name="Text Box 7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3129" name="Line 9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3130" name="Rectangle 10"/>
          <p:cNvSpPr>
            <a:spLocks noChangeArrowheads="1"/>
          </p:cNvSpPr>
          <p:nvPr/>
        </p:nvSpPr>
        <p:spPr bwMode="auto">
          <a:xfrm>
            <a:off x="468313" y="1268413"/>
            <a:ext cx="8599487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dirty="0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b="1" dirty="0" smtClean="0">
                <a:solidFill>
                  <a:srgbClr val="000000"/>
                </a:solidFill>
                <a:latin typeface="Angsana New" pitchFamily="18" charset="-34"/>
              </a:rPr>
              <a:t>5 :</a:t>
            </a:r>
            <a:r>
              <a:rPr lang="th-TH" b="1" dirty="0" smtClean="0">
                <a:solidFill>
                  <a:srgbClr val="000000"/>
                </a:solidFill>
                <a:latin typeface="Angsana New" pitchFamily="18" charset="-34"/>
              </a:rPr>
              <a:t> </a:t>
            </a:r>
            <a:r>
              <a:rPr lang="en-US" dirty="0" err="1" smtClean="0">
                <a:solidFill>
                  <a:srgbClr val="000000"/>
                </a:solidFill>
                <a:latin typeface="Angsana New" pitchFamily="18" charset="-34"/>
              </a:rPr>
              <a:t>ใส่เครื่องหมาย</a:t>
            </a:r>
            <a:r>
              <a:rPr lang="en-US" dirty="0" smtClean="0">
                <a:solidFill>
                  <a:srgbClr val="000000"/>
                </a:solidFill>
                <a:latin typeface="Angsana New" pitchFamily="18" charset="-34"/>
              </a:rPr>
              <a:t>        </a:t>
            </a:r>
            <a:r>
              <a:rPr lang="en-US" dirty="0" err="1" smtClean="0">
                <a:solidFill>
                  <a:srgbClr val="000000"/>
                </a:solidFill>
                <a:latin typeface="Angsana New" pitchFamily="18" charset="-34"/>
              </a:rPr>
              <a:t>ในเครื่องจักร</a:t>
            </a:r>
            <a:r>
              <a:rPr lang="en-US" dirty="0" smtClean="0">
                <a:solidFill>
                  <a:srgbClr val="000000"/>
                </a:solidFill>
                <a:latin typeface="Angsana New" pitchFamily="18" charset="-34"/>
              </a:rPr>
              <a:t>  (PROCESS) </a:t>
            </a:r>
            <a:r>
              <a:rPr lang="en-US" dirty="0" err="1" smtClean="0">
                <a:solidFill>
                  <a:srgbClr val="000000"/>
                </a:solidFill>
                <a:latin typeface="Angsana New" pitchFamily="18" charset="-34"/>
              </a:rPr>
              <a:t>ที่</a:t>
            </a:r>
            <a:r>
              <a:rPr lang="th-TH" dirty="0" smtClean="0">
                <a:solidFill>
                  <a:srgbClr val="000000"/>
                </a:solidFill>
                <a:latin typeface="Angsana New" pitchFamily="18" charset="-34"/>
              </a:rPr>
              <a:t>มีการตรวจ</a:t>
            </a:r>
            <a:r>
              <a:rPr lang="en-US" dirty="0" err="1" smtClean="0">
                <a:solidFill>
                  <a:srgbClr val="000000"/>
                </a:solidFill>
                <a:latin typeface="Angsana New" pitchFamily="18" charset="-34"/>
              </a:rPr>
              <a:t>เช็คคุณภาพ</a:t>
            </a:r>
            <a:endParaRPr lang="en-US" dirty="0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3131" name="Rectangle 11"/>
          <p:cNvSpPr>
            <a:spLocks noChangeArrowheads="1"/>
          </p:cNvSpPr>
          <p:nvPr/>
        </p:nvSpPr>
        <p:spPr bwMode="auto">
          <a:xfrm>
            <a:off x="2022475" y="1916113"/>
            <a:ext cx="365760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b="1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3132" name="AutoShape 12"/>
          <p:cNvSpPr>
            <a:spLocks noChangeArrowheads="1"/>
          </p:cNvSpPr>
          <p:nvPr/>
        </p:nvSpPr>
        <p:spPr bwMode="auto">
          <a:xfrm>
            <a:off x="3330575" y="1370013"/>
            <a:ext cx="288925" cy="288925"/>
          </a:xfrm>
          <a:prstGeom prst="flowChartDecision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3133" name="Rectangle 13"/>
          <p:cNvSpPr>
            <a:spLocks noChangeArrowheads="1"/>
          </p:cNvSpPr>
          <p:nvPr/>
        </p:nvSpPr>
        <p:spPr bwMode="auto">
          <a:xfrm>
            <a:off x="552450" y="1958975"/>
            <a:ext cx="7764463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smtClean="0">
                <a:solidFill>
                  <a:srgbClr val="000000"/>
                </a:solidFill>
                <a:latin typeface="Angsana New" pitchFamily="18" charset="-34"/>
              </a:rPr>
              <a:t>*</a:t>
            </a:r>
            <a:r>
              <a:rPr lang="th-TH" sz="2400" b="1" smtClean="0">
                <a:solidFill>
                  <a:srgbClr val="000000"/>
                </a:solidFill>
                <a:latin typeface="Angsana New" pitchFamily="18" charset="-34"/>
              </a:rPr>
              <a:t>ในกรณีที่เป็นการสุ่มตรวจให้เขียนสัดส่วนการตรวจลงไปด้วย เช่น</a:t>
            </a:r>
            <a:r>
              <a:rPr lang="en-US" sz="2400" b="1" smtClean="0">
                <a:solidFill>
                  <a:srgbClr val="000000"/>
                </a:solidFill>
                <a:latin typeface="Angsana New" pitchFamily="18" charset="-34"/>
              </a:rPr>
              <a:t>  </a:t>
            </a:r>
            <a:r>
              <a:rPr lang="th-TH" sz="2400" b="1" smtClean="0">
                <a:solidFill>
                  <a:srgbClr val="000000"/>
                </a:solidFill>
                <a:latin typeface="Angsana New" pitchFamily="18" charset="-34"/>
              </a:rPr>
              <a:t>สุ่ม </a:t>
            </a:r>
            <a:r>
              <a:rPr lang="en-US" altLang="ja-JP" sz="2400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1</a:t>
            </a:r>
            <a:r>
              <a:rPr lang="th-TH" altLang="ja-JP" sz="2400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 ชิ้น จาก </a:t>
            </a:r>
            <a:r>
              <a:rPr lang="en-US" altLang="ja-JP" sz="2400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10</a:t>
            </a:r>
            <a:r>
              <a:rPr lang="th-TH" altLang="ja-JP" sz="2400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 ชิ้น</a:t>
            </a:r>
            <a:r>
              <a:rPr lang="ja-JP" altLang="en-US" sz="2400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 </a:t>
            </a:r>
            <a:r>
              <a:rPr lang="en-US" altLang="ja-JP" sz="2400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=&gt;</a:t>
            </a:r>
            <a:endParaRPr lang="ja-JP" altLang="en-US" sz="2400" b="1" smtClean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grpSp>
        <p:nvGrpSpPr>
          <p:cNvPr id="2" name="Group 14"/>
          <p:cNvGrpSpPr>
            <a:grpSpLocks/>
          </p:cNvGrpSpPr>
          <p:nvPr/>
        </p:nvGrpSpPr>
        <p:grpSpPr bwMode="auto">
          <a:xfrm>
            <a:off x="8170863" y="1947863"/>
            <a:ext cx="722312" cy="492125"/>
            <a:chOff x="5147" y="3853"/>
            <a:chExt cx="455" cy="310"/>
          </a:xfrm>
        </p:grpSpPr>
        <p:sp>
          <p:nvSpPr>
            <p:cNvPr id="2053135" name="AutoShape 15"/>
            <p:cNvSpPr>
              <a:spLocks noChangeArrowheads="1"/>
            </p:cNvSpPr>
            <p:nvPr/>
          </p:nvSpPr>
          <p:spPr bwMode="auto">
            <a:xfrm>
              <a:off x="5147" y="3853"/>
              <a:ext cx="409" cy="310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53136" name="Text Box 16"/>
            <p:cNvSpPr txBox="1">
              <a:spLocks noChangeArrowheads="1"/>
            </p:cNvSpPr>
            <p:nvPr/>
          </p:nvSpPr>
          <p:spPr bwMode="auto">
            <a:xfrm>
              <a:off x="5161" y="3908"/>
              <a:ext cx="441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mtClean="0">
                  <a:solidFill>
                    <a:srgbClr val="000000"/>
                  </a:solidFill>
                  <a:latin typeface="Angsana New" pitchFamily="18" charset="-34"/>
                </a:rPr>
                <a:t>1/10</a:t>
              </a:r>
              <a:endParaRPr lang="th-TH" smtClean="0">
                <a:solidFill>
                  <a:srgbClr val="000000"/>
                </a:solidFill>
                <a:latin typeface="Angsana New" pitchFamily="18" charset="-34"/>
              </a:endParaRPr>
            </a:p>
          </p:txBody>
        </p:sp>
      </p:grpSp>
      <p:sp>
        <p:nvSpPr>
          <p:cNvPr id="2053137" name="Rectangle 23"/>
          <p:cNvSpPr>
            <a:spLocks noChangeArrowheads="1"/>
          </p:cNvSpPr>
          <p:nvPr/>
        </p:nvSpPr>
        <p:spPr bwMode="auto">
          <a:xfrm>
            <a:off x="1793875" y="1662113"/>
            <a:ext cx="6091238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5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In case of random inspection, please write down a ratio of the inspection</a:t>
            </a:r>
            <a:endParaRPr lang="ja-JP" altLang="en-US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3138" name="Rectangle 23"/>
          <p:cNvSpPr>
            <a:spLocks noChangeArrowheads="1"/>
          </p:cNvSpPr>
          <p:nvPr/>
        </p:nvSpPr>
        <p:spPr bwMode="auto">
          <a:xfrm>
            <a:off x="1741488" y="2268538"/>
            <a:ext cx="5472112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* In case of  random check 1 pcs. from 10 pcs. The symbol is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=&gt;</a:t>
            </a:r>
            <a:endParaRPr lang="ja-JP" altLang="en-US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6197600" y="2344738"/>
            <a:ext cx="576263" cy="327025"/>
            <a:chOff x="4265" y="1525"/>
            <a:chExt cx="363" cy="206"/>
          </a:xfrm>
        </p:grpSpPr>
        <p:sp>
          <p:nvSpPr>
            <p:cNvPr id="2053140" name="AutoShape 20"/>
            <p:cNvSpPr>
              <a:spLocks noChangeArrowheads="1"/>
            </p:cNvSpPr>
            <p:nvPr/>
          </p:nvSpPr>
          <p:spPr bwMode="auto">
            <a:xfrm>
              <a:off x="4286" y="1525"/>
              <a:ext cx="272" cy="206"/>
            </a:xfrm>
            <a:prstGeom prst="flowChartDecision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th-TH" b="1" smtClean="0">
                <a:solidFill>
                  <a:srgbClr val="000000"/>
                </a:solidFill>
              </a:endParaRPr>
            </a:p>
          </p:txBody>
        </p:sp>
        <p:sp>
          <p:nvSpPr>
            <p:cNvPr id="2053141" name="Text Box 21"/>
            <p:cNvSpPr txBox="1">
              <a:spLocks noChangeArrowheads="1"/>
            </p:cNvSpPr>
            <p:nvPr/>
          </p:nvSpPr>
          <p:spPr bwMode="auto">
            <a:xfrm>
              <a:off x="4265" y="1549"/>
              <a:ext cx="363" cy="1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200" smtClean="0">
                  <a:solidFill>
                    <a:srgbClr val="000000"/>
                  </a:solidFill>
                </a:rPr>
                <a:t>1/10</a:t>
              </a:r>
              <a:endParaRPr lang="th-TH" sz="1200" smtClean="0">
                <a:solidFill>
                  <a:srgbClr val="000000"/>
                </a:solidFill>
              </a:endParaRPr>
            </a:p>
          </p:txBody>
        </p:sp>
      </p:grpSp>
      <p:sp>
        <p:nvSpPr>
          <p:cNvPr id="2053142" name="Rectangle 19"/>
          <p:cNvSpPr>
            <a:spLocks noChangeArrowheads="1"/>
          </p:cNvSpPr>
          <p:nvPr/>
        </p:nvSpPr>
        <p:spPr bwMode="auto">
          <a:xfrm>
            <a:off x="1793875" y="3217863"/>
            <a:ext cx="5608638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6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Fill             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into safety check box area</a:t>
            </a:r>
            <a:endParaRPr lang="th-TH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3143" name="AutoShape 23"/>
          <p:cNvSpPr>
            <a:spLocks noChangeArrowheads="1"/>
          </p:cNvSpPr>
          <p:nvPr/>
        </p:nvSpPr>
        <p:spPr bwMode="auto">
          <a:xfrm>
            <a:off x="2886075" y="3297238"/>
            <a:ext cx="317500" cy="288925"/>
          </a:xfrm>
          <a:prstGeom prst="plus">
            <a:avLst>
              <a:gd name="adj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3144" name="Rectangle 26"/>
          <p:cNvSpPr>
            <a:spLocks noChangeArrowheads="1"/>
          </p:cNvSpPr>
          <p:nvPr/>
        </p:nvSpPr>
        <p:spPr bwMode="auto">
          <a:xfrm>
            <a:off x="1801813" y="4165600"/>
            <a:ext cx="6475412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7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Fill </a:t>
            </a:r>
            <a:r>
              <a:rPr lang="th-TH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Takt Time</a:t>
            </a:r>
          </a:p>
        </p:txBody>
      </p:sp>
      <p:sp>
        <p:nvSpPr>
          <p:cNvPr id="2053145" name="Rectangle 27"/>
          <p:cNvSpPr>
            <a:spLocks noChangeArrowheads="1"/>
          </p:cNvSpPr>
          <p:nvPr/>
        </p:nvSpPr>
        <p:spPr bwMode="auto">
          <a:xfrm>
            <a:off x="1801813" y="5021263"/>
            <a:ext cx="2122487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8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th-TH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Fill</a:t>
            </a:r>
            <a:r>
              <a:rPr lang="th-TH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Cycle Time</a:t>
            </a:r>
          </a:p>
        </p:txBody>
      </p:sp>
      <p:sp>
        <p:nvSpPr>
          <p:cNvPr id="2053146" name="Rectangle 29"/>
          <p:cNvSpPr>
            <a:spLocks noChangeArrowheads="1"/>
          </p:cNvSpPr>
          <p:nvPr/>
        </p:nvSpPr>
        <p:spPr bwMode="auto">
          <a:xfrm>
            <a:off x="1771650" y="6172200"/>
            <a:ext cx="5400675" cy="66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9 :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Draw operator number as following  operator no. / Total operator</a:t>
            </a:r>
          </a:p>
          <a:p>
            <a:pPr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Example : 2/6 is means operator no.2 from 6 operators</a:t>
            </a:r>
            <a:endParaRPr lang="th-TH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 bwMode="auto">
          <a:xfrm>
            <a:off x="1000100" y="5786454"/>
            <a:ext cx="4071966" cy="714380"/>
          </a:xfrm>
          <a:prstGeom prst="rect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ngsana New" pitchFamily="18" charset="-34"/>
            </a:endParaRPr>
          </a:p>
        </p:txBody>
      </p:sp>
      <p:sp>
        <p:nvSpPr>
          <p:cNvPr id="2017282" name="Rectangle 2"/>
          <p:cNvSpPr>
            <a:spLocks noChangeArrowheads="1"/>
          </p:cNvSpPr>
          <p:nvPr/>
        </p:nvSpPr>
        <p:spPr bwMode="auto">
          <a:xfrm>
            <a:off x="0" y="152400"/>
            <a:ext cx="6858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th-TH" sz="5400" b="1">
              <a:solidFill>
                <a:srgbClr val="000000"/>
              </a:solidFill>
              <a:latin typeface="Times New Roman" pitchFamily="18" charset="0"/>
              <a:cs typeface="DilleniaUPC" pitchFamily="18" charset="-34"/>
            </a:endParaRPr>
          </a:p>
        </p:txBody>
      </p:sp>
      <p:sp>
        <p:nvSpPr>
          <p:cNvPr id="2017283" name="Line 3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>
              <a:solidFill>
                <a:srgbClr val="000000"/>
              </a:solidFill>
            </a:endParaRPr>
          </a:p>
        </p:txBody>
      </p:sp>
      <p:sp>
        <p:nvSpPr>
          <p:cNvPr id="2017284" name="Text Box 4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17286" name="Text Box 6"/>
          <p:cNvSpPr txBox="1">
            <a:spLocks noChangeArrowheads="1"/>
          </p:cNvSpPr>
          <p:nvPr/>
        </p:nvSpPr>
        <p:spPr bwMode="auto">
          <a:xfrm>
            <a:off x="179388" y="1268413"/>
            <a:ext cx="4608512" cy="579437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ngsana New" pitchFamily="18" charset="-34"/>
              </a:rPr>
              <a:t>งานมาตรฐาน</a:t>
            </a:r>
            <a:endParaRPr lang="en-US" sz="3200" b="1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Angsana New" pitchFamily="18" charset="-34"/>
            </a:endParaRPr>
          </a:p>
        </p:txBody>
      </p:sp>
      <p:sp>
        <p:nvSpPr>
          <p:cNvPr id="2017287" name="Text Box 7"/>
          <p:cNvSpPr txBox="1">
            <a:spLocks noChangeArrowheads="1"/>
          </p:cNvSpPr>
          <p:nvPr/>
        </p:nvSpPr>
        <p:spPr bwMode="auto">
          <a:xfrm>
            <a:off x="1835150" y="1484313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Standardized Work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17288" name="Text Box 8"/>
          <p:cNvSpPr txBox="1">
            <a:spLocks noChangeArrowheads="1"/>
          </p:cNvSpPr>
          <p:nvPr/>
        </p:nvSpPr>
        <p:spPr bwMode="auto">
          <a:xfrm>
            <a:off x="1095375" y="2271713"/>
            <a:ext cx="20177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1)</a:t>
            </a:r>
            <a:r>
              <a:rPr lang="en-US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ตารางจับเวลา</a:t>
            </a:r>
          </a:p>
        </p:txBody>
      </p:sp>
      <p:sp>
        <p:nvSpPr>
          <p:cNvPr id="2017289" name="Text Box 9"/>
          <p:cNvSpPr txBox="1">
            <a:spLocks noChangeArrowheads="1"/>
          </p:cNvSpPr>
          <p:nvPr/>
        </p:nvSpPr>
        <p:spPr bwMode="auto">
          <a:xfrm>
            <a:off x="1095375" y="3027363"/>
            <a:ext cx="4011613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2)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เอกสารงานมาตรฐาน 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รายการ</a:t>
            </a:r>
          </a:p>
        </p:txBody>
      </p:sp>
      <p:sp>
        <p:nvSpPr>
          <p:cNvPr id="2017290" name="Text Box 10"/>
          <p:cNvSpPr txBox="1">
            <a:spLocks noChangeArrowheads="1"/>
          </p:cNvSpPr>
          <p:nvPr/>
        </p:nvSpPr>
        <p:spPr bwMode="auto">
          <a:xfrm>
            <a:off x="1095375" y="5762625"/>
            <a:ext cx="2524125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3)</a:t>
            </a:r>
            <a:r>
              <a:rPr lang="en-US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แผนภาพภาระงาน</a:t>
            </a:r>
          </a:p>
        </p:txBody>
      </p:sp>
      <p:sp>
        <p:nvSpPr>
          <p:cNvPr id="2017291" name="Text Box 11"/>
          <p:cNvSpPr txBox="1">
            <a:spLocks noChangeArrowheads="1"/>
          </p:cNvSpPr>
          <p:nvPr/>
        </p:nvSpPr>
        <p:spPr bwMode="auto">
          <a:xfrm>
            <a:off x="1763713" y="3687763"/>
            <a:ext cx="6094412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2.1)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ใบแสดงความสามารถในการทำงานของเครื่องจักร</a:t>
            </a:r>
          </a:p>
        </p:txBody>
      </p:sp>
      <p:sp>
        <p:nvSpPr>
          <p:cNvPr id="2017292" name="Text Box 12"/>
          <p:cNvSpPr txBox="1">
            <a:spLocks noChangeArrowheads="1"/>
          </p:cNvSpPr>
          <p:nvPr/>
        </p:nvSpPr>
        <p:spPr bwMode="auto">
          <a:xfrm>
            <a:off x="1763713" y="4314825"/>
            <a:ext cx="3328987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2.2)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ตารางงานมาตรฐานผสม</a:t>
            </a:r>
          </a:p>
        </p:txBody>
      </p:sp>
      <p:sp>
        <p:nvSpPr>
          <p:cNvPr id="2017293" name="Text Box 13"/>
          <p:cNvSpPr txBox="1">
            <a:spLocks noChangeArrowheads="1"/>
          </p:cNvSpPr>
          <p:nvPr/>
        </p:nvSpPr>
        <p:spPr bwMode="auto">
          <a:xfrm>
            <a:off x="1763713" y="4949825"/>
            <a:ext cx="3128962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Angsana New" pitchFamily="18" charset="-34"/>
              </a:rPr>
              <a:t>2.3) </a:t>
            </a:r>
            <a:r>
              <a:rPr lang="th-TH" sz="3200">
                <a:solidFill>
                  <a:srgbClr val="000000"/>
                </a:solidFill>
                <a:latin typeface="Angsana New" pitchFamily="18" charset="-34"/>
              </a:rPr>
              <a:t>แผนภาพงานมาตรฐาน</a:t>
            </a:r>
          </a:p>
        </p:txBody>
      </p:sp>
      <p:sp>
        <p:nvSpPr>
          <p:cNvPr id="2017294" name="Text Box 14"/>
          <p:cNvSpPr txBox="1">
            <a:spLocks noChangeArrowheads="1"/>
          </p:cNvSpPr>
          <p:nvPr/>
        </p:nvSpPr>
        <p:spPr bwMode="auto">
          <a:xfrm>
            <a:off x="3081338" y="2471738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 dirty="0">
                <a:solidFill>
                  <a:srgbClr val="000000"/>
                </a:solidFill>
              </a:rPr>
              <a:t>Time Measurement Sheet</a:t>
            </a:r>
            <a:endParaRPr lang="th-TH" sz="1200" b="1" dirty="0">
              <a:solidFill>
                <a:srgbClr val="000000"/>
              </a:solidFill>
            </a:endParaRPr>
          </a:p>
        </p:txBody>
      </p:sp>
      <p:sp>
        <p:nvSpPr>
          <p:cNvPr id="2017295" name="Text Box 15"/>
          <p:cNvSpPr txBox="1">
            <a:spLocks noChangeArrowheads="1"/>
          </p:cNvSpPr>
          <p:nvPr/>
        </p:nvSpPr>
        <p:spPr bwMode="auto">
          <a:xfrm>
            <a:off x="5076825" y="321310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3 Ten Set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2017296" name="Text Box 16"/>
          <p:cNvSpPr txBox="1">
            <a:spLocks noChangeArrowheads="1"/>
          </p:cNvSpPr>
          <p:nvPr/>
        </p:nvSpPr>
        <p:spPr bwMode="auto">
          <a:xfrm>
            <a:off x="2266950" y="412750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Machine Capacity Sheet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7" name="Text Box 17"/>
          <p:cNvSpPr txBox="1">
            <a:spLocks noChangeArrowheads="1"/>
          </p:cNvSpPr>
          <p:nvPr/>
        </p:nvSpPr>
        <p:spPr bwMode="auto">
          <a:xfrm>
            <a:off x="2266950" y="4772025"/>
            <a:ext cx="2909888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Combination Table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8" name="Text Box 18"/>
          <p:cNvSpPr txBox="1">
            <a:spLocks noChangeArrowheads="1"/>
          </p:cNvSpPr>
          <p:nvPr/>
        </p:nvSpPr>
        <p:spPr bwMode="auto">
          <a:xfrm>
            <a:off x="2266950" y="5411788"/>
            <a:ext cx="29098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>
                <a:solidFill>
                  <a:srgbClr val="000000"/>
                </a:solidFill>
              </a:rPr>
              <a:t>Standardized Work Chart</a:t>
            </a:r>
            <a:endParaRPr lang="th-TH" sz="1200">
              <a:solidFill>
                <a:srgbClr val="000000"/>
              </a:solidFill>
            </a:endParaRPr>
          </a:p>
        </p:txBody>
      </p:sp>
      <p:sp>
        <p:nvSpPr>
          <p:cNvPr id="2017299" name="Text Box 19"/>
          <p:cNvSpPr txBox="1">
            <a:spLocks noChangeArrowheads="1"/>
          </p:cNvSpPr>
          <p:nvPr/>
        </p:nvSpPr>
        <p:spPr bwMode="auto">
          <a:xfrm>
            <a:off x="3597275" y="5937250"/>
            <a:ext cx="208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>
                <a:solidFill>
                  <a:srgbClr val="000000"/>
                </a:solidFill>
              </a:rPr>
              <a:t>Yamazumi Chart</a:t>
            </a:r>
            <a:endParaRPr lang="th-TH" sz="1200" b="1">
              <a:solidFill>
                <a:srgbClr val="000000"/>
              </a:solidFill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000100" y="2214554"/>
            <a:ext cx="4071966" cy="85725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h-TH" sz="2800" b="1" i="0" u="none" strike="noStrike" cap="none" normalizeH="0" baseline="0" dirty="0" smtClean="0">
              <a:ln>
                <a:noFill/>
              </a:ln>
              <a:noFill/>
              <a:effectLst/>
              <a:latin typeface="Arial" pitchFamily="34" charset="0"/>
              <a:cs typeface="Angsana New" pitchFamily="18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146" name="Picture 2"/>
          <p:cNvPicPr>
            <a:picLocks noChangeAspect="1" noChangeArrowheads="1"/>
          </p:cNvPicPr>
          <p:nvPr/>
        </p:nvPicPr>
        <p:blipFill>
          <a:blip r:embed="rId2" cstate="print">
            <a:lum bright="18000" contrast="30000"/>
          </a:blip>
          <a:srcRect t="93" b="2141"/>
          <a:stretch>
            <a:fillRect/>
          </a:stretch>
        </p:blipFill>
        <p:spPr bwMode="auto">
          <a:xfrm>
            <a:off x="971550" y="1527175"/>
            <a:ext cx="6913563" cy="519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4147" name="Rectangle 160"/>
          <p:cNvSpPr>
            <a:spLocks noChangeArrowheads="1"/>
          </p:cNvSpPr>
          <p:nvPr/>
        </p:nvSpPr>
        <p:spPr bwMode="auto">
          <a:xfrm>
            <a:off x="2773363" y="4691063"/>
            <a:ext cx="574675" cy="1619250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4148" name="Rectangle 161" descr="ลายเส้นหนาทแยงมุมขึ้น"/>
          <p:cNvSpPr>
            <a:spLocks noChangeArrowheads="1"/>
          </p:cNvSpPr>
          <p:nvPr/>
        </p:nvSpPr>
        <p:spPr bwMode="auto">
          <a:xfrm>
            <a:off x="2773363" y="4475163"/>
            <a:ext cx="285750" cy="215900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4149" name="Rectangle 162"/>
          <p:cNvSpPr>
            <a:spLocks noChangeArrowheads="1"/>
          </p:cNvSpPr>
          <p:nvPr/>
        </p:nvSpPr>
        <p:spPr bwMode="auto">
          <a:xfrm>
            <a:off x="3059113" y="4043363"/>
            <a:ext cx="288925" cy="647700"/>
          </a:xfrm>
          <a:prstGeom prst="rect">
            <a:avLst/>
          </a:prstGeom>
          <a:noFill/>
          <a:ln w="12700">
            <a:pattFill prst="wdUpDiag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4150" name="Rectangle 163"/>
          <p:cNvSpPr>
            <a:spLocks noChangeArrowheads="1"/>
          </p:cNvSpPr>
          <p:nvPr/>
        </p:nvSpPr>
        <p:spPr bwMode="auto">
          <a:xfrm>
            <a:off x="5580063" y="5049838"/>
            <a:ext cx="577850" cy="126047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4151" name="Rectangle 164" descr="ลายเส้นหนาทแยงมุมขึ้น"/>
          <p:cNvSpPr>
            <a:spLocks noChangeArrowheads="1"/>
          </p:cNvSpPr>
          <p:nvPr/>
        </p:nvSpPr>
        <p:spPr bwMode="auto">
          <a:xfrm>
            <a:off x="5580063" y="4905375"/>
            <a:ext cx="287337" cy="144463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4152" name="Rectangle 165"/>
          <p:cNvSpPr>
            <a:spLocks noChangeArrowheads="1"/>
          </p:cNvSpPr>
          <p:nvPr/>
        </p:nvSpPr>
        <p:spPr bwMode="auto">
          <a:xfrm>
            <a:off x="5867400" y="4545013"/>
            <a:ext cx="290513" cy="506412"/>
          </a:xfrm>
          <a:prstGeom prst="rect">
            <a:avLst/>
          </a:prstGeom>
          <a:noFill/>
          <a:ln w="12700">
            <a:pattFill prst="wdUpDiag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4153" name="Rectangle 166" descr="ลายเส้นบางทแยงมุมลง"/>
          <p:cNvSpPr>
            <a:spLocks noChangeArrowheads="1"/>
          </p:cNvSpPr>
          <p:nvPr/>
        </p:nvSpPr>
        <p:spPr bwMode="auto">
          <a:xfrm>
            <a:off x="2773363" y="4259263"/>
            <a:ext cx="285750" cy="215900"/>
          </a:xfrm>
          <a:prstGeom prst="rect">
            <a:avLst/>
          </a:prstGeom>
          <a:pattFill prst="smGrid">
            <a:fgClr>
              <a:schemeClr val="accent2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4154" name="Rectangle 167" descr="ลายเส้นบางทแยงมุมลง"/>
          <p:cNvSpPr>
            <a:spLocks noChangeArrowheads="1"/>
          </p:cNvSpPr>
          <p:nvPr/>
        </p:nvSpPr>
        <p:spPr bwMode="auto">
          <a:xfrm>
            <a:off x="5580063" y="4760913"/>
            <a:ext cx="287337" cy="144462"/>
          </a:xfrm>
          <a:prstGeom prst="rect">
            <a:avLst/>
          </a:prstGeom>
          <a:pattFill prst="smGrid">
            <a:fgClr>
              <a:schemeClr val="accent2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4155" name="Line 168"/>
          <p:cNvSpPr>
            <a:spLocks noChangeShapeType="1"/>
          </p:cNvSpPr>
          <p:nvPr/>
        </p:nvSpPr>
        <p:spPr bwMode="auto">
          <a:xfrm>
            <a:off x="1643063" y="4017963"/>
            <a:ext cx="532765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4156" name="Oval 169"/>
          <p:cNvSpPr>
            <a:spLocks noChangeArrowheads="1"/>
          </p:cNvSpPr>
          <p:nvPr/>
        </p:nvSpPr>
        <p:spPr bwMode="auto">
          <a:xfrm>
            <a:off x="3205163" y="4332288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4157" name="Oval 170"/>
          <p:cNvSpPr>
            <a:spLocks noChangeArrowheads="1"/>
          </p:cNvSpPr>
          <p:nvPr/>
        </p:nvSpPr>
        <p:spPr bwMode="auto">
          <a:xfrm>
            <a:off x="6011863" y="4833938"/>
            <a:ext cx="71437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4158" name="Line 185"/>
          <p:cNvSpPr>
            <a:spLocks noChangeShapeType="1"/>
          </p:cNvSpPr>
          <p:nvPr/>
        </p:nvSpPr>
        <p:spPr bwMode="auto">
          <a:xfrm>
            <a:off x="5291138" y="4438650"/>
            <a:ext cx="431800" cy="322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4159" name="Line 186"/>
          <p:cNvSpPr>
            <a:spLocks noChangeShapeType="1"/>
          </p:cNvSpPr>
          <p:nvPr/>
        </p:nvSpPr>
        <p:spPr bwMode="auto">
          <a:xfrm>
            <a:off x="6083300" y="4870450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stealth" w="med" len="med"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4160" name="Line 187"/>
          <p:cNvSpPr>
            <a:spLocks noChangeShapeType="1"/>
          </p:cNvSpPr>
          <p:nvPr/>
        </p:nvSpPr>
        <p:spPr bwMode="auto">
          <a:xfrm flipV="1">
            <a:off x="5076825" y="4941888"/>
            <a:ext cx="6477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4161" name="Text Box 189"/>
          <p:cNvSpPr txBox="1">
            <a:spLocks noChangeArrowheads="1"/>
          </p:cNvSpPr>
          <p:nvPr/>
        </p:nvSpPr>
        <p:spPr bwMode="auto">
          <a:xfrm>
            <a:off x="6443663" y="4870450"/>
            <a:ext cx="20891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th-TH" sz="1800" b="1" smtClean="0">
                <a:solidFill>
                  <a:srgbClr val="000000"/>
                </a:solidFill>
                <a:latin typeface="Angsana New" pitchFamily="18" charset="-34"/>
                <a:ea typeface="Arial Unicode MS" pitchFamily="34" charset="-128"/>
                <a:cs typeface="Arial Unicode MS" pitchFamily="34" charset="-128"/>
              </a:rPr>
              <a:t>เวลาทำงานเฉลี่ย </a:t>
            </a:r>
            <a:r>
              <a:rPr lang="en-US" sz="1800" b="1" smtClean="0">
                <a:solidFill>
                  <a:srgbClr val="000000"/>
                </a:solidFill>
                <a:latin typeface="Angsana New" pitchFamily="18" charset="-34"/>
                <a:ea typeface="Arial Unicode MS" pitchFamily="34" charset="-128"/>
                <a:cs typeface="Arial Unicode MS" pitchFamily="34" charset="-128"/>
              </a:rPr>
              <a:t>Average time</a:t>
            </a:r>
          </a:p>
        </p:txBody>
      </p:sp>
      <p:sp>
        <p:nvSpPr>
          <p:cNvPr id="2054162" name="Line 191"/>
          <p:cNvSpPr>
            <a:spLocks noChangeShapeType="1"/>
          </p:cNvSpPr>
          <p:nvPr/>
        </p:nvSpPr>
        <p:spPr bwMode="auto">
          <a:xfrm flipH="1">
            <a:off x="6157913" y="3502025"/>
            <a:ext cx="647700" cy="10096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4163" name="Text Box 194"/>
          <p:cNvSpPr txBox="1">
            <a:spLocks noChangeArrowheads="1"/>
          </p:cNvSpPr>
          <p:nvPr/>
        </p:nvSpPr>
        <p:spPr bwMode="auto">
          <a:xfrm>
            <a:off x="2781300" y="5411788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b="1" smtClean="0">
                <a:solidFill>
                  <a:srgbClr val="000000"/>
                </a:solidFill>
                <a:latin typeface="Angsana New" pitchFamily="18" charset="-34"/>
                <a:ea typeface="Arial Unicode MS" pitchFamily="34" charset="-128"/>
                <a:cs typeface="Arial Unicode MS" pitchFamily="34" charset="-128"/>
              </a:rPr>
              <a:t>C.T.</a:t>
            </a:r>
          </a:p>
        </p:txBody>
      </p:sp>
      <p:sp>
        <p:nvSpPr>
          <p:cNvPr id="2054164" name="Text Box 20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4166" name="Line 22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4167" name="Text Box 23"/>
          <p:cNvSpPr txBox="1">
            <a:spLocks noChangeArrowheads="1"/>
          </p:cNvSpPr>
          <p:nvPr/>
        </p:nvSpPr>
        <p:spPr bwMode="auto">
          <a:xfrm>
            <a:off x="150813" y="1065213"/>
            <a:ext cx="252412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3)</a:t>
            </a:r>
            <a:r>
              <a:rPr lang="en-US" sz="32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th-TH" sz="3200" b="1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แผนภาพภาระงาน</a:t>
            </a:r>
          </a:p>
        </p:txBody>
      </p:sp>
      <p:sp>
        <p:nvSpPr>
          <p:cNvPr id="2054168" name="Text Box 24"/>
          <p:cNvSpPr txBox="1">
            <a:spLocks noChangeArrowheads="1"/>
          </p:cNvSpPr>
          <p:nvPr/>
        </p:nvSpPr>
        <p:spPr bwMode="auto">
          <a:xfrm>
            <a:off x="2652713" y="1239838"/>
            <a:ext cx="208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b="1" smtClean="0">
                <a:solidFill>
                  <a:srgbClr val="000000"/>
                </a:solidFill>
              </a:rPr>
              <a:t>Yamazumi Chart</a:t>
            </a:r>
            <a:endParaRPr lang="th-TH" sz="1200" b="1" smtClean="0">
              <a:solidFill>
                <a:srgbClr val="000000"/>
              </a:solidFill>
            </a:endParaRPr>
          </a:p>
        </p:txBody>
      </p:sp>
      <p:sp>
        <p:nvSpPr>
          <p:cNvPr id="2054169" name="Text Box 25"/>
          <p:cNvSpPr txBox="1">
            <a:spLocks noChangeArrowheads="1"/>
          </p:cNvSpPr>
          <p:nvPr/>
        </p:nvSpPr>
        <p:spPr bwMode="auto">
          <a:xfrm>
            <a:off x="6245225" y="2819400"/>
            <a:ext cx="13795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</a:rPr>
              <a:t>ค่าส่วนแกว่ง</a:t>
            </a:r>
          </a:p>
        </p:txBody>
      </p:sp>
      <p:sp>
        <p:nvSpPr>
          <p:cNvPr id="2054170" name="Text Box 26"/>
          <p:cNvSpPr txBox="1">
            <a:spLocks noChangeArrowheads="1"/>
          </p:cNvSpPr>
          <p:nvPr/>
        </p:nvSpPr>
        <p:spPr bwMode="auto">
          <a:xfrm>
            <a:off x="6456363" y="3217863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Fluctuation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54171" name="Text Box 27"/>
          <p:cNvSpPr txBox="1">
            <a:spLocks noChangeArrowheads="1"/>
          </p:cNvSpPr>
          <p:nvPr/>
        </p:nvSpPr>
        <p:spPr bwMode="auto">
          <a:xfrm>
            <a:off x="6981825" y="3662363"/>
            <a:ext cx="154146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</a:rPr>
              <a:t>เส้นแทกค์ไทม์</a:t>
            </a:r>
          </a:p>
        </p:txBody>
      </p:sp>
      <p:sp>
        <p:nvSpPr>
          <p:cNvPr id="2054172" name="Text Box 28"/>
          <p:cNvSpPr txBox="1">
            <a:spLocks noChangeArrowheads="1"/>
          </p:cNvSpPr>
          <p:nvPr/>
        </p:nvSpPr>
        <p:spPr bwMode="auto">
          <a:xfrm>
            <a:off x="7316788" y="4068763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Takt Time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54173" name="Text Box 29"/>
          <p:cNvSpPr txBox="1">
            <a:spLocks noChangeArrowheads="1"/>
          </p:cNvSpPr>
          <p:nvPr/>
        </p:nvSpPr>
        <p:spPr bwMode="auto">
          <a:xfrm>
            <a:off x="3502025" y="3865563"/>
            <a:ext cx="2533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</a:rPr>
              <a:t>เวลาเตรียมการเปลี่ยนรุ่น</a:t>
            </a:r>
          </a:p>
        </p:txBody>
      </p:sp>
      <p:sp>
        <p:nvSpPr>
          <p:cNvPr id="2054174" name="Text Box 30"/>
          <p:cNvSpPr txBox="1">
            <a:spLocks noChangeArrowheads="1"/>
          </p:cNvSpPr>
          <p:nvPr/>
        </p:nvSpPr>
        <p:spPr bwMode="auto">
          <a:xfrm>
            <a:off x="4079875" y="4281488"/>
            <a:ext cx="17287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Change over time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54175" name="Text Box 31"/>
          <p:cNvSpPr txBox="1">
            <a:spLocks noChangeArrowheads="1"/>
          </p:cNvSpPr>
          <p:nvPr/>
        </p:nvSpPr>
        <p:spPr bwMode="auto">
          <a:xfrm>
            <a:off x="3203575" y="5073650"/>
            <a:ext cx="24161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b="1" smtClean="0">
                <a:solidFill>
                  <a:srgbClr val="000000"/>
                </a:solidFill>
              </a:rPr>
              <a:t>เวลาการทำงานเป็นรอบ</a:t>
            </a:r>
          </a:p>
        </p:txBody>
      </p:sp>
      <p:sp>
        <p:nvSpPr>
          <p:cNvPr id="2054176" name="Text Box 32"/>
          <p:cNvSpPr txBox="1">
            <a:spLocks noChangeArrowheads="1"/>
          </p:cNvSpPr>
          <p:nvPr/>
        </p:nvSpPr>
        <p:spPr bwMode="auto">
          <a:xfrm>
            <a:off x="3698875" y="5459413"/>
            <a:ext cx="1728788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000000"/>
                </a:solidFill>
              </a:rPr>
              <a:t>Periodical Work</a:t>
            </a:r>
            <a:endParaRPr lang="th-TH" sz="1200" smtClean="0">
              <a:solidFill>
                <a:srgbClr val="000000"/>
              </a:solidFill>
            </a:endParaRPr>
          </a:p>
        </p:txBody>
      </p:sp>
      <p:sp>
        <p:nvSpPr>
          <p:cNvPr id="2054177" name="Text Box 194"/>
          <p:cNvSpPr txBox="1">
            <a:spLocks noChangeArrowheads="1"/>
          </p:cNvSpPr>
          <p:nvPr/>
        </p:nvSpPr>
        <p:spPr bwMode="auto">
          <a:xfrm>
            <a:off x="5584825" y="5411788"/>
            <a:ext cx="6477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b="1" smtClean="0">
                <a:solidFill>
                  <a:srgbClr val="000000"/>
                </a:solidFill>
                <a:latin typeface="Angsana New" pitchFamily="18" charset="-34"/>
                <a:ea typeface="Arial Unicode MS" pitchFamily="34" charset="-128"/>
                <a:cs typeface="Arial Unicode MS" pitchFamily="34" charset="-128"/>
              </a:rPr>
              <a:t>C.T.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6000" contrast="18000"/>
          </a:blip>
          <a:srcRect t="93" b="2141"/>
          <a:stretch>
            <a:fillRect/>
          </a:stretch>
        </p:blipFill>
        <p:spPr>
          <a:xfrm>
            <a:off x="5219700" y="1125538"/>
            <a:ext cx="3455988" cy="2647950"/>
          </a:xfrm>
          <a:noFill/>
          <a:ln/>
        </p:spPr>
      </p:pic>
      <p:sp>
        <p:nvSpPr>
          <p:cNvPr id="2055171" name="Rectangle 160"/>
          <p:cNvSpPr>
            <a:spLocks noChangeArrowheads="1"/>
          </p:cNvSpPr>
          <p:nvPr/>
        </p:nvSpPr>
        <p:spPr bwMode="auto">
          <a:xfrm>
            <a:off x="5973763" y="2625725"/>
            <a:ext cx="577850" cy="936625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graphicFrame>
        <p:nvGraphicFramePr>
          <p:cNvPr id="2055172" name="Group 4"/>
          <p:cNvGraphicFramePr>
            <a:graphicFrameLocks noGrp="1"/>
          </p:cNvGraphicFramePr>
          <p:nvPr/>
        </p:nvGraphicFramePr>
        <p:xfrm>
          <a:off x="323850" y="3917950"/>
          <a:ext cx="5976938" cy="2028828"/>
        </p:xfrm>
        <a:graphic>
          <a:graphicData uri="http://schemas.openxmlformats.org/drawingml/2006/table">
            <a:tbl>
              <a:tblPr/>
              <a:tblGrid>
                <a:gridCol w="469900"/>
                <a:gridCol w="1322388"/>
                <a:gridCol w="419100"/>
                <a:gridCol w="417512"/>
                <a:gridCol w="419100"/>
                <a:gridCol w="417513"/>
                <a:gridCol w="419100"/>
                <a:gridCol w="419100"/>
                <a:gridCol w="417512"/>
                <a:gridCol w="419100"/>
                <a:gridCol w="403225"/>
                <a:gridCol w="433388"/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Seq.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JOB Element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4th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8th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9th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Spray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Heater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Press ornament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Ass”y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32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55265" name="Group 97"/>
          <p:cNvGraphicFramePr>
            <a:graphicFrameLocks noGrp="1"/>
          </p:cNvGraphicFramePr>
          <p:nvPr/>
        </p:nvGraphicFramePr>
        <p:xfrm>
          <a:off x="323850" y="6092825"/>
          <a:ext cx="5976938" cy="304800"/>
        </p:xfrm>
        <a:graphic>
          <a:graphicData uri="http://schemas.openxmlformats.org/drawingml/2006/table">
            <a:tbl>
              <a:tblPr/>
              <a:tblGrid>
                <a:gridCol w="1782763"/>
                <a:gridCol w="419100"/>
                <a:gridCol w="419100"/>
                <a:gridCol w="419100"/>
                <a:gridCol w="420687"/>
                <a:gridCol w="419100"/>
                <a:gridCol w="419100"/>
                <a:gridCol w="419100"/>
                <a:gridCol w="420688"/>
                <a:gridCol w="404812"/>
                <a:gridCol w="433388"/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104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105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102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101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8315" name="Group 123"/>
          <p:cNvGraphicFramePr>
            <a:graphicFrameLocks noGrp="1"/>
          </p:cNvGraphicFramePr>
          <p:nvPr/>
        </p:nvGraphicFramePr>
        <p:xfrm>
          <a:off x="6372225" y="3917950"/>
          <a:ext cx="2447925" cy="2032002"/>
        </p:xfrm>
        <a:graphic>
          <a:graphicData uri="http://schemas.openxmlformats.org/drawingml/2006/table">
            <a:tbl>
              <a:tblPr/>
              <a:tblGrid>
                <a:gridCol w="431800"/>
                <a:gridCol w="504825"/>
                <a:gridCol w="863600"/>
                <a:gridCol w="647700"/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Min.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Max.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Fluctuation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Average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15.9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27.3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16.4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26.8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8365" name="Group 173"/>
          <p:cNvGraphicFramePr>
            <a:graphicFrameLocks noGrp="1"/>
          </p:cNvGraphicFramePr>
          <p:nvPr/>
        </p:nvGraphicFramePr>
        <p:xfrm>
          <a:off x="6372225" y="6092825"/>
          <a:ext cx="2447925" cy="287338"/>
        </p:xfrm>
        <a:graphic>
          <a:graphicData uri="http://schemas.openxmlformats.org/drawingml/2006/table">
            <a:tbl>
              <a:tblPr/>
              <a:tblGrid>
                <a:gridCol w="431800"/>
                <a:gridCol w="504825"/>
                <a:gridCol w="863600"/>
                <a:gridCol w="647700"/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106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103.4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5340" name="Oval 172"/>
          <p:cNvSpPr>
            <a:spLocks noChangeArrowheads="1"/>
          </p:cNvSpPr>
          <p:nvPr/>
        </p:nvSpPr>
        <p:spPr bwMode="auto">
          <a:xfrm>
            <a:off x="4140200" y="6021388"/>
            <a:ext cx="503238" cy="4318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5341" name="Text Box 173"/>
          <p:cNvSpPr txBox="1">
            <a:spLocks noChangeArrowheads="1"/>
          </p:cNvSpPr>
          <p:nvPr/>
        </p:nvSpPr>
        <p:spPr bwMode="auto">
          <a:xfrm>
            <a:off x="3944938" y="6361113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ขั้นตอนที่ </a:t>
            </a:r>
            <a:r>
              <a:rPr lang="en-US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1</a:t>
            </a:r>
          </a:p>
        </p:txBody>
      </p:sp>
      <p:sp>
        <p:nvSpPr>
          <p:cNvPr id="2055342" name="AutoShape 174"/>
          <p:cNvSpPr>
            <a:spLocks noChangeArrowheads="1"/>
          </p:cNvSpPr>
          <p:nvPr/>
        </p:nvSpPr>
        <p:spPr bwMode="auto">
          <a:xfrm>
            <a:off x="6732588" y="2636838"/>
            <a:ext cx="720725" cy="936625"/>
          </a:xfrm>
          <a:prstGeom prst="upDownArrow">
            <a:avLst>
              <a:gd name="adj1" fmla="val 50111"/>
              <a:gd name="adj2" fmla="val 33361"/>
            </a:avLst>
          </a:prstGeom>
          <a:noFill/>
          <a:ln w="9525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800" smtClean="0">
                <a:solidFill>
                  <a:srgbClr val="FF0000"/>
                </a:solidFill>
                <a:ea typeface="MS PGothic" pitchFamily="34" charset="-128"/>
              </a:rPr>
              <a:t>min total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800" smtClean="0">
                <a:solidFill>
                  <a:srgbClr val="FF0000"/>
                </a:solidFill>
                <a:ea typeface="MS PGothic" pitchFamily="34" charset="-128"/>
              </a:rPr>
              <a:t>cycle time</a:t>
            </a:r>
          </a:p>
        </p:txBody>
      </p:sp>
      <p:sp>
        <p:nvSpPr>
          <p:cNvPr id="2055343" name="Line 175"/>
          <p:cNvSpPr>
            <a:spLocks noChangeShapeType="1"/>
          </p:cNvSpPr>
          <p:nvPr/>
        </p:nvSpPr>
        <p:spPr bwMode="auto">
          <a:xfrm>
            <a:off x="6589713" y="2636838"/>
            <a:ext cx="9334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5344" name="Text Box 176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5346" name="Line 178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5347" name="Rectangle 179"/>
          <p:cNvSpPr>
            <a:spLocks noChangeArrowheads="1"/>
          </p:cNvSpPr>
          <p:nvPr/>
        </p:nvSpPr>
        <p:spPr bwMode="auto">
          <a:xfrm>
            <a:off x="179388" y="1166813"/>
            <a:ext cx="1374775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3200" b="1" smtClean="0">
                <a:solidFill>
                  <a:srgbClr val="333399"/>
                </a:solidFill>
                <a:latin typeface="Angsana New" pitchFamily="18" charset="-34"/>
              </a:rPr>
              <a:t> </a:t>
            </a:r>
            <a:r>
              <a:rPr lang="th-TH" sz="3200" b="1" u="sng" smtClean="0">
                <a:solidFill>
                  <a:srgbClr val="333399"/>
                </a:solidFill>
                <a:latin typeface="Angsana New" pitchFamily="18" charset="-34"/>
              </a:rPr>
              <a:t>วิธีจัดทำ</a:t>
            </a:r>
          </a:p>
        </p:txBody>
      </p:sp>
      <p:sp>
        <p:nvSpPr>
          <p:cNvPr id="2055348" name="Rectangle 2"/>
          <p:cNvSpPr>
            <a:spLocks noChangeArrowheads="1"/>
          </p:cNvSpPr>
          <p:nvPr/>
        </p:nvSpPr>
        <p:spPr bwMode="auto">
          <a:xfrm>
            <a:off x="1339850" y="1179513"/>
            <a:ext cx="4240213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z="1200" b="1" smtClean="0">
                <a:solidFill>
                  <a:srgbClr val="333399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b="1" smtClean="0">
                <a:solidFill>
                  <a:srgbClr val="333399"/>
                </a:solidFill>
                <a:ea typeface="MS PGothic" pitchFamily="34" charset="-128"/>
                <a:sym typeface="Wingdings" pitchFamily="2" charset="2"/>
              </a:rPr>
              <a:t>How to make Yamazumi chart?</a:t>
            </a:r>
            <a:endParaRPr lang="th-TH" sz="1200" b="1" smtClean="0">
              <a:solidFill>
                <a:srgbClr val="333399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5349" name="Text Box 181"/>
          <p:cNvSpPr txBox="1">
            <a:spLocks noChangeArrowheads="1"/>
          </p:cNvSpPr>
          <p:nvPr/>
        </p:nvSpPr>
        <p:spPr bwMode="auto">
          <a:xfrm>
            <a:off x="454025" y="1793875"/>
            <a:ext cx="440055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533400" indent="-533400"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altLang="ja-JP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1 :</a:t>
            </a:r>
            <a:r>
              <a:rPr lang="en-US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นำข้อมูลที่ได้จากตารางจับเวลา</a:t>
            </a:r>
          </a:p>
          <a:p>
            <a:pPr marL="533400" indent="-533400"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โดยใช้ในคอลัมน์ที่ให้ค่าเวลาที่ผลิตงาน</a:t>
            </a:r>
            <a:r>
              <a:rPr lang="en-US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/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ชิ้น</a:t>
            </a:r>
          </a:p>
          <a:p>
            <a:pPr marL="533400" indent="-533400"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mtClean="0">
                <a:solidFill>
                  <a:srgbClr val="000000"/>
                </a:solidFill>
              </a:rPr>
              <a:t>ที่ต่ำที่สุด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มาเขียนกราฟแท่ง</a:t>
            </a:r>
            <a:endParaRPr lang="th-TH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5350" name="Text Box 172"/>
          <p:cNvSpPr txBox="1">
            <a:spLocks noChangeArrowheads="1"/>
          </p:cNvSpPr>
          <p:nvPr/>
        </p:nvSpPr>
        <p:spPr bwMode="auto">
          <a:xfrm>
            <a:off x="585788" y="3217863"/>
            <a:ext cx="46275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1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th-TH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 cycle time graph by using minimum total cycle time from time measurement table</a:t>
            </a:r>
          </a:p>
        </p:txBody>
      </p:sp>
      <p:sp>
        <p:nvSpPr>
          <p:cNvPr id="2055351" name="Text Box 183"/>
          <p:cNvSpPr txBox="1">
            <a:spLocks noChangeArrowheads="1"/>
          </p:cNvSpPr>
          <p:nvPr/>
        </p:nvSpPr>
        <p:spPr bwMode="auto">
          <a:xfrm>
            <a:off x="5795963" y="2060575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ขั้นตอนที่ </a:t>
            </a:r>
            <a:r>
              <a:rPr lang="en-US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1</a:t>
            </a:r>
          </a:p>
        </p:txBody>
      </p:sp>
      <p:sp>
        <p:nvSpPr>
          <p:cNvPr id="2055352" name="Text Box 184"/>
          <p:cNvSpPr txBox="1">
            <a:spLocks noChangeArrowheads="1"/>
          </p:cNvSpPr>
          <p:nvPr/>
        </p:nvSpPr>
        <p:spPr bwMode="auto">
          <a:xfrm>
            <a:off x="5940425" y="2349500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0000"/>
                </a:solidFill>
              </a:rPr>
              <a:t>STEP 1</a:t>
            </a:r>
            <a:endParaRPr lang="th-TH" sz="1200" smtClean="0">
              <a:solidFill>
                <a:srgbClr val="FF0000"/>
              </a:solidFill>
            </a:endParaRPr>
          </a:p>
        </p:txBody>
      </p:sp>
      <p:sp>
        <p:nvSpPr>
          <p:cNvPr id="2055353" name="Text Box 185"/>
          <p:cNvSpPr txBox="1">
            <a:spLocks noChangeArrowheads="1"/>
          </p:cNvSpPr>
          <p:nvPr/>
        </p:nvSpPr>
        <p:spPr bwMode="auto">
          <a:xfrm>
            <a:off x="4081463" y="6621463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0000"/>
                </a:solidFill>
              </a:rPr>
              <a:t>STEP 1</a:t>
            </a:r>
            <a:endParaRPr lang="th-TH" sz="12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6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6000" contrast="18000"/>
          </a:blip>
          <a:srcRect t="93" b="2141"/>
          <a:stretch>
            <a:fillRect/>
          </a:stretch>
        </p:blipFill>
        <p:spPr>
          <a:xfrm>
            <a:off x="5219700" y="1125538"/>
            <a:ext cx="3455988" cy="2647950"/>
          </a:xfrm>
          <a:noFill/>
          <a:ln/>
        </p:spPr>
      </p:pic>
      <p:sp>
        <p:nvSpPr>
          <p:cNvPr id="2056195" name="Rectangle 160"/>
          <p:cNvSpPr>
            <a:spLocks noChangeArrowheads="1"/>
          </p:cNvSpPr>
          <p:nvPr/>
        </p:nvSpPr>
        <p:spPr bwMode="auto">
          <a:xfrm>
            <a:off x="5973763" y="2625725"/>
            <a:ext cx="577850" cy="936625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graphicFrame>
        <p:nvGraphicFramePr>
          <p:cNvPr id="2056196" name="Group 4"/>
          <p:cNvGraphicFramePr>
            <a:graphicFrameLocks noGrp="1"/>
          </p:cNvGraphicFramePr>
          <p:nvPr/>
        </p:nvGraphicFramePr>
        <p:xfrm>
          <a:off x="323850" y="3917950"/>
          <a:ext cx="5976938" cy="2028828"/>
        </p:xfrm>
        <a:graphic>
          <a:graphicData uri="http://schemas.openxmlformats.org/drawingml/2006/table">
            <a:tbl>
              <a:tblPr/>
              <a:tblGrid>
                <a:gridCol w="469900"/>
                <a:gridCol w="1322388"/>
                <a:gridCol w="419100"/>
                <a:gridCol w="417512"/>
                <a:gridCol w="419100"/>
                <a:gridCol w="417513"/>
                <a:gridCol w="419100"/>
                <a:gridCol w="419100"/>
                <a:gridCol w="417512"/>
                <a:gridCol w="419100"/>
                <a:gridCol w="403225"/>
                <a:gridCol w="433388"/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Seq.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JOB Element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4th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8th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9th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Spray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Heater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Press ornament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Ass”y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32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56289" name="Group 97"/>
          <p:cNvGraphicFramePr>
            <a:graphicFrameLocks noGrp="1"/>
          </p:cNvGraphicFramePr>
          <p:nvPr/>
        </p:nvGraphicFramePr>
        <p:xfrm>
          <a:off x="323850" y="6092825"/>
          <a:ext cx="5976938" cy="304800"/>
        </p:xfrm>
        <a:graphic>
          <a:graphicData uri="http://schemas.openxmlformats.org/drawingml/2006/table">
            <a:tbl>
              <a:tblPr/>
              <a:tblGrid>
                <a:gridCol w="1782763"/>
                <a:gridCol w="419100"/>
                <a:gridCol w="419100"/>
                <a:gridCol w="419100"/>
                <a:gridCol w="420687"/>
                <a:gridCol w="419100"/>
                <a:gridCol w="419100"/>
                <a:gridCol w="419100"/>
                <a:gridCol w="420688"/>
                <a:gridCol w="404812"/>
                <a:gridCol w="433388"/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104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105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102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101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8315" name="Group 123"/>
          <p:cNvGraphicFramePr>
            <a:graphicFrameLocks noGrp="1"/>
          </p:cNvGraphicFramePr>
          <p:nvPr/>
        </p:nvGraphicFramePr>
        <p:xfrm>
          <a:off x="6372225" y="3917950"/>
          <a:ext cx="2447925" cy="2032002"/>
        </p:xfrm>
        <a:graphic>
          <a:graphicData uri="http://schemas.openxmlformats.org/drawingml/2006/table">
            <a:tbl>
              <a:tblPr/>
              <a:tblGrid>
                <a:gridCol w="431800"/>
                <a:gridCol w="504825"/>
                <a:gridCol w="863600"/>
                <a:gridCol w="647700"/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Min.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Max.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Fluctuation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Average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15.9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27.3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16.4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26.8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56352" name="Group 160"/>
          <p:cNvGraphicFramePr>
            <a:graphicFrameLocks noGrp="1"/>
          </p:cNvGraphicFramePr>
          <p:nvPr/>
        </p:nvGraphicFramePr>
        <p:xfrm>
          <a:off x="6372225" y="6092825"/>
          <a:ext cx="2447925" cy="288925"/>
        </p:xfrm>
        <a:graphic>
          <a:graphicData uri="http://schemas.openxmlformats.org/drawingml/2006/table">
            <a:tbl>
              <a:tblPr/>
              <a:tblGrid>
                <a:gridCol w="431800"/>
                <a:gridCol w="504825"/>
                <a:gridCol w="863600"/>
                <a:gridCol w="647700"/>
              </a:tblGrid>
              <a:tr h="2889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106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103.4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6364" name="Oval 172"/>
          <p:cNvSpPr>
            <a:spLocks noChangeArrowheads="1"/>
          </p:cNvSpPr>
          <p:nvPr/>
        </p:nvSpPr>
        <p:spPr bwMode="auto">
          <a:xfrm>
            <a:off x="5005388" y="6021388"/>
            <a:ext cx="504825" cy="4318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6365" name="AutoShape 173"/>
          <p:cNvSpPr>
            <a:spLocks noChangeArrowheads="1"/>
          </p:cNvSpPr>
          <p:nvPr/>
        </p:nvSpPr>
        <p:spPr bwMode="auto">
          <a:xfrm>
            <a:off x="6732588" y="2492375"/>
            <a:ext cx="720725" cy="1081088"/>
          </a:xfrm>
          <a:prstGeom prst="upDownArrow">
            <a:avLst>
              <a:gd name="adj1" fmla="val 50111"/>
              <a:gd name="adj2" fmla="val 38507"/>
            </a:avLst>
          </a:prstGeom>
          <a:noFill/>
          <a:ln w="9525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800" smtClean="0">
                <a:solidFill>
                  <a:srgbClr val="FF0000"/>
                </a:solidFill>
                <a:ea typeface="MS PGothic" pitchFamily="34" charset="-128"/>
              </a:rPr>
              <a:t>Max total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800" smtClean="0">
                <a:solidFill>
                  <a:srgbClr val="FF0000"/>
                </a:solidFill>
                <a:ea typeface="MS PGothic" pitchFamily="34" charset="-128"/>
              </a:rPr>
              <a:t>cycle time</a:t>
            </a:r>
          </a:p>
        </p:txBody>
      </p:sp>
      <p:sp>
        <p:nvSpPr>
          <p:cNvPr id="2056366" name="Line 174"/>
          <p:cNvSpPr>
            <a:spLocks noChangeShapeType="1"/>
          </p:cNvSpPr>
          <p:nvPr/>
        </p:nvSpPr>
        <p:spPr bwMode="auto">
          <a:xfrm>
            <a:off x="6589713" y="2492375"/>
            <a:ext cx="93345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6367" name="Rectangle 162"/>
          <p:cNvSpPr>
            <a:spLocks noChangeArrowheads="1"/>
          </p:cNvSpPr>
          <p:nvPr/>
        </p:nvSpPr>
        <p:spPr bwMode="auto">
          <a:xfrm>
            <a:off x="6261100" y="2492375"/>
            <a:ext cx="290513" cy="115888"/>
          </a:xfrm>
          <a:prstGeom prst="rect">
            <a:avLst/>
          </a:prstGeom>
          <a:noFill/>
          <a:ln w="12700">
            <a:pattFill prst="wdUpDiag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6368" name="Text Box 176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6370" name="Line 178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6371" name="Text Box 179"/>
          <p:cNvSpPr txBox="1">
            <a:spLocks noChangeArrowheads="1"/>
          </p:cNvSpPr>
          <p:nvPr/>
        </p:nvSpPr>
        <p:spPr bwMode="auto">
          <a:xfrm>
            <a:off x="250825" y="1628775"/>
            <a:ext cx="5040313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altLang="ja-JP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2 :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เขียนแท่งกราฟส่วนแกว่ง</a:t>
            </a:r>
            <a:r>
              <a:rPr lang="th-TH" altLang="th-TH" smtClean="0">
                <a:solidFill>
                  <a:srgbClr val="000000"/>
                </a:solidFill>
                <a:latin typeface="Angsana New" pitchFamily="18" charset="-34"/>
              </a:rPr>
              <a:t>ในฝั่งขวามือ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th-TH" smtClean="0">
                <a:solidFill>
                  <a:srgbClr val="000000"/>
                </a:solidFill>
                <a:latin typeface="Angsana New" pitchFamily="18" charset="-34"/>
              </a:rPr>
              <a:t>โดยนำ</a:t>
            </a:r>
            <a:r>
              <a:rPr lang="th-TH" altLang="ja-JP" smtClean="0">
                <a:solidFill>
                  <a:srgbClr val="000000"/>
                </a:solidFill>
              </a:rPr>
              <a:t>ค่าเวลาที่ผลิตงาน</a:t>
            </a:r>
            <a:r>
              <a:rPr lang="en-US" altLang="ja-JP" smtClean="0">
                <a:solidFill>
                  <a:srgbClr val="000000"/>
                </a:solidFill>
                <a:ea typeface="MS PGothic" pitchFamily="34" charset="-128"/>
              </a:rPr>
              <a:t>/</a:t>
            </a:r>
            <a:r>
              <a:rPr lang="th-TH" altLang="ja-JP" smtClean="0">
                <a:solidFill>
                  <a:srgbClr val="000000"/>
                </a:solidFill>
              </a:rPr>
              <a:t>ชิ้น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ที่สูงที่สุดมาเขียน</a:t>
            </a:r>
            <a:endParaRPr lang="th-TH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6372" name="Text Box 172"/>
          <p:cNvSpPr txBox="1">
            <a:spLocks noChangeArrowheads="1"/>
          </p:cNvSpPr>
          <p:nvPr/>
        </p:nvSpPr>
        <p:spPr bwMode="auto">
          <a:xfrm>
            <a:off x="539750" y="2568575"/>
            <a:ext cx="41036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2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th-TH" altLang="ja-JP" sz="1200" b="1" smtClean="0">
                <a:solidFill>
                  <a:srgbClr val="000000"/>
                </a:solidFill>
                <a:sym typeface="Wingdings" pitchFamily="2" charset="2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 a</a:t>
            </a:r>
            <a:r>
              <a:rPr lang="th-TH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ja-JP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Fluctuation</a:t>
            </a:r>
            <a:r>
              <a:rPr lang="ja-JP" alt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Graph on right by using the maximum</a:t>
            </a:r>
            <a:r>
              <a:rPr lang="ja-JP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ja-JP" alt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t</a:t>
            </a:r>
            <a:r>
              <a:rPr lang="ja-JP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otal cycle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time</a:t>
            </a:r>
            <a:r>
              <a:rPr lang="th-TH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.</a:t>
            </a:r>
            <a:endParaRPr lang="en-US" altLang="ja-JP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6373" name="Text Box 181"/>
          <p:cNvSpPr txBox="1">
            <a:spLocks noChangeArrowheads="1"/>
          </p:cNvSpPr>
          <p:nvPr/>
        </p:nvSpPr>
        <p:spPr bwMode="auto">
          <a:xfrm>
            <a:off x="4826000" y="6361113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ขั้นตอนที่ </a:t>
            </a:r>
            <a:r>
              <a:rPr lang="en-US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2</a:t>
            </a:r>
          </a:p>
        </p:txBody>
      </p:sp>
      <p:sp>
        <p:nvSpPr>
          <p:cNvPr id="2056374" name="Text Box 182"/>
          <p:cNvSpPr txBox="1">
            <a:spLocks noChangeArrowheads="1"/>
          </p:cNvSpPr>
          <p:nvPr/>
        </p:nvSpPr>
        <p:spPr bwMode="auto">
          <a:xfrm>
            <a:off x="4962525" y="6621463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0000"/>
                </a:solidFill>
              </a:rPr>
              <a:t>STEP 2</a:t>
            </a:r>
            <a:endParaRPr lang="th-TH" sz="1200" smtClean="0">
              <a:solidFill>
                <a:srgbClr val="FF0000"/>
              </a:solidFill>
            </a:endParaRPr>
          </a:p>
        </p:txBody>
      </p:sp>
      <p:sp>
        <p:nvSpPr>
          <p:cNvPr id="2056375" name="Text Box 183"/>
          <p:cNvSpPr txBox="1">
            <a:spLocks noChangeArrowheads="1"/>
          </p:cNvSpPr>
          <p:nvPr/>
        </p:nvSpPr>
        <p:spPr bwMode="auto">
          <a:xfrm>
            <a:off x="5783263" y="1971675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ขั้นตอนที่ </a:t>
            </a:r>
            <a:r>
              <a:rPr lang="en-US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2</a:t>
            </a:r>
          </a:p>
        </p:txBody>
      </p:sp>
      <p:sp>
        <p:nvSpPr>
          <p:cNvPr id="2056376" name="Text Box 184"/>
          <p:cNvSpPr txBox="1">
            <a:spLocks noChangeArrowheads="1"/>
          </p:cNvSpPr>
          <p:nvPr/>
        </p:nvSpPr>
        <p:spPr bwMode="auto">
          <a:xfrm>
            <a:off x="5927725" y="2260600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0000"/>
                </a:solidFill>
              </a:rPr>
              <a:t>STEP 2</a:t>
            </a:r>
            <a:endParaRPr lang="th-TH" sz="12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6000" contrast="18000"/>
          </a:blip>
          <a:srcRect t="93" b="2141"/>
          <a:stretch>
            <a:fillRect/>
          </a:stretch>
        </p:blipFill>
        <p:spPr>
          <a:xfrm>
            <a:off x="5219700" y="1125538"/>
            <a:ext cx="3455988" cy="2647950"/>
          </a:xfrm>
          <a:noFill/>
          <a:ln/>
        </p:spPr>
      </p:pic>
      <p:sp>
        <p:nvSpPr>
          <p:cNvPr id="2057219" name="Rectangle 160"/>
          <p:cNvSpPr>
            <a:spLocks noChangeArrowheads="1"/>
          </p:cNvSpPr>
          <p:nvPr/>
        </p:nvSpPr>
        <p:spPr bwMode="auto">
          <a:xfrm>
            <a:off x="5973763" y="2625725"/>
            <a:ext cx="577850" cy="936625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graphicFrame>
        <p:nvGraphicFramePr>
          <p:cNvPr id="2057220" name="Group 4"/>
          <p:cNvGraphicFramePr>
            <a:graphicFrameLocks noGrp="1"/>
          </p:cNvGraphicFramePr>
          <p:nvPr/>
        </p:nvGraphicFramePr>
        <p:xfrm>
          <a:off x="323850" y="3917950"/>
          <a:ext cx="5976938" cy="2028828"/>
        </p:xfrm>
        <a:graphic>
          <a:graphicData uri="http://schemas.openxmlformats.org/drawingml/2006/table">
            <a:tbl>
              <a:tblPr/>
              <a:tblGrid>
                <a:gridCol w="469900"/>
                <a:gridCol w="1322388"/>
                <a:gridCol w="419100"/>
                <a:gridCol w="417512"/>
                <a:gridCol w="419100"/>
                <a:gridCol w="417513"/>
                <a:gridCol w="419100"/>
                <a:gridCol w="419100"/>
                <a:gridCol w="417512"/>
                <a:gridCol w="419100"/>
                <a:gridCol w="403225"/>
                <a:gridCol w="433388"/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Seq.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JOB Element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1st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2nd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3rd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4th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8th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9th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10th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Press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Spray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17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Heater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Press ornament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24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Ass”y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32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31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057313" name="Group 97"/>
          <p:cNvGraphicFramePr>
            <a:graphicFrameLocks noGrp="1"/>
          </p:cNvGraphicFramePr>
          <p:nvPr/>
        </p:nvGraphicFramePr>
        <p:xfrm>
          <a:off x="323850" y="6092825"/>
          <a:ext cx="5976938" cy="304800"/>
        </p:xfrm>
        <a:graphic>
          <a:graphicData uri="http://schemas.openxmlformats.org/drawingml/2006/table">
            <a:tbl>
              <a:tblPr/>
              <a:tblGrid>
                <a:gridCol w="1782763"/>
                <a:gridCol w="419100"/>
                <a:gridCol w="419100"/>
                <a:gridCol w="419100"/>
                <a:gridCol w="420687"/>
                <a:gridCol w="419100"/>
                <a:gridCol w="419100"/>
                <a:gridCol w="419100"/>
                <a:gridCol w="420688"/>
                <a:gridCol w="404812"/>
                <a:gridCol w="433388"/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TOTAL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104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105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102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105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101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106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102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8315" name="Group 123"/>
          <p:cNvGraphicFramePr>
            <a:graphicFrameLocks noGrp="1"/>
          </p:cNvGraphicFramePr>
          <p:nvPr/>
        </p:nvGraphicFramePr>
        <p:xfrm>
          <a:off x="6372225" y="3917950"/>
          <a:ext cx="2447925" cy="2032002"/>
        </p:xfrm>
        <a:graphic>
          <a:graphicData uri="http://schemas.openxmlformats.org/drawingml/2006/table">
            <a:tbl>
              <a:tblPr/>
              <a:tblGrid>
                <a:gridCol w="431800"/>
                <a:gridCol w="504825"/>
                <a:gridCol w="863600"/>
                <a:gridCol w="647700"/>
              </a:tblGrid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Min.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Max.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Fluctuation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Average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15.9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19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27.3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7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16.1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23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16.4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81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25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33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26.8</a:t>
                      </a:r>
                      <a:endParaRPr kumimoji="0" lang="th-TH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8365" name="Group 173"/>
          <p:cNvGraphicFramePr>
            <a:graphicFrameLocks noGrp="1"/>
          </p:cNvGraphicFramePr>
          <p:nvPr/>
        </p:nvGraphicFramePr>
        <p:xfrm>
          <a:off x="6372225" y="6092825"/>
          <a:ext cx="2447925" cy="287338"/>
        </p:xfrm>
        <a:graphic>
          <a:graphicData uri="http://schemas.openxmlformats.org/drawingml/2006/table">
            <a:tbl>
              <a:tblPr/>
              <a:tblGrid>
                <a:gridCol w="431800"/>
                <a:gridCol w="504825"/>
                <a:gridCol w="863600"/>
                <a:gridCol w="647700"/>
              </a:tblGrid>
              <a:tr h="2873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101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106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th-TH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20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  <a:ea typeface="Arial Unicode MS" pitchFamily="34" charset="-128"/>
                          <a:cs typeface="Arial Unicode MS" pitchFamily="34" charset="-128"/>
                        </a:rPr>
                        <a:t>103.4</a:t>
                      </a:r>
                      <a:endParaRPr kumimoji="0" lang="th-TH" sz="1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  <a:ea typeface="Arial Unicode MS" pitchFamily="34" charset="-128"/>
                        <a:cs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57388" name="Oval 172"/>
          <p:cNvSpPr>
            <a:spLocks noChangeArrowheads="1"/>
          </p:cNvSpPr>
          <p:nvPr/>
        </p:nvSpPr>
        <p:spPr bwMode="auto">
          <a:xfrm>
            <a:off x="8243888" y="6021388"/>
            <a:ext cx="504825" cy="4318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7389" name="AutoShape 173"/>
          <p:cNvSpPr>
            <a:spLocks noChangeArrowheads="1"/>
          </p:cNvSpPr>
          <p:nvPr/>
        </p:nvSpPr>
        <p:spPr bwMode="auto">
          <a:xfrm>
            <a:off x="6732588" y="2543175"/>
            <a:ext cx="720725" cy="1008063"/>
          </a:xfrm>
          <a:prstGeom prst="upDownArrow">
            <a:avLst>
              <a:gd name="adj1" fmla="val 50111"/>
              <a:gd name="adj2" fmla="val 35906"/>
            </a:avLst>
          </a:prstGeom>
          <a:noFill/>
          <a:ln w="9525" cap="rnd">
            <a:solidFill>
              <a:srgbClr val="FF0000"/>
            </a:solidFill>
            <a:prstDash val="sysDot"/>
            <a:miter lim="800000"/>
            <a:headEnd/>
            <a:tailEnd/>
          </a:ln>
          <a:effectLst/>
        </p:spPr>
        <p:txBody>
          <a:bodyPr vert="eaVert"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800" smtClean="0">
                <a:solidFill>
                  <a:srgbClr val="FF0000"/>
                </a:solidFill>
                <a:ea typeface="MS PGothic" pitchFamily="34" charset="-128"/>
              </a:rPr>
              <a:t>Average total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800" smtClean="0">
                <a:solidFill>
                  <a:srgbClr val="FF0000"/>
                </a:solidFill>
                <a:ea typeface="MS PGothic" pitchFamily="34" charset="-128"/>
              </a:rPr>
              <a:t>cycle time</a:t>
            </a:r>
          </a:p>
        </p:txBody>
      </p:sp>
      <p:sp>
        <p:nvSpPr>
          <p:cNvPr id="2057390" name="Line 174"/>
          <p:cNvSpPr>
            <a:spLocks noChangeShapeType="1"/>
          </p:cNvSpPr>
          <p:nvPr/>
        </p:nvSpPr>
        <p:spPr bwMode="auto">
          <a:xfrm>
            <a:off x="6376988" y="2532063"/>
            <a:ext cx="108267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7391" name="Rectangle 162"/>
          <p:cNvSpPr>
            <a:spLocks noChangeArrowheads="1"/>
          </p:cNvSpPr>
          <p:nvPr/>
        </p:nvSpPr>
        <p:spPr bwMode="auto">
          <a:xfrm>
            <a:off x="6261100" y="2492375"/>
            <a:ext cx="290513" cy="115888"/>
          </a:xfrm>
          <a:prstGeom prst="rect">
            <a:avLst/>
          </a:prstGeom>
          <a:noFill/>
          <a:ln w="12700">
            <a:pattFill prst="wdUpDiag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7392" name="Oval 169"/>
          <p:cNvSpPr>
            <a:spLocks noChangeArrowheads="1"/>
          </p:cNvSpPr>
          <p:nvPr/>
        </p:nvSpPr>
        <p:spPr bwMode="auto">
          <a:xfrm>
            <a:off x="6350000" y="2505075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7393" name="Text Box 177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7395" name="Line 179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7396" name="Text Box 180"/>
          <p:cNvSpPr txBox="1">
            <a:spLocks noChangeArrowheads="1"/>
          </p:cNvSpPr>
          <p:nvPr/>
        </p:nvSpPr>
        <p:spPr bwMode="auto">
          <a:xfrm>
            <a:off x="250825" y="1628775"/>
            <a:ext cx="484187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altLang="ja-JP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3 :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เขียนจุดค่าเฉลี่ย </a:t>
            </a:r>
            <a:r>
              <a:rPr lang="th-TH" altLang="th-TH" smtClean="0">
                <a:solidFill>
                  <a:srgbClr val="000000"/>
                </a:solidFill>
                <a:latin typeface="Angsana New" pitchFamily="18" charset="-34"/>
              </a:rPr>
              <a:t>ลงภายในแท่งกราฟ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ส่วนแกว่ง</a:t>
            </a:r>
            <a:endParaRPr lang="th-TH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7397" name="Text Box 172"/>
          <p:cNvSpPr txBox="1">
            <a:spLocks noChangeArrowheads="1"/>
          </p:cNvSpPr>
          <p:nvPr/>
        </p:nvSpPr>
        <p:spPr bwMode="auto">
          <a:xfrm>
            <a:off x="869950" y="2547938"/>
            <a:ext cx="40322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3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th-TH" altLang="ja-JP" sz="1200" b="1" smtClean="0">
                <a:solidFill>
                  <a:srgbClr val="000000"/>
                </a:solidFill>
                <a:sym typeface="Wingdings" pitchFamily="2" charset="2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Plot average point into Fluctuation graph</a:t>
            </a:r>
          </a:p>
        </p:txBody>
      </p:sp>
      <p:sp>
        <p:nvSpPr>
          <p:cNvPr id="2057398" name="Text Box 182"/>
          <p:cNvSpPr txBox="1">
            <a:spLocks noChangeArrowheads="1"/>
          </p:cNvSpPr>
          <p:nvPr/>
        </p:nvSpPr>
        <p:spPr bwMode="auto">
          <a:xfrm>
            <a:off x="5783263" y="1971675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ขั้นตอนที่ </a:t>
            </a:r>
            <a:r>
              <a:rPr lang="en-US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3</a:t>
            </a:r>
          </a:p>
        </p:txBody>
      </p:sp>
      <p:sp>
        <p:nvSpPr>
          <p:cNvPr id="2057399" name="Text Box 183"/>
          <p:cNvSpPr txBox="1">
            <a:spLocks noChangeArrowheads="1"/>
          </p:cNvSpPr>
          <p:nvPr/>
        </p:nvSpPr>
        <p:spPr bwMode="auto">
          <a:xfrm>
            <a:off x="5927725" y="2260600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0000"/>
                </a:solidFill>
              </a:rPr>
              <a:t>STEP 3</a:t>
            </a:r>
            <a:endParaRPr lang="th-TH" sz="1200" smtClean="0">
              <a:solidFill>
                <a:srgbClr val="FF0000"/>
              </a:solidFill>
            </a:endParaRPr>
          </a:p>
        </p:txBody>
      </p:sp>
      <p:sp>
        <p:nvSpPr>
          <p:cNvPr id="2057400" name="Text Box 184"/>
          <p:cNvSpPr txBox="1">
            <a:spLocks noChangeArrowheads="1"/>
          </p:cNvSpPr>
          <p:nvPr/>
        </p:nvSpPr>
        <p:spPr bwMode="auto">
          <a:xfrm>
            <a:off x="8043863" y="6361113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ขั้นตอนที่ </a:t>
            </a:r>
            <a:r>
              <a:rPr lang="en-US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3</a:t>
            </a:r>
          </a:p>
        </p:txBody>
      </p:sp>
      <p:sp>
        <p:nvSpPr>
          <p:cNvPr id="2057401" name="Text Box 185"/>
          <p:cNvSpPr txBox="1">
            <a:spLocks noChangeArrowheads="1"/>
          </p:cNvSpPr>
          <p:nvPr/>
        </p:nvSpPr>
        <p:spPr bwMode="auto">
          <a:xfrm>
            <a:off x="8180388" y="6621463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0000"/>
                </a:solidFill>
              </a:rPr>
              <a:t>STEP 3</a:t>
            </a:r>
            <a:endParaRPr lang="th-TH" sz="12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8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6000" contrast="18000"/>
          </a:blip>
          <a:srcRect t="93" b="2141"/>
          <a:stretch>
            <a:fillRect/>
          </a:stretch>
        </p:blipFill>
        <p:spPr>
          <a:xfrm>
            <a:off x="5219700" y="1125538"/>
            <a:ext cx="3455988" cy="2647950"/>
          </a:xfrm>
          <a:noFill/>
          <a:ln/>
        </p:spPr>
      </p:pic>
      <p:sp>
        <p:nvSpPr>
          <p:cNvPr id="2058243" name="Rectangle 160"/>
          <p:cNvSpPr>
            <a:spLocks noChangeArrowheads="1"/>
          </p:cNvSpPr>
          <p:nvPr/>
        </p:nvSpPr>
        <p:spPr bwMode="auto">
          <a:xfrm>
            <a:off x="5973763" y="2625725"/>
            <a:ext cx="577850" cy="936625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8244" name="Rectangle 162"/>
          <p:cNvSpPr>
            <a:spLocks noChangeArrowheads="1"/>
          </p:cNvSpPr>
          <p:nvPr/>
        </p:nvSpPr>
        <p:spPr bwMode="auto">
          <a:xfrm>
            <a:off x="6261100" y="2492375"/>
            <a:ext cx="290513" cy="115888"/>
          </a:xfrm>
          <a:prstGeom prst="rect">
            <a:avLst/>
          </a:prstGeom>
          <a:noFill/>
          <a:ln w="12700">
            <a:pattFill prst="wdUpDiag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8245" name="Oval 169"/>
          <p:cNvSpPr>
            <a:spLocks noChangeArrowheads="1"/>
          </p:cNvSpPr>
          <p:nvPr/>
        </p:nvSpPr>
        <p:spPr bwMode="auto">
          <a:xfrm>
            <a:off x="6350000" y="2505075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8246" name="Rectangle 161" descr="ลายเส้นหนาทแยงมุมขึ้น"/>
          <p:cNvSpPr>
            <a:spLocks noChangeArrowheads="1"/>
          </p:cNvSpPr>
          <p:nvPr/>
        </p:nvSpPr>
        <p:spPr bwMode="auto">
          <a:xfrm>
            <a:off x="5969000" y="2420938"/>
            <a:ext cx="287338" cy="193675"/>
          </a:xfrm>
          <a:prstGeom prst="rect">
            <a:avLst/>
          </a:prstGeom>
          <a:pattFill prst="dkUpDiag">
            <a:fgClr>
              <a:schemeClr val="accent2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8247" name="Text Box 7"/>
          <p:cNvSpPr txBox="1">
            <a:spLocks noChangeArrowheads="1"/>
          </p:cNvSpPr>
          <p:nvPr/>
        </p:nvSpPr>
        <p:spPr bwMode="auto">
          <a:xfrm>
            <a:off x="665163" y="2565400"/>
            <a:ext cx="4629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*</a:t>
            </a:r>
            <a:r>
              <a:rPr lang="th-TH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 กำหนดให้ </a:t>
            </a:r>
            <a:r>
              <a:rPr lang="en-US" smtClean="0">
                <a:solidFill>
                  <a:srgbClr val="FF0000"/>
                </a:solidFill>
                <a:latin typeface="Angsana New" pitchFamily="18" charset="-34"/>
              </a:rPr>
              <a:t>Periodic</a:t>
            </a:r>
            <a:r>
              <a:rPr lang="th-TH" smtClean="0">
                <a:solidFill>
                  <a:srgbClr val="FF0000"/>
                </a:solidFill>
                <a:latin typeface="Angsana New" pitchFamily="18" charset="-34"/>
              </a:rPr>
              <a:t> </a:t>
            </a:r>
            <a:r>
              <a:rPr lang="en-US" smtClean="0">
                <a:solidFill>
                  <a:srgbClr val="FF0000"/>
                </a:solidFill>
                <a:latin typeface="Angsana New" pitchFamily="18" charset="-34"/>
              </a:rPr>
              <a:t>work = </a:t>
            </a:r>
            <a:r>
              <a:rPr lang="en-US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20 </a:t>
            </a:r>
            <a:r>
              <a:rPr lang="th-TH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วินาที</a:t>
            </a:r>
            <a:endParaRPr lang="en-US" altLang="ja-JP" b="1" smtClean="0">
              <a:solidFill>
                <a:srgbClr val="FF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pic>
        <p:nvPicPr>
          <p:cNvPr id="2058248" name="Picture 2"/>
          <p:cNvPicPr>
            <a:picLocks noChangeAspect="1" noChangeArrowheads="1"/>
          </p:cNvPicPr>
          <p:nvPr/>
        </p:nvPicPr>
        <p:blipFill>
          <a:blip r:embed="rId2" cstate="print">
            <a:lum bright="6000" contrast="18000"/>
          </a:blip>
          <a:srcRect t="93" b="2141"/>
          <a:stretch>
            <a:fillRect/>
          </a:stretch>
        </p:blipFill>
        <p:spPr bwMode="auto">
          <a:xfrm>
            <a:off x="5219700" y="3868738"/>
            <a:ext cx="3455988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8249" name="Rectangle 160"/>
          <p:cNvSpPr>
            <a:spLocks noChangeArrowheads="1"/>
          </p:cNvSpPr>
          <p:nvPr/>
        </p:nvSpPr>
        <p:spPr bwMode="auto">
          <a:xfrm>
            <a:off x="5973763" y="5368925"/>
            <a:ext cx="577850" cy="936625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8250" name="Rectangle 162"/>
          <p:cNvSpPr>
            <a:spLocks noChangeArrowheads="1"/>
          </p:cNvSpPr>
          <p:nvPr/>
        </p:nvSpPr>
        <p:spPr bwMode="auto">
          <a:xfrm>
            <a:off x="6261100" y="5235575"/>
            <a:ext cx="290513" cy="115888"/>
          </a:xfrm>
          <a:prstGeom prst="rect">
            <a:avLst/>
          </a:prstGeom>
          <a:noFill/>
          <a:ln w="12700">
            <a:pattFill prst="wdUpDiag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8251" name="Oval 169"/>
          <p:cNvSpPr>
            <a:spLocks noChangeArrowheads="1"/>
          </p:cNvSpPr>
          <p:nvPr/>
        </p:nvSpPr>
        <p:spPr bwMode="auto">
          <a:xfrm>
            <a:off x="6350000" y="5248275"/>
            <a:ext cx="71438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8252" name="Rectangle 161" descr="ลายเส้นหนาทแยงมุมขึ้น"/>
          <p:cNvSpPr>
            <a:spLocks noChangeArrowheads="1"/>
          </p:cNvSpPr>
          <p:nvPr/>
        </p:nvSpPr>
        <p:spPr bwMode="auto">
          <a:xfrm>
            <a:off x="5969000" y="5164138"/>
            <a:ext cx="287338" cy="193675"/>
          </a:xfrm>
          <a:prstGeom prst="rect">
            <a:avLst/>
          </a:prstGeom>
          <a:pattFill prst="dkUpDiag">
            <a:fgClr>
              <a:schemeClr val="accent2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8253" name="Rectangle 166" descr="ลายเส้นบางทแยงมุมลง"/>
          <p:cNvSpPr>
            <a:spLocks noChangeArrowheads="1"/>
          </p:cNvSpPr>
          <p:nvPr/>
        </p:nvSpPr>
        <p:spPr bwMode="auto">
          <a:xfrm>
            <a:off x="5973763" y="5081588"/>
            <a:ext cx="287337" cy="71437"/>
          </a:xfrm>
          <a:prstGeom prst="rect">
            <a:avLst/>
          </a:prstGeom>
          <a:pattFill prst="smGrid">
            <a:fgClr>
              <a:schemeClr val="accent2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8254" name="Text Box 14"/>
          <p:cNvSpPr txBox="1">
            <a:spLocks noChangeArrowheads="1"/>
          </p:cNvSpPr>
          <p:nvPr/>
        </p:nvSpPr>
        <p:spPr bwMode="auto">
          <a:xfrm>
            <a:off x="684213" y="5419725"/>
            <a:ext cx="4629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*</a:t>
            </a:r>
            <a:r>
              <a:rPr lang="th-TH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 กำหนดให้ </a:t>
            </a:r>
            <a:r>
              <a:rPr lang="en-US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Change over time </a:t>
            </a:r>
            <a:r>
              <a:rPr lang="en-US" smtClean="0">
                <a:solidFill>
                  <a:srgbClr val="FF0000"/>
                </a:solidFill>
                <a:latin typeface="Angsana New" pitchFamily="18" charset="-34"/>
              </a:rPr>
              <a:t>= </a:t>
            </a:r>
            <a:r>
              <a:rPr lang="en-US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15 </a:t>
            </a:r>
            <a:r>
              <a:rPr lang="th-TH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วินาที</a:t>
            </a:r>
            <a:endParaRPr lang="en-US" altLang="ja-JP" b="1" smtClean="0">
              <a:solidFill>
                <a:srgbClr val="FF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8255" name="Oval 15"/>
          <p:cNvSpPr>
            <a:spLocks noChangeArrowheads="1"/>
          </p:cNvSpPr>
          <p:nvPr/>
        </p:nvSpPr>
        <p:spPr bwMode="auto">
          <a:xfrm>
            <a:off x="5867400" y="2276475"/>
            <a:ext cx="503238" cy="4318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8256" name="Oval 16"/>
          <p:cNvSpPr>
            <a:spLocks noChangeArrowheads="1"/>
          </p:cNvSpPr>
          <p:nvPr/>
        </p:nvSpPr>
        <p:spPr bwMode="auto">
          <a:xfrm>
            <a:off x="5867400" y="5008563"/>
            <a:ext cx="503238" cy="21590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8257" name="Text Box 17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8259" name="Line 19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8260" name="Text Box 20"/>
          <p:cNvSpPr txBox="1">
            <a:spLocks noChangeArrowheads="1"/>
          </p:cNvSpPr>
          <p:nvPr/>
        </p:nvSpPr>
        <p:spPr bwMode="auto">
          <a:xfrm>
            <a:off x="441325" y="1336675"/>
            <a:ext cx="4689475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altLang="ja-JP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4 :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เขียนกราฟแท่งสำหรับงาน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ที่ทำเป็นรอบ(เป็นระยะๆ) </a:t>
            </a: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ลงบนกราฟฝั่งซ้ายมือ</a:t>
            </a:r>
            <a:endParaRPr lang="th-TH" b="1" smtClean="0">
              <a:solidFill>
                <a:srgbClr val="000000"/>
              </a:solidFill>
              <a:latin typeface="Angsana New" pitchFamily="18" charset="-3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smtClean="0">
                <a:solidFill>
                  <a:srgbClr val="000000"/>
                </a:solidFill>
                <a:latin typeface="Angsana New" pitchFamily="18" charset="-34"/>
              </a:rPr>
              <a:t>โดยแรเงาเป็นเส้นทแยงมุม</a:t>
            </a:r>
          </a:p>
        </p:txBody>
      </p:sp>
      <p:sp>
        <p:nvSpPr>
          <p:cNvPr id="2058261" name="Text Box 21"/>
          <p:cNvSpPr txBox="1">
            <a:spLocks noChangeArrowheads="1"/>
          </p:cNvSpPr>
          <p:nvPr/>
        </p:nvSpPr>
        <p:spPr bwMode="auto">
          <a:xfrm>
            <a:off x="446088" y="3813175"/>
            <a:ext cx="4779962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b="1" dirty="0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altLang="ja-JP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5 : </a:t>
            </a:r>
            <a:r>
              <a:rPr lang="th-TH" altLang="ja-JP" dirty="0" smtClean="0">
                <a:solidFill>
                  <a:srgbClr val="000000"/>
                </a:solidFill>
                <a:latin typeface="Angsana New" pitchFamily="18" charset="-34"/>
              </a:rPr>
              <a:t>เขียนกราฟแท่งสำหรับเวลาที่ใช้ใน</a:t>
            </a:r>
            <a:r>
              <a:rPr lang="en-US" altLang="ja-JP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 </a:t>
            </a:r>
            <a:endParaRPr lang="en-US" dirty="0" smtClean="0">
              <a:solidFill>
                <a:srgbClr val="000000"/>
              </a:solidFill>
              <a:latin typeface="Angsana New" pitchFamily="18" charset="-34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dirty="0" smtClean="0">
                <a:solidFill>
                  <a:srgbClr val="000000"/>
                </a:solidFill>
                <a:latin typeface="Angsana New" pitchFamily="18" charset="-34"/>
              </a:rPr>
              <a:t>การเปลี่ยนรุ่นลงบนกราฟฝั่งซ้ายมือ ต่อจากแท่ง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dirty="0" smtClean="0">
                <a:solidFill>
                  <a:srgbClr val="000000"/>
                </a:solidFill>
                <a:latin typeface="Angsana New" pitchFamily="18" charset="-34"/>
              </a:rPr>
              <a:t>กราฟงานที่ทำเป็นรอบ(เป็นระยะๆ)</a:t>
            </a:r>
            <a:r>
              <a:rPr lang="th-TH" altLang="ja-JP" dirty="0" smtClean="0">
                <a:solidFill>
                  <a:srgbClr val="000000"/>
                </a:solidFill>
                <a:latin typeface="Angsana New" pitchFamily="18" charset="-34"/>
              </a:rPr>
              <a:t>โดยแรเงา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dirty="0" smtClean="0">
                <a:solidFill>
                  <a:srgbClr val="000000"/>
                </a:solidFill>
                <a:latin typeface="Angsana New" pitchFamily="18" charset="-34"/>
              </a:rPr>
              <a:t>เป็นเส้นตาราง</a:t>
            </a:r>
            <a:endParaRPr lang="en-US" altLang="ja-JP" dirty="0" smtClean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8262" name="Text Box 4"/>
          <p:cNvSpPr txBox="1">
            <a:spLocks noChangeArrowheads="1"/>
          </p:cNvSpPr>
          <p:nvPr/>
        </p:nvSpPr>
        <p:spPr bwMode="auto">
          <a:xfrm>
            <a:off x="569913" y="3017838"/>
            <a:ext cx="46799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4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th-TH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</a:t>
            </a:r>
            <a:r>
              <a:rPr lang="th-TH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Periodical work</a:t>
            </a:r>
            <a:r>
              <a:rPr lang="th-TH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on the left  by</a:t>
            </a:r>
            <a:r>
              <a:rPr lang="th-TH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diagonal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shading.</a:t>
            </a:r>
            <a:endParaRPr lang="en-US" altLang="ja-JP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8263" name="Text Box 9"/>
          <p:cNvSpPr txBox="1">
            <a:spLocks noChangeArrowheads="1"/>
          </p:cNvSpPr>
          <p:nvPr/>
        </p:nvSpPr>
        <p:spPr bwMode="auto">
          <a:xfrm>
            <a:off x="755650" y="3306763"/>
            <a:ext cx="4629150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* Assumed the</a:t>
            </a:r>
            <a:r>
              <a:rPr lang="th-TH" altLang="ja-JP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Periodical</a:t>
            </a:r>
            <a:r>
              <a:rPr lang="th-TH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work = </a:t>
            </a:r>
            <a:r>
              <a:rPr lang="en-US" altLang="ja-JP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20 sec.</a:t>
            </a:r>
            <a:endParaRPr lang="en-US" altLang="ja-JP" sz="1200" b="1" smtClean="0">
              <a:solidFill>
                <a:srgbClr val="FF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8264" name="Text Box 17"/>
          <p:cNvSpPr txBox="1">
            <a:spLocks noChangeArrowheads="1"/>
          </p:cNvSpPr>
          <p:nvPr/>
        </p:nvSpPr>
        <p:spPr bwMode="auto">
          <a:xfrm>
            <a:off x="565150" y="5924550"/>
            <a:ext cx="4629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5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th-TH" altLang="ja-JP" sz="1200" b="1" smtClean="0">
                <a:solidFill>
                  <a:srgbClr val="000000"/>
                </a:solidFill>
                <a:sym typeface="Wingdings" pitchFamily="2" charset="2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Setup</a:t>
            </a:r>
            <a:r>
              <a:rPr lang="th-TH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time graph on Periodical work</a:t>
            </a:r>
            <a:r>
              <a:rPr lang="th-TH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graph by line table shading.</a:t>
            </a:r>
            <a:endParaRPr lang="en-US" altLang="ja-JP" sz="1200" smtClean="0">
              <a:solidFill>
                <a:srgbClr val="00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58265" name="Text Box 18"/>
          <p:cNvSpPr txBox="1">
            <a:spLocks noChangeArrowheads="1"/>
          </p:cNvSpPr>
          <p:nvPr/>
        </p:nvSpPr>
        <p:spPr bwMode="auto">
          <a:xfrm>
            <a:off x="760413" y="6381750"/>
            <a:ext cx="46291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* Assumed the Set up time  </a:t>
            </a:r>
            <a:r>
              <a:rPr lang="en-US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= </a:t>
            </a:r>
            <a:r>
              <a:rPr lang="en-US" altLang="ja-JP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15 sec.</a:t>
            </a:r>
          </a:p>
        </p:txBody>
      </p:sp>
      <p:sp>
        <p:nvSpPr>
          <p:cNvPr id="2058266" name="Text Box 26"/>
          <p:cNvSpPr txBox="1">
            <a:spLocks noChangeArrowheads="1"/>
          </p:cNvSpPr>
          <p:nvPr/>
        </p:nvSpPr>
        <p:spPr bwMode="auto">
          <a:xfrm>
            <a:off x="5651500" y="1712913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ขั้นตอนที่ </a:t>
            </a:r>
            <a:r>
              <a:rPr lang="en-US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4</a:t>
            </a:r>
          </a:p>
        </p:txBody>
      </p:sp>
      <p:sp>
        <p:nvSpPr>
          <p:cNvPr id="2058267" name="Text Box 27"/>
          <p:cNvSpPr txBox="1">
            <a:spLocks noChangeArrowheads="1"/>
          </p:cNvSpPr>
          <p:nvPr/>
        </p:nvSpPr>
        <p:spPr bwMode="auto">
          <a:xfrm>
            <a:off x="5795963" y="2001838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0000"/>
                </a:solidFill>
              </a:rPr>
              <a:t>STEP 4</a:t>
            </a:r>
            <a:endParaRPr lang="th-TH" sz="1200" smtClean="0">
              <a:solidFill>
                <a:srgbClr val="FF0000"/>
              </a:solidFill>
            </a:endParaRPr>
          </a:p>
        </p:txBody>
      </p:sp>
      <p:sp>
        <p:nvSpPr>
          <p:cNvPr id="2058268" name="Text Box 28"/>
          <p:cNvSpPr txBox="1">
            <a:spLocks noChangeArrowheads="1"/>
          </p:cNvSpPr>
          <p:nvPr/>
        </p:nvSpPr>
        <p:spPr bwMode="auto">
          <a:xfrm>
            <a:off x="5651500" y="4465638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ขั้นตอนที่ </a:t>
            </a:r>
            <a:r>
              <a:rPr lang="en-US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5</a:t>
            </a:r>
          </a:p>
        </p:txBody>
      </p:sp>
      <p:sp>
        <p:nvSpPr>
          <p:cNvPr id="2058269" name="Text Box 29"/>
          <p:cNvSpPr txBox="1">
            <a:spLocks noChangeArrowheads="1"/>
          </p:cNvSpPr>
          <p:nvPr/>
        </p:nvSpPr>
        <p:spPr bwMode="auto">
          <a:xfrm>
            <a:off x="5795963" y="4754563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0000"/>
                </a:solidFill>
              </a:rPr>
              <a:t>STEP 5</a:t>
            </a:r>
            <a:endParaRPr lang="th-TH" sz="12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9266" name="Picture 2"/>
          <p:cNvPicPr>
            <a:picLocks noChangeAspect="1" noChangeArrowheads="1"/>
          </p:cNvPicPr>
          <p:nvPr/>
        </p:nvPicPr>
        <p:blipFill>
          <a:blip r:embed="rId2" cstate="print">
            <a:lum bright="6000" contrast="18000"/>
          </a:blip>
          <a:srcRect t="93" b="2141"/>
          <a:stretch>
            <a:fillRect/>
          </a:stretch>
        </p:blipFill>
        <p:spPr bwMode="auto">
          <a:xfrm>
            <a:off x="36513" y="1412875"/>
            <a:ext cx="6911975" cy="541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9267" name="Rectangle 160"/>
          <p:cNvSpPr>
            <a:spLocks noChangeArrowheads="1"/>
          </p:cNvSpPr>
          <p:nvPr/>
        </p:nvSpPr>
        <p:spPr bwMode="auto">
          <a:xfrm>
            <a:off x="1836738" y="4437063"/>
            <a:ext cx="576262" cy="1944687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9268" name="Rectangle 161" descr="ลายเส้นหนาทแยงมุมขึ้น"/>
          <p:cNvSpPr>
            <a:spLocks noChangeArrowheads="1"/>
          </p:cNvSpPr>
          <p:nvPr/>
        </p:nvSpPr>
        <p:spPr bwMode="auto">
          <a:xfrm>
            <a:off x="1836738" y="4076700"/>
            <a:ext cx="288925" cy="360363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9269" name="Rectangle 162"/>
          <p:cNvSpPr>
            <a:spLocks noChangeArrowheads="1"/>
          </p:cNvSpPr>
          <p:nvPr/>
        </p:nvSpPr>
        <p:spPr bwMode="auto">
          <a:xfrm>
            <a:off x="2125663" y="4221163"/>
            <a:ext cx="287337" cy="215900"/>
          </a:xfrm>
          <a:prstGeom prst="rect">
            <a:avLst/>
          </a:prstGeom>
          <a:noFill/>
          <a:ln w="12700">
            <a:pattFill prst="wdUpDiag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9270" name="Rectangle 163"/>
          <p:cNvSpPr>
            <a:spLocks noChangeArrowheads="1"/>
          </p:cNvSpPr>
          <p:nvPr/>
        </p:nvSpPr>
        <p:spPr bwMode="auto">
          <a:xfrm>
            <a:off x="4646613" y="5121275"/>
            <a:ext cx="574675" cy="126047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9271" name="Rectangle 164" descr="ลายเส้นหนาทแยงมุมขึ้น"/>
          <p:cNvSpPr>
            <a:spLocks noChangeArrowheads="1"/>
          </p:cNvSpPr>
          <p:nvPr/>
        </p:nvSpPr>
        <p:spPr bwMode="auto">
          <a:xfrm>
            <a:off x="4646613" y="4976813"/>
            <a:ext cx="285750" cy="144462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9272" name="Rectangle 165"/>
          <p:cNvSpPr>
            <a:spLocks noChangeArrowheads="1"/>
          </p:cNvSpPr>
          <p:nvPr/>
        </p:nvSpPr>
        <p:spPr bwMode="auto">
          <a:xfrm>
            <a:off x="4932363" y="4616450"/>
            <a:ext cx="288925" cy="506413"/>
          </a:xfrm>
          <a:prstGeom prst="rect">
            <a:avLst/>
          </a:prstGeom>
          <a:noFill/>
          <a:ln w="12700">
            <a:pattFill prst="wdUpDiag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9273" name="Rectangle 166" descr="ลายเส้นบางทแยงมุมลง"/>
          <p:cNvSpPr>
            <a:spLocks noChangeArrowheads="1"/>
          </p:cNvSpPr>
          <p:nvPr/>
        </p:nvSpPr>
        <p:spPr bwMode="auto">
          <a:xfrm>
            <a:off x="1836738" y="3933825"/>
            <a:ext cx="288925" cy="142875"/>
          </a:xfrm>
          <a:prstGeom prst="rect">
            <a:avLst/>
          </a:prstGeom>
          <a:pattFill prst="smGrid">
            <a:fgClr>
              <a:schemeClr val="accent2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9274" name="Rectangle 167" descr="ลายเส้นบางทแยงมุมลง"/>
          <p:cNvSpPr>
            <a:spLocks noChangeArrowheads="1"/>
          </p:cNvSpPr>
          <p:nvPr/>
        </p:nvSpPr>
        <p:spPr bwMode="auto">
          <a:xfrm>
            <a:off x="4646613" y="4832350"/>
            <a:ext cx="285750" cy="144463"/>
          </a:xfrm>
          <a:prstGeom prst="rect">
            <a:avLst/>
          </a:prstGeom>
          <a:pattFill prst="smGrid">
            <a:fgClr>
              <a:schemeClr val="accent2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9275" name="Oval 169"/>
          <p:cNvSpPr>
            <a:spLocks noChangeArrowheads="1"/>
          </p:cNvSpPr>
          <p:nvPr/>
        </p:nvSpPr>
        <p:spPr bwMode="auto">
          <a:xfrm>
            <a:off x="2271713" y="4294188"/>
            <a:ext cx="69850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9276" name="Oval 170"/>
          <p:cNvSpPr>
            <a:spLocks noChangeArrowheads="1"/>
          </p:cNvSpPr>
          <p:nvPr/>
        </p:nvSpPr>
        <p:spPr bwMode="auto">
          <a:xfrm>
            <a:off x="5078413" y="4905375"/>
            <a:ext cx="69850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59277" name="Oval 13"/>
          <p:cNvSpPr>
            <a:spLocks noChangeArrowheads="1"/>
          </p:cNvSpPr>
          <p:nvPr/>
        </p:nvSpPr>
        <p:spPr bwMode="auto">
          <a:xfrm>
            <a:off x="4356100" y="4508500"/>
            <a:ext cx="1154113" cy="2016125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9278" name="Text Box 14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59280" name="Line 16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59281" name="Text Box 17"/>
          <p:cNvSpPr txBox="1">
            <a:spLocks noChangeArrowheads="1"/>
          </p:cNvSpPr>
          <p:nvPr/>
        </p:nvSpPr>
        <p:spPr bwMode="auto">
          <a:xfrm>
            <a:off x="3419475" y="2205038"/>
            <a:ext cx="5341938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altLang="ja-JP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6 :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ทำการเขียนกราฟสำหรับพนักงานที่เหลือ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โดยดำเนินการซ้ำตามข้อ </a:t>
            </a:r>
            <a:r>
              <a:rPr lang="en-US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1-5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จบครบทุกคน</a:t>
            </a:r>
            <a:endParaRPr lang="th-TH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59282" name="Text Box 13"/>
          <p:cNvSpPr txBox="1">
            <a:spLocks noChangeArrowheads="1"/>
          </p:cNvSpPr>
          <p:nvPr/>
        </p:nvSpPr>
        <p:spPr bwMode="auto">
          <a:xfrm>
            <a:off x="4076700" y="3192463"/>
            <a:ext cx="36734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6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th-TH" altLang="ja-JP" sz="1200" b="1" smtClean="0">
                <a:solidFill>
                  <a:srgbClr val="000000"/>
                </a:solidFill>
                <a:sym typeface="Wingdings" pitchFamily="2" charset="2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Using step 1-5 for other operators</a:t>
            </a:r>
          </a:p>
        </p:txBody>
      </p:sp>
      <p:sp>
        <p:nvSpPr>
          <p:cNvPr id="2059283" name="Text Box 19"/>
          <p:cNvSpPr txBox="1">
            <a:spLocks noChangeArrowheads="1"/>
          </p:cNvSpPr>
          <p:nvPr/>
        </p:nvSpPr>
        <p:spPr bwMode="auto">
          <a:xfrm>
            <a:off x="4427538" y="3860800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ขั้นตอนที่ </a:t>
            </a:r>
            <a:r>
              <a:rPr lang="en-US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6</a:t>
            </a:r>
          </a:p>
        </p:txBody>
      </p:sp>
      <p:sp>
        <p:nvSpPr>
          <p:cNvPr id="2059284" name="Text Box 20"/>
          <p:cNvSpPr txBox="1">
            <a:spLocks noChangeArrowheads="1"/>
          </p:cNvSpPr>
          <p:nvPr/>
        </p:nvSpPr>
        <p:spPr bwMode="auto">
          <a:xfrm>
            <a:off x="4572000" y="4149725"/>
            <a:ext cx="9366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0000"/>
                </a:solidFill>
              </a:rPr>
              <a:t>STEP 6</a:t>
            </a:r>
            <a:endParaRPr lang="th-TH" sz="12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290" name="Picture 2"/>
          <p:cNvPicPr>
            <a:picLocks noChangeAspect="1" noChangeArrowheads="1"/>
          </p:cNvPicPr>
          <p:nvPr/>
        </p:nvPicPr>
        <p:blipFill>
          <a:blip r:embed="rId2" cstate="print">
            <a:lum bright="6000" contrast="18000"/>
          </a:blip>
          <a:srcRect t="93" b="2141"/>
          <a:stretch>
            <a:fillRect/>
          </a:stretch>
        </p:blipFill>
        <p:spPr bwMode="auto">
          <a:xfrm>
            <a:off x="36513" y="1412875"/>
            <a:ext cx="6911975" cy="541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60291" name="Rectangle 160"/>
          <p:cNvSpPr>
            <a:spLocks noChangeArrowheads="1"/>
          </p:cNvSpPr>
          <p:nvPr/>
        </p:nvSpPr>
        <p:spPr bwMode="auto">
          <a:xfrm>
            <a:off x="1836738" y="4437063"/>
            <a:ext cx="576262" cy="1944687"/>
          </a:xfrm>
          <a:prstGeom prst="rect">
            <a:avLst/>
          </a:prstGeom>
          <a:solidFill>
            <a:srgbClr val="33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60292" name="Rectangle 161" descr="ลายเส้นหนาทแยงมุมขึ้น"/>
          <p:cNvSpPr>
            <a:spLocks noChangeArrowheads="1"/>
          </p:cNvSpPr>
          <p:nvPr/>
        </p:nvSpPr>
        <p:spPr bwMode="auto">
          <a:xfrm>
            <a:off x="1836738" y="4076700"/>
            <a:ext cx="288925" cy="360363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60293" name="Rectangle 162"/>
          <p:cNvSpPr>
            <a:spLocks noChangeArrowheads="1"/>
          </p:cNvSpPr>
          <p:nvPr/>
        </p:nvSpPr>
        <p:spPr bwMode="auto">
          <a:xfrm>
            <a:off x="2125663" y="4221163"/>
            <a:ext cx="287337" cy="215900"/>
          </a:xfrm>
          <a:prstGeom prst="rect">
            <a:avLst/>
          </a:prstGeom>
          <a:noFill/>
          <a:ln w="12700">
            <a:pattFill prst="wdUpDiag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60294" name="Rectangle 163"/>
          <p:cNvSpPr>
            <a:spLocks noChangeArrowheads="1"/>
          </p:cNvSpPr>
          <p:nvPr/>
        </p:nvSpPr>
        <p:spPr bwMode="auto">
          <a:xfrm>
            <a:off x="4646613" y="5121275"/>
            <a:ext cx="574675" cy="1260475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60295" name="Rectangle 164" descr="ลายเส้นหนาทแยงมุมขึ้น"/>
          <p:cNvSpPr>
            <a:spLocks noChangeArrowheads="1"/>
          </p:cNvSpPr>
          <p:nvPr/>
        </p:nvSpPr>
        <p:spPr bwMode="auto">
          <a:xfrm>
            <a:off x="4646613" y="4976813"/>
            <a:ext cx="285750" cy="144462"/>
          </a:xfrm>
          <a:prstGeom prst="rect">
            <a:avLst/>
          </a:prstGeom>
          <a:pattFill prst="ltUpDiag">
            <a:fgClr>
              <a:schemeClr val="accent2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60296" name="Rectangle 165"/>
          <p:cNvSpPr>
            <a:spLocks noChangeArrowheads="1"/>
          </p:cNvSpPr>
          <p:nvPr/>
        </p:nvSpPr>
        <p:spPr bwMode="auto">
          <a:xfrm>
            <a:off x="4932363" y="4616450"/>
            <a:ext cx="288925" cy="506413"/>
          </a:xfrm>
          <a:prstGeom prst="rect">
            <a:avLst/>
          </a:prstGeom>
          <a:noFill/>
          <a:ln w="12700">
            <a:pattFill prst="wdUpDiag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60297" name="Rectangle 166" descr="ลายเส้นบางทแยงมุมลง"/>
          <p:cNvSpPr>
            <a:spLocks noChangeArrowheads="1"/>
          </p:cNvSpPr>
          <p:nvPr/>
        </p:nvSpPr>
        <p:spPr bwMode="auto">
          <a:xfrm>
            <a:off x="1836738" y="3933825"/>
            <a:ext cx="288925" cy="142875"/>
          </a:xfrm>
          <a:prstGeom prst="rect">
            <a:avLst/>
          </a:prstGeom>
          <a:pattFill prst="smGrid">
            <a:fgClr>
              <a:schemeClr val="accent2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60298" name="Rectangle 167" descr="ลายเส้นบางทแยงมุมลง"/>
          <p:cNvSpPr>
            <a:spLocks noChangeArrowheads="1"/>
          </p:cNvSpPr>
          <p:nvPr/>
        </p:nvSpPr>
        <p:spPr bwMode="auto">
          <a:xfrm>
            <a:off x="4646613" y="4832350"/>
            <a:ext cx="285750" cy="144463"/>
          </a:xfrm>
          <a:prstGeom prst="rect">
            <a:avLst/>
          </a:prstGeom>
          <a:pattFill prst="smGrid">
            <a:fgClr>
              <a:schemeClr val="accent2"/>
            </a:fgClr>
            <a:bgClr>
              <a:schemeClr val="bg1"/>
            </a:bgClr>
          </a:pattFill>
          <a:ln w="9525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60299" name="Oval 169"/>
          <p:cNvSpPr>
            <a:spLocks noChangeArrowheads="1"/>
          </p:cNvSpPr>
          <p:nvPr/>
        </p:nvSpPr>
        <p:spPr bwMode="auto">
          <a:xfrm>
            <a:off x="2271713" y="4294188"/>
            <a:ext cx="69850" cy="7143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60300" name="Oval 170"/>
          <p:cNvSpPr>
            <a:spLocks noChangeArrowheads="1"/>
          </p:cNvSpPr>
          <p:nvPr/>
        </p:nvSpPr>
        <p:spPr bwMode="auto">
          <a:xfrm>
            <a:off x="5078413" y="4905375"/>
            <a:ext cx="69850" cy="7143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mtClean="0">
              <a:solidFill>
                <a:srgbClr val="000000"/>
              </a:solidFill>
            </a:endParaRPr>
          </a:p>
        </p:txBody>
      </p:sp>
      <p:sp>
        <p:nvSpPr>
          <p:cNvPr id="2060301" name="Text Box 13"/>
          <p:cNvSpPr txBox="1">
            <a:spLocks noChangeArrowheads="1"/>
          </p:cNvSpPr>
          <p:nvPr/>
        </p:nvSpPr>
        <p:spPr bwMode="auto">
          <a:xfrm>
            <a:off x="5508625" y="4292600"/>
            <a:ext cx="34575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*</a:t>
            </a:r>
            <a:r>
              <a:rPr lang="th-TH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 กำหนดให้ </a:t>
            </a:r>
            <a:r>
              <a:rPr lang="ja-JP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T.T. </a:t>
            </a:r>
            <a:r>
              <a:rPr lang="en-US" smtClean="0">
                <a:solidFill>
                  <a:srgbClr val="FF0000"/>
                </a:solidFill>
                <a:latin typeface="Angsana New" pitchFamily="18" charset="-34"/>
              </a:rPr>
              <a:t>= 120</a:t>
            </a:r>
            <a:r>
              <a:rPr lang="en-US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 </a:t>
            </a:r>
            <a:r>
              <a:rPr lang="th-TH" altLang="ja-JP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วินาที</a:t>
            </a:r>
            <a:endParaRPr lang="en-US" altLang="ja-JP" b="1" smtClean="0">
              <a:solidFill>
                <a:srgbClr val="FF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60302" name="Line 168"/>
          <p:cNvSpPr>
            <a:spLocks noChangeShapeType="1"/>
          </p:cNvSpPr>
          <p:nvPr/>
        </p:nvSpPr>
        <p:spPr bwMode="auto">
          <a:xfrm>
            <a:off x="711200" y="4090988"/>
            <a:ext cx="5329238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60303" name="Text Box 15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2060305" name="Line 17"/>
          <p:cNvSpPr>
            <a:spLocks noChangeShapeType="1"/>
          </p:cNvSpPr>
          <p:nvPr/>
        </p:nvSpPr>
        <p:spPr bwMode="auto">
          <a:xfrm>
            <a:off x="381000" y="1052513"/>
            <a:ext cx="8458200" cy="0"/>
          </a:xfrm>
          <a:prstGeom prst="line">
            <a:avLst/>
          </a:prstGeom>
          <a:noFill/>
          <a:ln w="57150">
            <a:solidFill>
              <a:schemeClr val="folHlink"/>
            </a:solidFill>
            <a:round/>
            <a:headEnd/>
            <a:tailEnd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th-TH" b="1" smtClean="0">
              <a:solidFill>
                <a:srgbClr val="000000"/>
              </a:solidFill>
            </a:endParaRPr>
          </a:p>
        </p:txBody>
      </p:sp>
      <p:sp>
        <p:nvSpPr>
          <p:cNvPr id="2060306" name="Text Box 18"/>
          <p:cNvSpPr txBox="1">
            <a:spLocks noChangeArrowheads="1"/>
          </p:cNvSpPr>
          <p:nvPr/>
        </p:nvSpPr>
        <p:spPr bwMode="auto">
          <a:xfrm>
            <a:off x="2398713" y="1984375"/>
            <a:ext cx="6380162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b="1" smtClean="0">
                <a:solidFill>
                  <a:srgbClr val="000000"/>
                </a:solidFill>
                <a:latin typeface="Angsana New" pitchFamily="18" charset="-34"/>
              </a:rPr>
              <a:t>ขั้นตอนที่ </a:t>
            </a:r>
            <a:r>
              <a:rPr lang="en-US" altLang="ja-JP" b="1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7 : 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เขียนเส้นเวลาที่ลูกค้าต้องการชิ้นงาน</a:t>
            </a:r>
            <a:r>
              <a:rPr lang="en-US" altLang="ja-JP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/</a:t>
            </a: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ชิ้นลงบนกราฟ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เพื่อแสดงข้อมูลเปรียบเทียบ และสามารถมองเห็นจุดปรับปรุง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mtClean="0">
                <a:solidFill>
                  <a:srgbClr val="000000"/>
                </a:solidFill>
                <a:latin typeface="Angsana New" pitchFamily="18" charset="-34"/>
              </a:rPr>
              <a:t>ได้อย่างชัดเจน</a:t>
            </a:r>
            <a:endParaRPr lang="th-TH" smtClean="0">
              <a:solidFill>
                <a:srgbClr val="000000"/>
              </a:solidFill>
              <a:latin typeface="Angsana New" pitchFamily="18" charset="-34"/>
            </a:endParaRPr>
          </a:p>
        </p:txBody>
      </p:sp>
      <p:sp>
        <p:nvSpPr>
          <p:cNvPr id="2060307" name="Text Box 13"/>
          <p:cNvSpPr txBox="1">
            <a:spLocks noChangeArrowheads="1"/>
          </p:cNvSpPr>
          <p:nvPr/>
        </p:nvSpPr>
        <p:spPr bwMode="auto">
          <a:xfrm>
            <a:off x="4211638" y="2984500"/>
            <a:ext cx="432117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STEP 7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en-US" altLang="ja-JP" sz="1200" b="1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:</a:t>
            </a:r>
            <a:r>
              <a:rPr lang="th-TH" altLang="ja-JP" sz="1200" b="1" smtClean="0">
                <a:solidFill>
                  <a:srgbClr val="000000"/>
                </a:solidFill>
                <a:sym typeface="Wingdings" pitchFamily="2" charset="2"/>
              </a:rPr>
              <a:t> 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Draw</a:t>
            </a:r>
            <a:r>
              <a:rPr lang="th-TH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ja-JP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T</a:t>
            </a:r>
            <a:r>
              <a:rPr lang="ja-JP" altLang="en-US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.</a:t>
            </a:r>
            <a:r>
              <a:rPr lang="en-US" altLang="ja-JP" sz="1200" smtClean="0">
                <a:solidFill>
                  <a:srgbClr val="000000"/>
                </a:solidFill>
                <a:ea typeface="MS PGothic" pitchFamily="34" charset="-128"/>
                <a:sym typeface="Wingdings" pitchFamily="2" charset="2"/>
              </a:rPr>
              <a:t>T. line for C.T. and T.T. comparison.</a:t>
            </a:r>
          </a:p>
        </p:txBody>
      </p:sp>
      <p:sp>
        <p:nvSpPr>
          <p:cNvPr id="2060308" name="Text Box 16"/>
          <p:cNvSpPr txBox="1">
            <a:spLocks noChangeArrowheads="1"/>
          </p:cNvSpPr>
          <p:nvPr/>
        </p:nvSpPr>
        <p:spPr bwMode="auto">
          <a:xfrm>
            <a:off x="5795963" y="4724400"/>
            <a:ext cx="286385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ja-JP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*Assumed</a:t>
            </a:r>
            <a:r>
              <a:rPr lang="th-TH" altLang="ja-JP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 </a:t>
            </a:r>
            <a:r>
              <a:rPr lang="ja-JP" altLang="ja-JP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T.T. </a:t>
            </a:r>
            <a:r>
              <a:rPr lang="en-US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= 120</a:t>
            </a:r>
            <a:r>
              <a:rPr lang="en-US" altLang="ja-JP" sz="1200" smtClean="0">
                <a:solidFill>
                  <a:srgbClr val="FF0000"/>
                </a:solidFill>
                <a:ea typeface="MS PGothic" pitchFamily="34" charset="-128"/>
                <a:sym typeface="Wingdings" pitchFamily="2" charset="2"/>
              </a:rPr>
              <a:t> sec</a:t>
            </a:r>
            <a:endParaRPr lang="en-US" altLang="ja-JP" sz="1200" b="1" smtClean="0">
              <a:solidFill>
                <a:srgbClr val="FF0000"/>
              </a:solidFill>
              <a:ea typeface="MS PGothic" pitchFamily="34" charset="-128"/>
              <a:sym typeface="Wingdings" pitchFamily="2" charset="2"/>
            </a:endParaRPr>
          </a:p>
        </p:txBody>
      </p:sp>
      <p:sp>
        <p:nvSpPr>
          <p:cNvPr id="2060309" name="Text Box 21"/>
          <p:cNvSpPr txBox="1">
            <a:spLocks noChangeArrowheads="1"/>
          </p:cNvSpPr>
          <p:nvPr/>
        </p:nvSpPr>
        <p:spPr bwMode="auto">
          <a:xfrm>
            <a:off x="4427538" y="3525838"/>
            <a:ext cx="1114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th-TH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ขั้นตอนที่ </a:t>
            </a:r>
            <a:r>
              <a:rPr lang="en-US" altLang="ja-JP" sz="2000" smtClean="0">
                <a:solidFill>
                  <a:srgbClr val="FF0000"/>
                </a:solidFill>
                <a:latin typeface="Angsana New" pitchFamily="18" charset="-34"/>
                <a:ea typeface="MS PGothic" pitchFamily="34" charset="-128"/>
              </a:rPr>
              <a:t>7</a:t>
            </a:r>
          </a:p>
        </p:txBody>
      </p:sp>
      <p:sp>
        <p:nvSpPr>
          <p:cNvPr id="2060310" name="Text Box 22"/>
          <p:cNvSpPr txBox="1">
            <a:spLocks noChangeArrowheads="1"/>
          </p:cNvSpPr>
          <p:nvPr/>
        </p:nvSpPr>
        <p:spPr bwMode="auto">
          <a:xfrm>
            <a:off x="4572000" y="3814763"/>
            <a:ext cx="93662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1200" smtClean="0">
                <a:solidFill>
                  <a:srgbClr val="FF0000"/>
                </a:solidFill>
              </a:rPr>
              <a:t>STEP 7</a:t>
            </a:r>
            <a:endParaRPr lang="th-TH" sz="120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65088" y="84138"/>
            <a:ext cx="8964612" cy="752475"/>
          </a:xfrm>
          <a:prstGeom prst="rect">
            <a:avLst/>
          </a:prstGeom>
          <a:solidFill>
            <a:srgbClr val="CCFFCC"/>
          </a:solidFill>
          <a:ln w="9525">
            <a:noFill/>
            <a:miter lim="800000"/>
            <a:headEnd/>
            <a:tailEnd/>
          </a:ln>
          <a:effectLst>
            <a:outerShdw dist="91581" dir="3378596" algn="ctr" rotWithShape="0">
              <a:schemeClr val="bg2"/>
            </a:outerShdw>
          </a:effectLst>
        </p:spPr>
        <p:txBody>
          <a:bodyPr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th-TH" sz="4800" b="1" dirty="0" smtClean="0">
                <a:solidFill>
                  <a:srgbClr val="000000"/>
                </a:solidFill>
                <a:latin typeface="Angsana New" pitchFamily="18" charset="-34"/>
                <a:ea typeface="MS PGothic" pitchFamily="34" charset="-128"/>
              </a:rPr>
              <a:t>งานมาตรฐาน</a:t>
            </a:r>
            <a:endParaRPr lang="en-US" sz="4800" b="1" dirty="0">
              <a:solidFill>
                <a:srgbClr val="000000"/>
              </a:solidFill>
              <a:latin typeface="Angsana New" pitchFamily="18" charset="-34"/>
              <a:ea typeface="MS PGothic" pitchFamily="34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928794" y="3000372"/>
            <a:ext cx="4732386" cy="1323439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Wave1">
              <a:avLst/>
            </a:prstTxWarp>
            <a:spAutoFit/>
          </a:bodyPr>
          <a:lstStyle/>
          <a:p>
            <a:pPr algn="ctr"/>
            <a:r>
              <a:rPr lang="en-US" sz="8000" b="1" spc="50" dirty="0" smtClean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rgbClr val="00B0F0"/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</a:rPr>
              <a:t>THE END</a:t>
            </a:r>
            <a:endParaRPr lang="en-US" sz="8000" b="1" cap="none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rgbClr val="00B0F0"/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 rot="20245136">
            <a:off x="5100795" y="4397588"/>
            <a:ext cx="3249609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th-TH" sz="6600" b="1" spc="200" dirty="0" smtClean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B050"/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ขอบคุณครับ</a:t>
            </a:r>
            <a:endParaRPr lang="en-US" sz="6600" b="1" cap="none" spc="200" dirty="0">
              <a:ln w="29210">
                <a:solidFill>
                  <a:schemeClr val="accent3">
                    <a:tint val="10000"/>
                  </a:schemeClr>
                </a:solidFill>
              </a:ln>
              <a:solidFill>
                <a:srgbClr val="00B050"/>
              </a:solidFill>
              <a:effectLst>
                <a:innerShdw blurRad="50800" dist="50800" dir="8100000">
                  <a:srgbClr val="7D7D7D">
                    <a:alpha val="73000"/>
                  </a:srgbClr>
                </a:inn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7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8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9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0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17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18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19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20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2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2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2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2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2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2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27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28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29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30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3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4.xml><?xml version="1.0" encoding="utf-8"?>
<a:theme xmlns:a="http://schemas.openxmlformats.org/drawingml/2006/main" name="32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5.xml><?xml version="1.0" encoding="utf-8"?>
<a:theme xmlns:a="http://schemas.openxmlformats.org/drawingml/2006/main" name="33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6.xml><?xml version="1.0" encoding="utf-8"?>
<a:theme xmlns:a="http://schemas.openxmlformats.org/drawingml/2006/main" name="34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7.xml><?xml version="1.0" encoding="utf-8"?>
<a:theme xmlns:a="http://schemas.openxmlformats.org/drawingml/2006/main" name="35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8.xml><?xml version="1.0" encoding="utf-8"?>
<a:theme xmlns:a="http://schemas.openxmlformats.org/drawingml/2006/main" name="3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9.xml><?xml version="1.0" encoding="utf-8"?>
<a:theme xmlns:a="http://schemas.openxmlformats.org/drawingml/2006/main" name="37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0.xml><?xml version="1.0" encoding="utf-8"?>
<a:theme xmlns:a="http://schemas.openxmlformats.org/drawingml/2006/main" name="38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Angsana New"/>
      </a:majorFont>
      <a:minorFont>
        <a:latin typeface="Arial"/>
        <a:ea typeface=""/>
        <a:cs typeface="Angsana New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1">
          <a:gsLst>
            <a:gs pos="0">
              <a:schemeClr val="folHlink"/>
            </a:gs>
            <a:gs pos="50000">
              <a:schemeClr val="bg1"/>
            </a:gs>
            <a:gs pos="100000">
              <a:schemeClr val="folHlink"/>
            </a:gs>
          </a:gsLst>
          <a:lin ang="5400000" scaled="1"/>
        </a:gra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th-TH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cs typeface="Angsana New" pitchFamily="18" charset="-34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5840</Words>
  <Application>Microsoft Office PowerPoint</Application>
  <PresentationFormat>On-screen Show (4:3)</PresentationFormat>
  <Paragraphs>1572</Paragraphs>
  <Slides>45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40</vt:i4>
      </vt:variant>
      <vt:variant>
        <vt:lpstr>Slide Titles</vt:lpstr>
      </vt:variant>
      <vt:variant>
        <vt:i4>45</vt:i4>
      </vt:variant>
    </vt:vector>
  </HeadingPairs>
  <TitlesOfParts>
    <vt:vector size="85" baseType="lpstr">
      <vt:lpstr>Office Theme</vt:lpstr>
      <vt:lpstr>Default Design</vt:lpstr>
      <vt:lpstr>1_Default Design</vt:lpstr>
      <vt:lpstr>2_Default Design</vt:lpstr>
      <vt:lpstr>3_Default Design</vt:lpstr>
      <vt:lpstr>4_Default Design</vt:lpstr>
      <vt:lpstr>5_Default Design</vt:lpstr>
      <vt:lpstr>6_Default Design</vt:lpstr>
      <vt:lpstr>7_Default Design</vt:lpstr>
      <vt:lpstr>8_Default Design</vt:lpstr>
      <vt:lpstr>9_Default Design</vt:lpstr>
      <vt:lpstr>10_Default Design</vt:lpstr>
      <vt:lpstr>11_Default Design</vt:lpstr>
      <vt:lpstr>12_Default Design</vt:lpstr>
      <vt:lpstr>13_Default Design</vt:lpstr>
      <vt:lpstr>14_Default Design</vt:lpstr>
      <vt:lpstr>15_Default Design</vt:lpstr>
      <vt:lpstr>16_Default Design</vt:lpstr>
      <vt:lpstr>17_Default Design</vt:lpstr>
      <vt:lpstr>18_Default Design</vt:lpstr>
      <vt:lpstr>19_Default Design</vt:lpstr>
      <vt:lpstr>20_Default Design</vt:lpstr>
      <vt:lpstr>21_Default Design</vt:lpstr>
      <vt:lpstr>22_Default Design</vt:lpstr>
      <vt:lpstr>23_Default Design</vt:lpstr>
      <vt:lpstr>24_Default Design</vt:lpstr>
      <vt:lpstr>25_Default Design</vt:lpstr>
      <vt:lpstr>26_Default Design</vt:lpstr>
      <vt:lpstr>27_Default Design</vt:lpstr>
      <vt:lpstr>28_Default Design</vt:lpstr>
      <vt:lpstr>29_Default Design</vt:lpstr>
      <vt:lpstr>30_Default Design</vt:lpstr>
      <vt:lpstr>31_Default Design</vt:lpstr>
      <vt:lpstr>32_Default Design</vt:lpstr>
      <vt:lpstr>33_Default Design</vt:lpstr>
      <vt:lpstr>34_Default Design</vt:lpstr>
      <vt:lpstr>35_Default Design</vt:lpstr>
      <vt:lpstr>36_Default Design</vt:lpstr>
      <vt:lpstr>37_Default Design</vt:lpstr>
      <vt:lpstr>38_Default Design</vt:lpstr>
      <vt:lpstr>Slide 1</vt:lpstr>
      <vt:lpstr>Slide 2</vt:lpstr>
      <vt:lpstr>Slide 3</vt:lpstr>
      <vt:lpstr>Slide 4</vt:lpstr>
      <vt:lpstr>ตัวอย่างข้อมูลขั้นตอนที่ 1-2</vt:lpstr>
      <vt:lpstr>Slide 6</vt:lpstr>
      <vt:lpstr>ตัวอย่างข้อมูลเบื้องต้นที่ได้จากขั้นตอนที่ 3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kritsada.ananthapany</dc:creator>
  <cp:lastModifiedBy>kritsada.ananthapany</cp:lastModifiedBy>
  <cp:revision>16</cp:revision>
  <dcterms:created xsi:type="dcterms:W3CDTF">2019-02-27T07:58:17Z</dcterms:created>
  <dcterms:modified xsi:type="dcterms:W3CDTF">2019-03-11T02:01:45Z</dcterms:modified>
</cp:coreProperties>
</file>